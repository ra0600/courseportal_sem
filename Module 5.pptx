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colors8.xml" ContentType="application/vnd.openxmlformats-officedocument.drawingml.diagramColors+xml"/>
  <Override PartName="/ppt/diagrams/layout1.xml" ContentType="application/vnd.openxmlformats-officedocument.drawingml.diagramLayout+xml"/>
  <Override PartName="/ppt/diagrams/data2.xml" ContentType="application/vnd.openxmlformats-officedocument.drawingml.diagramData+xml"/>
  <Override PartName="/ppt/diagrams/colors6.xml" ContentType="application/vnd.openxmlformats-officedocument.drawingml.diagramColors+xml"/>
  <Override PartName="/ppt/diagrams/drawing7.xml" ContentType="application/vnd.ms-office.drawingml.diagramDrawing+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diagrams/quickStyle7.xml" ContentType="application/vnd.openxmlformats-officedocument.drawingml.diagramStyle+xml"/>
  <Override PartName="/ppt/diagrams/drawing5.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diagrams/colors2.xml" ContentType="application/vnd.openxmlformats-officedocument.drawingml.diagramColors+xml"/>
  <Override PartName="/ppt/diagrams/quickStyle5.xml" ContentType="application/vnd.openxmlformats-officedocument.drawingml.diagramStyl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diagrams/data7.xml" ContentType="application/vnd.openxmlformats-officedocument.drawingml.diagramData+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colors7.xml" ContentType="application/vnd.openxmlformats-officedocument.drawingml.diagramColors+xml"/>
  <Override PartName="/ppt/diagrams/drawing8.xml" ContentType="application/vnd.ms-office.drawingml.diagramDrawing+xml"/>
  <Override PartName="/ppt/diagrams/data3.xml" ContentType="application/vnd.openxmlformats-officedocument.drawingml.diagramData+xml"/>
  <Override PartName="/ppt/diagrams/colors5.xml" ContentType="application/vnd.openxmlformats-officedocument.drawingml.diagramColors+xml"/>
  <Override PartName="/ppt/diagrams/quickStyle8.xml" ContentType="application/vnd.openxmlformats-officedocument.drawingml.diagramStyle+xml"/>
  <Override PartName="/ppt/diagrams/drawing6.xml" ContentType="application/vnd.ms-office.drawingml.diagramDrawing+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docProps/core.xml" ContentType="application/vnd.openxmlformats-package.core-properties+xml"/>
  <Override PartName="/ppt/diagrams/drawing4.xml" ContentType="application/vnd.ms-office.drawingml.diagramDrawing+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Default Extension="svg" ContentType="image/svg+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315" r:id="rId3"/>
    <p:sldId id="316" r:id="rId4"/>
    <p:sldId id="317" r:id="rId5"/>
    <p:sldId id="318" r:id="rId6"/>
    <p:sldId id="319" r:id="rId7"/>
    <p:sldId id="321" r:id="rId8"/>
    <p:sldId id="322" r:id="rId9"/>
    <p:sldId id="323" r:id="rId10"/>
    <p:sldId id="324" r:id="rId11"/>
    <p:sldId id="257" r:id="rId12"/>
    <p:sldId id="260" r:id="rId13"/>
    <p:sldId id="258" r:id="rId14"/>
    <p:sldId id="259" r:id="rId15"/>
    <p:sldId id="262" r:id="rId16"/>
    <p:sldId id="274" r:id="rId17"/>
    <p:sldId id="276" r:id="rId18"/>
    <p:sldId id="266" r:id="rId19"/>
    <p:sldId id="264" r:id="rId20"/>
    <p:sldId id="267" r:id="rId21"/>
    <p:sldId id="269" r:id="rId22"/>
    <p:sldId id="270" r:id="rId23"/>
    <p:sldId id="271" r:id="rId24"/>
    <p:sldId id="272" r:id="rId25"/>
    <p:sldId id="273"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313" r:id="rId48"/>
    <p:sldId id="298" r:id="rId49"/>
    <p:sldId id="299" r:id="rId50"/>
    <p:sldId id="300" r:id="rId51"/>
    <p:sldId id="301" r:id="rId52"/>
    <p:sldId id="302" r:id="rId53"/>
    <p:sldId id="303" r:id="rId54"/>
    <p:sldId id="304" r:id="rId55"/>
    <p:sldId id="306" r:id="rId56"/>
    <p:sldId id="307" r:id="rId57"/>
    <p:sldId id="308" r:id="rId58"/>
    <p:sldId id="309" r:id="rId59"/>
    <p:sldId id="310" r:id="rId60"/>
    <p:sldId id="311" r:id="rId61"/>
    <p:sldId id="31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3557" autoAdjust="0"/>
  </p:normalViewPr>
  <p:slideViewPr>
    <p:cSldViewPr snapToGrid="0">
      <p:cViewPr varScale="1">
        <p:scale>
          <a:sx n="67" d="100"/>
          <a:sy n="67" d="100"/>
        </p:scale>
        <p:origin x="-246"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svg"/><Relationship Id="rId1" Type="http://schemas.openxmlformats.org/officeDocument/2006/relationships/image" Target="../media/image10.png"/><Relationship Id="rId6" Type="http://schemas.openxmlformats.org/officeDocument/2006/relationships/image" Target="../media/image18.svg"/><Relationship Id="rId5" Type="http://schemas.openxmlformats.org/officeDocument/2006/relationships/image" Target="../media/image12.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svg"/><Relationship Id="rId1" Type="http://schemas.openxmlformats.org/officeDocument/2006/relationships/image" Target="../media/image15.png"/><Relationship Id="rId4" Type="http://schemas.openxmlformats.org/officeDocument/2006/relationships/image" Target="../media/image24.svg"/></Relationships>
</file>

<file path=ppt/diagrams/_rels/data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svg"/><Relationship Id="rId1" Type="http://schemas.openxmlformats.org/officeDocument/2006/relationships/image" Target="../media/image10.png"/><Relationship Id="rId6" Type="http://schemas.openxmlformats.org/officeDocument/2006/relationships/image" Target="../media/image28.svg"/><Relationship Id="rId5" Type="http://schemas.openxmlformats.org/officeDocument/2006/relationships/image" Target="../media/image18.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1.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D37B03-6A27-46FA-86AB-0BABAE507FF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A353842-DB16-410A-818C-A0678428801F}">
      <dgm:prSet/>
      <dgm:spPr/>
      <dgm:t>
        <a:bodyPr/>
        <a:lstStyle/>
        <a:p>
          <a:r>
            <a:rPr lang="en-US"/>
            <a:t>Securitization involves pooling loans and selling them as securities to investors.</a:t>
          </a:r>
        </a:p>
      </dgm:t>
    </dgm:pt>
    <dgm:pt modelId="{254CF276-5F9E-4D5F-8E17-78A06B9A0A6A}" type="parTrans" cxnId="{F6F7F946-085A-480F-8588-F02A5A43C53C}">
      <dgm:prSet/>
      <dgm:spPr/>
      <dgm:t>
        <a:bodyPr/>
        <a:lstStyle/>
        <a:p>
          <a:endParaRPr lang="en-US"/>
        </a:p>
      </dgm:t>
    </dgm:pt>
    <dgm:pt modelId="{C5B99146-9413-4050-B4E0-36377E969829}" type="sibTrans" cxnId="{F6F7F946-085A-480F-8588-F02A5A43C53C}">
      <dgm:prSet/>
      <dgm:spPr/>
      <dgm:t>
        <a:bodyPr/>
        <a:lstStyle/>
        <a:p>
          <a:endParaRPr lang="en-US"/>
        </a:p>
      </dgm:t>
    </dgm:pt>
    <dgm:pt modelId="{5D036645-6E89-4AE4-9CF5-20909D0C730E}">
      <dgm:prSet/>
      <dgm:spPr/>
      <dgm:t>
        <a:bodyPr/>
        <a:lstStyle/>
        <a:p>
          <a:r>
            <a:rPr lang="en-US"/>
            <a:t>Helps lenders free up capital and manage risks.</a:t>
          </a:r>
        </a:p>
      </dgm:t>
    </dgm:pt>
    <dgm:pt modelId="{1A4FF164-551A-4EE7-B432-BAA1AC9A84ED}" type="parTrans" cxnId="{E13D81A4-5184-4D41-8E5D-1688F6FD0A7E}">
      <dgm:prSet/>
      <dgm:spPr/>
      <dgm:t>
        <a:bodyPr/>
        <a:lstStyle/>
        <a:p>
          <a:endParaRPr lang="en-US"/>
        </a:p>
      </dgm:t>
    </dgm:pt>
    <dgm:pt modelId="{597EB539-79A3-4AB8-892A-A603955B6112}" type="sibTrans" cxnId="{E13D81A4-5184-4D41-8E5D-1688F6FD0A7E}">
      <dgm:prSet/>
      <dgm:spPr/>
      <dgm:t>
        <a:bodyPr/>
        <a:lstStyle/>
        <a:p>
          <a:endParaRPr lang="en-US"/>
        </a:p>
      </dgm:t>
    </dgm:pt>
    <dgm:pt modelId="{502DD819-7D91-4630-B763-B26748C8B238}">
      <dgm:prSet/>
      <dgm:spPr/>
      <dgm:t>
        <a:bodyPr/>
        <a:lstStyle/>
        <a:p>
          <a:r>
            <a:rPr lang="en-US"/>
            <a:t>Common in housing finance: Mortgage-Backed Securities (MBS)</a:t>
          </a:r>
        </a:p>
      </dgm:t>
    </dgm:pt>
    <dgm:pt modelId="{032ED0A0-0D6E-41B2-8525-5BB6405C7400}" type="parTrans" cxnId="{8AE6EEA6-226F-4278-B6EC-30023BC3D4E8}">
      <dgm:prSet/>
      <dgm:spPr/>
      <dgm:t>
        <a:bodyPr/>
        <a:lstStyle/>
        <a:p>
          <a:endParaRPr lang="en-US"/>
        </a:p>
      </dgm:t>
    </dgm:pt>
    <dgm:pt modelId="{A754D7F4-7976-4E1F-A043-974CD99AB0A1}" type="sibTrans" cxnId="{8AE6EEA6-226F-4278-B6EC-30023BC3D4E8}">
      <dgm:prSet/>
      <dgm:spPr/>
      <dgm:t>
        <a:bodyPr/>
        <a:lstStyle/>
        <a:p>
          <a:endParaRPr lang="en-US"/>
        </a:p>
      </dgm:t>
    </dgm:pt>
    <dgm:pt modelId="{E3F840B7-1A84-4FDD-8A3C-072539FBC546}" type="pres">
      <dgm:prSet presAssocID="{86D37B03-6A27-46FA-86AB-0BABAE507FF2}" presName="root" presStyleCnt="0">
        <dgm:presLayoutVars>
          <dgm:dir/>
          <dgm:resizeHandles val="exact"/>
        </dgm:presLayoutVars>
      </dgm:prSet>
      <dgm:spPr/>
      <dgm:t>
        <a:bodyPr/>
        <a:lstStyle/>
        <a:p>
          <a:endParaRPr lang="en-US"/>
        </a:p>
      </dgm:t>
    </dgm:pt>
    <dgm:pt modelId="{0163B54B-8C72-4E44-9DF1-C617A168D06B}" type="pres">
      <dgm:prSet presAssocID="{CA353842-DB16-410A-818C-A0678428801F}" presName="compNode" presStyleCnt="0"/>
      <dgm:spPr/>
    </dgm:pt>
    <dgm:pt modelId="{E7EF9C2C-2921-4D45-BC4D-A70FA2459BD3}" type="pres">
      <dgm:prSet presAssocID="{CA353842-DB16-410A-818C-A0678428801F}" presName="bgRect" presStyleLbl="bgShp" presStyleIdx="0" presStyleCnt="3"/>
      <dgm:spPr/>
    </dgm:pt>
    <dgm:pt modelId="{D8D72B6B-D406-4103-B25A-FB42EA2A361C}" type="pres">
      <dgm:prSet presAssocID="{CA353842-DB16-410A-818C-A0678428801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Money"/>
        </a:ext>
      </dgm:extLst>
    </dgm:pt>
    <dgm:pt modelId="{3086BFF4-A348-4F60-AA33-582DDEF06FD9}" type="pres">
      <dgm:prSet presAssocID="{CA353842-DB16-410A-818C-A0678428801F}" presName="spaceRect" presStyleCnt="0"/>
      <dgm:spPr/>
    </dgm:pt>
    <dgm:pt modelId="{000935D7-FFC7-4193-B615-C84AA288CDFA}" type="pres">
      <dgm:prSet presAssocID="{CA353842-DB16-410A-818C-A0678428801F}" presName="parTx" presStyleLbl="revTx" presStyleIdx="0" presStyleCnt="3">
        <dgm:presLayoutVars>
          <dgm:chMax val="0"/>
          <dgm:chPref val="0"/>
        </dgm:presLayoutVars>
      </dgm:prSet>
      <dgm:spPr/>
      <dgm:t>
        <a:bodyPr/>
        <a:lstStyle/>
        <a:p>
          <a:endParaRPr lang="en-US"/>
        </a:p>
      </dgm:t>
    </dgm:pt>
    <dgm:pt modelId="{619DCB99-2BB3-46F3-9626-4D4A6C386B7B}" type="pres">
      <dgm:prSet presAssocID="{C5B99146-9413-4050-B4E0-36377E969829}" presName="sibTrans" presStyleCnt="0"/>
      <dgm:spPr/>
    </dgm:pt>
    <dgm:pt modelId="{6885D424-6DAB-4FB8-8A57-CDD85098080C}" type="pres">
      <dgm:prSet presAssocID="{5D036645-6E89-4AE4-9CF5-20909D0C730E}" presName="compNode" presStyleCnt="0"/>
      <dgm:spPr/>
    </dgm:pt>
    <dgm:pt modelId="{D0CCB1B0-1D4D-4E79-87D5-6E88CE416C17}" type="pres">
      <dgm:prSet presAssocID="{5D036645-6E89-4AE4-9CF5-20909D0C730E}" presName="bgRect" presStyleLbl="bgShp" presStyleIdx="1" presStyleCnt="3"/>
      <dgm:spPr/>
    </dgm:pt>
    <dgm:pt modelId="{E9C4F26E-1BB5-4516-AC59-FE41E46366A6}" type="pres">
      <dgm:prSet presAssocID="{5D036645-6E89-4AE4-9CF5-20909D0C730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Bank"/>
        </a:ext>
      </dgm:extLst>
    </dgm:pt>
    <dgm:pt modelId="{05F88F5B-96BF-44D6-B923-F60974E08444}" type="pres">
      <dgm:prSet presAssocID="{5D036645-6E89-4AE4-9CF5-20909D0C730E}" presName="spaceRect" presStyleCnt="0"/>
      <dgm:spPr/>
    </dgm:pt>
    <dgm:pt modelId="{79B8E419-E650-47A1-A445-E67770AD727D}" type="pres">
      <dgm:prSet presAssocID="{5D036645-6E89-4AE4-9CF5-20909D0C730E}" presName="parTx" presStyleLbl="revTx" presStyleIdx="1" presStyleCnt="3">
        <dgm:presLayoutVars>
          <dgm:chMax val="0"/>
          <dgm:chPref val="0"/>
        </dgm:presLayoutVars>
      </dgm:prSet>
      <dgm:spPr/>
      <dgm:t>
        <a:bodyPr/>
        <a:lstStyle/>
        <a:p>
          <a:endParaRPr lang="en-US"/>
        </a:p>
      </dgm:t>
    </dgm:pt>
    <dgm:pt modelId="{1F23C597-68DD-4284-A27A-326A578FDE9E}" type="pres">
      <dgm:prSet presAssocID="{597EB539-79A3-4AB8-892A-A603955B6112}" presName="sibTrans" presStyleCnt="0"/>
      <dgm:spPr/>
    </dgm:pt>
    <dgm:pt modelId="{508D3D42-D498-4683-A67D-D2FFCB781040}" type="pres">
      <dgm:prSet presAssocID="{502DD819-7D91-4630-B763-B26748C8B238}" presName="compNode" presStyleCnt="0"/>
      <dgm:spPr/>
    </dgm:pt>
    <dgm:pt modelId="{688745E3-CA67-4DBF-B935-6E43212FE7D1}" type="pres">
      <dgm:prSet presAssocID="{502DD819-7D91-4630-B763-B26748C8B238}" presName="bgRect" presStyleLbl="bgShp" presStyleIdx="2" presStyleCnt="3"/>
      <dgm:spPr/>
    </dgm:pt>
    <dgm:pt modelId="{07E2A7C2-63E8-436E-B682-7B9D85E74138}" type="pres">
      <dgm:prSet presAssocID="{502DD819-7D91-4630-B763-B26748C8B2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xmlns="" id="0" name="" descr="Suburban scene"/>
        </a:ext>
      </dgm:extLst>
    </dgm:pt>
    <dgm:pt modelId="{47A6DEEA-3DD9-4A0A-B3CD-97A320BAE3C5}" type="pres">
      <dgm:prSet presAssocID="{502DD819-7D91-4630-B763-B26748C8B238}" presName="spaceRect" presStyleCnt="0"/>
      <dgm:spPr/>
    </dgm:pt>
    <dgm:pt modelId="{4B18B278-2F40-4AD8-9FDA-3856A478380E}" type="pres">
      <dgm:prSet presAssocID="{502DD819-7D91-4630-B763-B26748C8B238}" presName="parTx" presStyleLbl="revTx" presStyleIdx="2" presStyleCnt="3">
        <dgm:presLayoutVars>
          <dgm:chMax val="0"/>
          <dgm:chPref val="0"/>
        </dgm:presLayoutVars>
      </dgm:prSet>
      <dgm:spPr/>
      <dgm:t>
        <a:bodyPr/>
        <a:lstStyle/>
        <a:p>
          <a:endParaRPr lang="en-US"/>
        </a:p>
      </dgm:t>
    </dgm:pt>
  </dgm:ptLst>
  <dgm:cxnLst>
    <dgm:cxn modelId="{03E38593-8A8F-4449-828F-9584330D5F55}" type="presOf" srcId="{CA353842-DB16-410A-818C-A0678428801F}" destId="{000935D7-FFC7-4193-B615-C84AA288CDFA}" srcOrd="0" destOrd="0" presId="urn:microsoft.com/office/officeart/2018/2/layout/IconVerticalSolidList"/>
    <dgm:cxn modelId="{AD66A6C5-D724-4AFE-A67B-E2B1AFFF2667}" type="presOf" srcId="{5D036645-6E89-4AE4-9CF5-20909D0C730E}" destId="{79B8E419-E650-47A1-A445-E67770AD727D}" srcOrd="0" destOrd="0" presId="urn:microsoft.com/office/officeart/2018/2/layout/IconVerticalSolidList"/>
    <dgm:cxn modelId="{8AE6EEA6-226F-4278-B6EC-30023BC3D4E8}" srcId="{86D37B03-6A27-46FA-86AB-0BABAE507FF2}" destId="{502DD819-7D91-4630-B763-B26748C8B238}" srcOrd="2" destOrd="0" parTransId="{032ED0A0-0D6E-41B2-8525-5BB6405C7400}" sibTransId="{A754D7F4-7976-4E1F-A043-974CD99AB0A1}"/>
    <dgm:cxn modelId="{528DF324-97D0-48C8-954C-315D987E36F1}" type="presOf" srcId="{86D37B03-6A27-46FA-86AB-0BABAE507FF2}" destId="{E3F840B7-1A84-4FDD-8A3C-072539FBC546}" srcOrd="0" destOrd="0" presId="urn:microsoft.com/office/officeart/2018/2/layout/IconVerticalSolidList"/>
    <dgm:cxn modelId="{8A1B3A85-BBC7-40B6-9DC7-933A3FDBFD50}" type="presOf" srcId="{502DD819-7D91-4630-B763-B26748C8B238}" destId="{4B18B278-2F40-4AD8-9FDA-3856A478380E}" srcOrd="0" destOrd="0" presId="urn:microsoft.com/office/officeart/2018/2/layout/IconVerticalSolidList"/>
    <dgm:cxn modelId="{F6F7F946-085A-480F-8588-F02A5A43C53C}" srcId="{86D37B03-6A27-46FA-86AB-0BABAE507FF2}" destId="{CA353842-DB16-410A-818C-A0678428801F}" srcOrd="0" destOrd="0" parTransId="{254CF276-5F9E-4D5F-8E17-78A06B9A0A6A}" sibTransId="{C5B99146-9413-4050-B4E0-36377E969829}"/>
    <dgm:cxn modelId="{E13D81A4-5184-4D41-8E5D-1688F6FD0A7E}" srcId="{86D37B03-6A27-46FA-86AB-0BABAE507FF2}" destId="{5D036645-6E89-4AE4-9CF5-20909D0C730E}" srcOrd="1" destOrd="0" parTransId="{1A4FF164-551A-4EE7-B432-BAA1AC9A84ED}" sibTransId="{597EB539-79A3-4AB8-892A-A603955B6112}"/>
    <dgm:cxn modelId="{E7111198-16EC-4CA9-9243-563C70283CEA}" type="presParOf" srcId="{E3F840B7-1A84-4FDD-8A3C-072539FBC546}" destId="{0163B54B-8C72-4E44-9DF1-C617A168D06B}" srcOrd="0" destOrd="0" presId="urn:microsoft.com/office/officeart/2018/2/layout/IconVerticalSolidList"/>
    <dgm:cxn modelId="{85DB6E76-2024-4096-A425-6014929423F8}" type="presParOf" srcId="{0163B54B-8C72-4E44-9DF1-C617A168D06B}" destId="{E7EF9C2C-2921-4D45-BC4D-A70FA2459BD3}" srcOrd="0" destOrd="0" presId="urn:microsoft.com/office/officeart/2018/2/layout/IconVerticalSolidList"/>
    <dgm:cxn modelId="{946CC79A-3CFA-4D9F-93AB-52B299785426}" type="presParOf" srcId="{0163B54B-8C72-4E44-9DF1-C617A168D06B}" destId="{D8D72B6B-D406-4103-B25A-FB42EA2A361C}" srcOrd="1" destOrd="0" presId="urn:microsoft.com/office/officeart/2018/2/layout/IconVerticalSolidList"/>
    <dgm:cxn modelId="{7AD7D603-C850-49BD-BC76-9EA4DDD0F253}" type="presParOf" srcId="{0163B54B-8C72-4E44-9DF1-C617A168D06B}" destId="{3086BFF4-A348-4F60-AA33-582DDEF06FD9}" srcOrd="2" destOrd="0" presId="urn:microsoft.com/office/officeart/2018/2/layout/IconVerticalSolidList"/>
    <dgm:cxn modelId="{C5484B70-A959-44BD-82C2-593C051137B4}" type="presParOf" srcId="{0163B54B-8C72-4E44-9DF1-C617A168D06B}" destId="{000935D7-FFC7-4193-B615-C84AA288CDFA}" srcOrd="3" destOrd="0" presId="urn:microsoft.com/office/officeart/2018/2/layout/IconVerticalSolidList"/>
    <dgm:cxn modelId="{8E0748AF-B19D-4ED5-A4EA-F51B52492B25}" type="presParOf" srcId="{E3F840B7-1A84-4FDD-8A3C-072539FBC546}" destId="{619DCB99-2BB3-46F3-9626-4D4A6C386B7B}" srcOrd="1" destOrd="0" presId="urn:microsoft.com/office/officeart/2018/2/layout/IconVerticalSolidList"/>
    <dgm:cxn modelId="{D710A5DC-EF64-4C4C-B5DC-75BC6979A70C}" type="presParOf" srcId="{E3F840B7-1A84-4FDD-8A3C-072539FBC546}" destId="{6885D424-6DAB-4FB8-8A57-CDD85098080C}" srcOrd="2" destOrd="0" presId="urn:microsoft.com/office/officeart/2018/2/layout/IconVerticalSolidList"/>
    <dgm:cxn modelId="{9F172D36-8952-4FBC-BBD6-3CD05156D0C0}" type="presParOf" srcId="{6885D424-6DAB-4FB8-8A57-CDD85098080C}" destId="{D0CCB1B0-1D4D-4E79-87D5-6E88CE416C17}" srcOrd="0" destOrd="0" presId="urn:microsoft.com/office/officeart/2018/2/layout/IconVerticalSolidList"/>
    <dgm:cxn modelId="{13C73B36-3D87-47D9-A619-E437EFCA7326}" type="presParOf" srcId="{6885D424-6DAB-4FB8-8A57-CDD85098080C}" destId="{E9C4F26E-1BB5-4516-AC59-FE41E46366A6}" srcOrd="1" destOrd="0" presId="urn:microsoft.com/office/officeart/2018/2/layout/IconVerticalSolidList"/>
    <dgm:cxn modelId="{813DF3D1-37D0-4154-A6DC-3A8297115C12}" type="presParOf" srcId="{6885D424-6DAB-4FB8-8A57-CDD85098080C}" destId="{05F88F5B-96BF-44D6-B923-F60974E08444}" srcOrd="2" destOrd="0" presId="urn:microsoft.com/office/officeart/2018/2/layout/IconVerticalSolidList"/>
    <dgm:cxn modelId="{7F03EF92-84FB-4BB6-BE1E-158789FDEA11}" type="presParOf" srcId="{6885D424-6DAB-4FB8-8A57-CDD85098080C}" destId="{79B8E419-E650-47A1-A445-E67770AD727D}" srcOrd="3" destOrd="0" presId="urn:microsoft.com/office/officeart/2018/2/layout/IconVerticalSolidList"/>
    <dgm:cxn modelId="{89A4E155-869A-4827-B633-69E2FEA33B52}" type="presParOf" srcId="{E3F840B7-1A84-4FDD-8A3C-072539FBC546}" destId="{1F23C597-68DD-4284-A27A-326A578FDE9E}" srcOrd="3" destOrd="0" presId="urn:microsoft.com/office/officeart/2018/2/layout/IconVerticalSolidList"/>
    <dgm:cxn modelId="{4B08819C-E114-44CB-B26C-13A4330EC95F}" type="presParOf" srcId="{E3F840B7-1A84-4FDD-8A3C-072539FBC546}" destId="{508D3D42-D498-4683-A67D-D2FFCB781040}" srcOrd="4" destOrd="0" presId="urn:microsoft.com/office/officeart/2018/2/layout/IconVerticalSolidList"/>
    <dgm:cxn modelId="{0B16777D-5F8F-4CC2-AE7F-E2FBC03816C1}" type="presParOf" srcId="{508D3D42-D498-4683-A67D-D2FFCB781040}" destId="{688745E3-CA67-4DBF-B935-6E43212FE7D1}" srcOrd="0" destOrd="0" presId="urn:microsoft.com/office/officeart/2018/2/layout/IconVerticalSolidList"/>
    <dgm:cxn modelId="{1B6B3F77-7BD0-4E84-A17A-8A01DCB57848}" type="presParOf" srcId="{508D3D42-D498-4683-A67D-D2FFCB781040}" destId="{07E2A7C2-63E8-436E-B682-7B9D85E74138}" srcOrd="1" destOrd="0" presId="urn:microsoft.com/office/officeart/2018/2/layout/IconVerticalSolidList"/>
    <dgm:cxn modelId="{47C1B0CE-790A-463D-A83F-6FD22A14CCD0}" type="presParOf" srcId="{508D3D42-D498-4683-A67D-D2FFCB781040}" destId="{47A6DEEA-3DD9-4A0A-B3CD-97A320BAE3C5}" srcOrd="2" destOrd="0" presId="urn:microsoft.com/office/officeart/2018/2/layout/IconVerticalSolidList"/>
    <dgm:cxn modelId="{F50F76B4-438A-4928-A054-6995C4CC51DF}" type="presParOf" srcId="{508D3D42-D498-4683-A67D-D2FFCB781040}" destId="{4B18B278-2F40-4AD8-9FDA-3856A478380E}" srcOrd="3" destOrd="0" presId="urn:microsoft.com/office/officeart/2018/2/layout/IconVerticalSoli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8BC00B-4310-481A-90AF-10C8826419A9}"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485F316D-449A-4531-8075-123ECF076E77}">
      <dgm:prSet/>
      <dgm:spPr/>
      <dgm:t>
        <a:bodyPr/>
        <a:lstStyle/>
        <a:p>
          <a:r>
            <a:rPr lang="en-US"/>
            <a:t>First pilot MBS issued in </a:t>
          </a:r>
          <a:r>
            <a:rPr lang="en-US" b="1"/>
            <a:t>2000</a:t>
          </a:r>
          <a:endParaRPr lang="en-US"/>
        </a:p>
      </dgm:t>
    </dgm:pt>
    <dgm:pt modelId="{1ADA07CE-CB4C-4DCB-A6E2-F4E371714522}" type="parTrans" cxnId="{234EE3F2-CD95-4E70-AA15-7825FC70A249}">
      <dgm:prSet/>
      <dgm:spPr/>
      <dgm:t>
        <a:bodyPr/>
        <a:lstStyle/>
        <a:p>
          <a:endParaRPr lang="en-US"/>
        </a:p>
      </dgm:t>
    </dgm:pt>
    <dgm:pt modelId="{29B7183E-17B2-4273-BD42-73A1B1A43BC1}" type="sibTrans" cxnId="{234EE3F2-CD95-4E70-AA15-7825FC70A249}">
      <dgm:prSet/>
      <dgm:spPr/>
      <dgm:t>
        <a:bodyPr/>
        <a:lstStyle/>
        <a:p>
          <a:endParaRPr lang="en-US"/>
        </a:p>
      </dgm:t>
    </dgm:pt>
    <dgm:pt modelId="{43F75A7B-A2E4-439A-BC62-873DABC12F25}">
      <dgm:prSet/>
      <dgm:spPr/>
      <dgm:t>
        <a:bodyPr/>
        <a:lstStyle/>
        <a:p>
          <a:r>
            <a:rPr lang="en-US"/>
            <a:t>Faced slow uptake due to:</a:t>
          </a:r>
        </a:p>
      </dgm:t>
    </dgm:pt>
    <dgm:pt modelId="{3CA43F7C-6637-4A88-BAE9-65BBCB456A99}" type="parTrans" cxnId="{773ACFCB-00EE-44BB-990F-805A7B4BF737}">
      <dgm:prSet/>
      <dgm:spPr/>
      <dgm:t>
        <a:bodyPr/>
        <a:lstStyle/>
        <a:p>
          <a:endParaRPr lang="en-US"/>
        </a:p>
      </dgm:t>
    </dgm:pt>
    <dgm:pt modelId="{CE28F13E-7B11-4710-9ABE-8904B15A9697}" type="sibTrans" cxnId="{773ACFCB-00EE-44BB-990F-805A7B4BF737}">
      <dgm:prSet/>
      <dgm:spPr/>
      <dgm:t>
        <a:bodyPr/>
        <a:lstStyle/>
        <a:p>
          <a:endParaRPr lang="en-US"/>
        </a:p>
      </dgm:t>
    </dgm:pt>
    <dgm:pt modelId="{7E7E37D8-3D61-4DA3-B2BD-0DC32CD1C058}">
      <dgm:prSet/>
      <dgm:spPr/>
      <dgm:t>
        <a:bodyPr/>
        <a:lstStyle/>
        <a:p>
          <a:r>
            <a:rPr lang="en-US"/>
            <a:t>Low awareness</a:t>
          </a:r>
        </a:p>
      </dgm:t>
    </dgm:pt>
    <dgm:pt modelId="{32E93C64-7F7B-48FD-A555-E93301C79A93}" type="parTrans" cxnId="{51DC36D7-92B8-4875-B5F4-8E31B8C6409A}">
      <dgm:prSet/>
      <dgm:spPr/>
      <dgm:t>
        <a:bodyPr/>
        <a:lstStyle/>
        <a:p>
          <a:endParaRPr lang="en-US"/>
        </a:p>
      </dgm:t>
    </dgm:pt>
    <dgm:pt modelId="{722C7EE4-6DF3-456D-B0B0-9D211A7CA48E}" type="sibTrans" cxnId="{51DC36D7-92B8-4875-B5F4-8E31B8C6409A}">
      <dgm:prSet/>
      <dgm:spPr/>
      <dgm:t>
        <a:bodyPr/>
        <a:lstStyle/>
        <a:p>
          <a:endParaRPr lang="en-US"/>
        </a:p>
      </dgm:t>
    </dgm:pt>
    <dgm:pt modelId="{74DA4593-4171-4E2B-83FD-D6239ED495EA}">
      <dgm:prSet/>
      <dgm:spPr/>
      <dgm:t>
        <a:bodyPr/>
        <a:lstStyle/>
        <a:p>
          <a:r>
            <a:rPr lang="en-US"/>
            <a:t>Weak investor interest</a:t>
          </a:r>
        </a:p>
      </dgm:t>
    </dgm:pt>
    <dgm:pt modelId="{14406A96-F7FF-4F80-9F03-8C9639D6A3DD}" type="parTrans" cxnId="{519AB041-9EBD-4D5B-BB07-45A1E924D38C}">
      <dgm:prSet/>
      <dgm:spPr/>
      <dgm:t>
        <a:bodyPr/>
        <a:lstStyle/>
        <a:p>
          <a:endParaRPr lang="en-US"/>
        </a:p>
      </dgm:t>
    </dgm:pt>
    <dgm:pt modelId="{6D02346D-713B-4104-8EF2-18ECF22C2390}" type="sibTrans" cxnId="{519AB041-9EBD-4D5B-BB07-45A1E924D38C}">
      <dgm:prSet/>
      <dgm:spPr/>
      <dgm:t>
        <a:bodyPr/>
        <a:lstStyle/>
        <a:p>
          <a:endParaRPr lang="en-US"/>
        </a:p>
      </dgm:t>
    </dgm:pt>
    <dgm:pt modelId="{B9BF3B77-BAEB-469C-B7F7-7ED231F71632}">
      <dgm:prSet/>
      <dgm:spPr/>
      <dgm:t>
        <a:bodyPr/>
        <a:lstStyle/>
        <a:p>
          <a:r>
            <a:rPr lang="en-US"/>
            <a:t>Lack of regulatory clarity</a:t>
          </a:r>
        </a:p>
      </dgm:t>
    </dgm:pt>
    <dgm:pt modelId="{98CC2156-3F41-44EC-8C41-5E2B8E57E4F3}" type="parTrans" cxnId="{ADF19A62-5579-4925-9E15-32646DCDE2A9}">
      <dgm:prSet/>
      <dgm:spPr/>
      <dgm:t>
        <a:bodyPr/>
        <a:lstStyle/>
        <a:p>
          <a:endParaRPr lang="en-US"/>
        </a:p>
      </dgm:t>
    </dgm:pt>
    <dgm:pt modelId="{D27A2BF8-1BE9-4B20-A850-92D347EED5B6}" type="sibTrans" cxnId="{ADF19A62-5579-4925-9E15-32646DCDE2A9}">
      <dgm:prSet/>
      <dgm:spPr/>
      <dgm:t>
        <a:bodyPr/>
        <a:lstStyle/>
        <a:p>
          <a:endParaRPr lang="en-US"/>
        </a:p>
      </dgm:t>
    </dgm:pt>
    <dgm:pt modelId="{1A9644E5-A3CC-462A-A828-566645B28737}" type="pres">
      <dgm:prSet presAssocID="{038BC00B-4310-481A-90AF-10C8826419A9}" presName="Name0" presStyleCnt="0">
        <dgm:presLayoutVars>
          <dgm:dir/>
          <dgm:animLvl val="lvl"/>
          <dgm:resizeHandles val="exact"/>
        </dgm:presLayoutVars>
      </dgm:prSet>
      <dgm:spPr/>
      <dgm:t>
        <a:bodyPr/>
        <a:lstStyle/>
        <a:p>
          <a:endParaRPr lang="en-US"/>
        </a:p>
      </dgm:t>
    </dgm:pt>
    <dgm:pt modelId="{B889BFD8-799E-4867-8336-F4288091D615}" type="pres">
      <dgm:prSet presAssocID="{43F75A7B-A2E4-439A-BC62-873DABC12F25}" presName="boxAndChildren" presStyleCnt="0"/>
      <dgm:spPr/>
    </dgm:pt>
    <dgm:pt modelId="{0242B122-6FE8-4EAB-92F7-DEEA2AC1249C}" type="pres">
      <dgm:prSet presAssocID="{43F75A7B-A2E4-439A-BC62-873DABC12F25}" presName="parentTextBox" presStyleLbl="node1" presStyleIdx="0" presStyleCnt="2"/>
      <dgm:spPr/>
      <dgm:t>
        <a:bodyPr/>
        <a:lstStyle/>
        <a:p>
          <a:endParaRPr lang="en-US"/>
        </a:p>
      </dgm:t>
    </dgm:pt>
    <dgm:pt modelId="{A46A7FB7-D858-4C71-936C-133C438DF65C}" type="pres">
      <dgm:prSet presAssocID="{43F75A7B-A2E4-439A-BC62-873DABC12F25}" presName="entireBox" presStyleLbl="node1" presStyleIdx="0" presStyleCnt="2"/>
      <dgm:spPr/>
      <dgm:t>
        <a:bodyPr/>
        <a:lstStyle/>
        <a:p>
          <a:endParaRPr lang="en-US"/>
        </a:p>
      </dgm:t>
    </dgm:pt>
    <dgm:pt modelId="{B1742F39-D3CB-4784-8B60-A08743EB5730}" type="pres">
      <dgm:prSet presAssocID="{43F75A7B-A2E4-439A-BC62-873DABC12F25}" presName="descendantBox" presStyleCnt="0"/>
      <dgm:spPr/>
    </dgm:pt>
    <dgm:pt modelId="{69C02AF7-8309-4CE1-98D2-F0581F1B5A1F}" type="pres">
      <dgm:prSet presAssocID="{7E7E37D8-3D61-4DA3-B2BD-0DC32CD1C058}" presName="childTextBox" presStyleLbl="fgAccFollowNode1" presStyleIdx="0" presStyleCnt="3">
        <dgm:presLayoutVars>
          <dgm:bulletEnabled val="1"/>
        </dgm:presLayoutVars>
      </dgm:prSet>
      <dgm:spPr/>
      <dgm:t>
        <a:bodyPr/>
        <a:lstStyle/>
        <a:p>
          <a:endParaRPr lang="en-US"/>
        </a:p>
      </dgm:t>
    </dgm:pt>
    <dgm:pt modelId="{6629137C-26CD-4155-8BE1-E7AD39F32386}" type="pres">
      <dgm:prSet presAssocID="{74DA4593-4171-4E2B-83FD-D6239ED495EA}" presName="childTextBox" presStyleLbl="fgAccFollowNode1" presStyleIdx="1" presStyleCnt="3">
        <dgm:presLayoutVars>
          <dgm:bulletEnabled val="1"/>
        </dgm:presLayoutVars>
      </dgm:prSet>
      <dgm:spPr/>
      <dgm:t>
        <a:bodyPr/>
        <a:lstStyle/>
        <a:p>
          <a:endParaRPr lang="en-US"/>
        </a:p>
      </dgm:t>
    </dgm:pt>
    <dgm:pt modelId="{DBF654B8-29D1-4E73-AF3F-3BD646296C6F}" type="pres">
      <dgm:prSet presAssocID="{B9BF3B77-BAEB-469C-B7F7-7ED231F71632}" presName="childTextBox" presStyleLbl="fgAccFollowNode1" presStyleIdx="2" presStyleCnt="3">
        <dgm:presLayoutVars>
          <dgm:bulletEnabled val="1"/>
        </dgm:presLayoutVars>
      </dgm:prSet>
      <dgm:spPr/>
      <dgm:t>
        <a:bodyPr/>
        <a:lstStyle/>
        <a:p>
          <a:endParaRPr lang="en-US"/>
        </a:p>
      </dgm:t>
    </dgm:pt>
    <dgm:pt modelId="{67AB7B8A-5C71-4C8C-8682-90795F065E94}" type="pres">
      <dgm:prSet presAssocID="{29B7183E-17B2-4273-BD42-73A1B1A43BC1}" presName="sp" presStyleCnt="0"/>
      <dgm:spPr/>
    </dgm:pt>
    <dgm:pt modelId="{5E35BD8F-61AC-4248-B608-626A770CD625}" type="pres">
      <dgm:prSet presAssocID="{485F316D-449A-4531-8075-123ECF076E77}" presName="arrowAndChildren" presStyleCnt="0"/>
      <dgm:spPr/>
    </dgm:pt>
    <dgm:pt modelId="{7DDED103-B31C-42D9-8DF2-58036BE310A0}" type="pres">
      <dgm:prSet presAssocID="{485F316D-449A-4531-8075-123ECF076E77}" presName="parentTextArrow" presStyleLbl="node1" presStyleIdx="1" presStyleCnt="2"/>
      <dgm:spPr/>
      <dgm:t>
        <a:bodyPr/>
        <a:lstStyle/>
        <a:p>
          <a:endParaRPr lang="en-US"/>
        </a:p>
      </dgm:t>
    </dgm:pt>
  </dgm:ptLst>
  <dgm:cxnLst>
    <dgm:cxn modelId="{F22876A0-973D-4B1F-8A84-BD89703D626D}" type="presOf" srcId="{7E7E37D8-3D61-4DA3-B2BD-0DC32CD1C058}" destId="{69C02AF7-8309-4CE1-98D2-F0581F1B5A1F}" srcOrd="0" destOrd="0" presId="urn:microsoft.com/office/officeart/2005/8/layout/process4"/>
    <dgm:cxn modelId="{519AB041-9EBD-4D5B-BB07-45A1E924D38C}" srcId="{43F75A7B-A2E4-439A-BC62-873DABC12F25}" destId="{74DA4593-4171-4E2B-83FD-D6239ED495EA}" srcOrd="1" destOrd="0" parTransId="{14406A96-F7FF-4F80-9F03-8C9639D6A3DD}" sibTransId="{6D02346D-713B-4104-8EF2-18ECF22C2390}"/>
    <dgm:cxn modelId="{B3E57C35-DEF2-46B4-B937-6D25A98D48FF}" type="presOf" srcId="{43F75A7B-A2E4-439A-BC62-873DABC12F25}" destId="{0242B122-6FE8-4EAB-92F7-DEEA2AC1249C}" srcOrd="0" destOrd="0" presId="urn:microsoft.com/office/officeart/2005/8/layout/process4"/>
    <dgm:cxn modelId="{773ACFCB-00EE-44BB-990F-805A7B4BF737}" srcId="{038BC00B-4310-481A-90AF-10C8826419A9}" destId="{43F75A7B-A2E4-439A-BC62-873DABC12F25}" srcOrd="1" destOrd="0" parTransId="{3CA43F7C-6637-4A88-BAE9-65BBCB456A99}" sibTransId="{CE28F13E-7B11-4710-9ABE-8904B15A9697}"/>
    <dgm:cxn modelId="{38CF8B0A-60AD-4B7F-86B3-F420EF250C3D}" type="presOf" srcId="{74DA4593-4171-4E2B-83FD-D6239ED495EA}" destId="{6629137C-26CD-4155-8BE1-E7AD39F32386}" srcOrd="0" destOrd="0" presId="urn:microsoft.com/office/officeart/2005/8/layout/process4"/>
    <dgm:cxn modelId="{F9CF6C45-7290-4FFD-9DA9-C649E08FB1AB}" type="presOf" srcId="{43F75A7B-A2E4-439A-BC62-873DABC12F25}" destId="{A46A7FB7-D858-4C71-936C-133C438DF65C}" srcOrd="1" destOrd="0" presId="urn:microsoft.com/office/officeart/2005/8/layout/process4"/>
    <dgm:cxn modelId="{AC24A335-2417-49F2-869A-F0DAED9B35C7}" type="presOf" srcId="{038BC00B-4310-481A-90AF-10C8826419A9}" destId="{1A9644E5-A3CC-462A-A828-566645B28737}" srcOrd="0" destOrd="0" presId="urn:microsoft.com/office/officeart/2005/8/layout/process4"/>
    <dgm:cxn modelId="{51DC36D7-92B8-4875-B5F4-8E31B8C6409A}" srcId="{43F75A7B-A2E4-439A-BC62-873DABC12F25}" destId="{7E7E37D8-3D61-4DA3-B2BD-0DC32CD1C058}" srcOrd="0" destOrd="0" parTransId="{32E93C64-7F7B-48FD-A555-E93301C79A93}" sibTransId="{722C7EE4-6DF3-456D-B0B0-9D211A7CA48E}"/>
    <dgm:cxn modelId="{ADF19A62-5579-4925-9E15-32646DCDE2A9}" srcId="{43F75A7B-A2E4-439A-BC62-873DABC12F25}" destId="{B9BF3B77-BAEB-469C-B7F7-7ED231F71632}" srcOrd="2" destOrd="0" parTransId="{98CC2156-3F41-44EC-8C41-5E2B8E57E4F3}" sibTransId="{D27A2BF8-1BE9-4B20-A850-92D347EED5B6}"/>
    <dgm:cxn modelId="{234EE3F2-CD95-4E70-AA15-7825FC70A249}" srcId="{038BC00B-4310-481A-90AF-10C8826419A9}" destId="{485F316D-449A-4531-8075-123ECF076E77}" srcOrd="0" destOrd="0" parTransId="{1ADA07CE-CB4C-4DCB-A6E2-F4E371714522}" sibTransId="{29B7183E-17B2-4273-BD42-73A1B1A43BC1}"/>
    <dgm:cxn modelId="{5D05D00E-60E1-4662-BF83-480BFE788AED}" type="presOf" srcId="{485F316D-449A-4531-8075-123ECF076E77}" destId="{7DDED103-B31C-42D9-8DF2-58036BE310A0}" srcOrd="0" destOrd="0" presId="urn:microsoft.com/office/officeart/2005/8/layout/process4"/>
    <dgm:cxn modelId="{44842007-26DD-4630-83D6-1F2D6CF62D7C}" type="presOf" srcId="{B9BF3B77-BAEB-469C-B7F7-7ED231F71632}" destId="{DBF654B8-29D1-4E73-AF3F-3BD646296C6F}" srcOrd="0" destOrd="0" presId="urn:microsoft.com/office/officeart/2005/8/layout/process4"/>
    <dgm:cxn modelId="{D258F1A4-7CC8-4EDA-8BCC-650FF4D004F7}" type="presParOf" srcId="{1A9644E5-A3CC-462A-A828-566645B28737}" destId="{B889BFD8-799E-4867-8336-F4288091D615}" srcOrd="0" destOrd="0" presId="urn:microsoft.com/office/officeart/2005/8/layout/process4"/>
    <dgm:cxn modelId="{7E322AC9-85A6-411F-AB49-08D45A4989E2}" type="presParOf" srcId="{B889BFD8-799E-4867-8336-F4288091D615}" destId="{0242B122-6FE8-4EAB-92F7-DEEA2AC1249C}" srcOrd="0" destOrd="0" presId="urn:microsoft.com/office/officeart/2005/8/layout/process4"/>
    <dgm:cxn modelId="{254D665F-412D-4BCB-862D-04599847C1C9}" type="presParOf" srcId="{B889BFD8-799E-4867-8336-F4288091D615}" destId="{A46A7FB7-D858-4C71-936C-133C438DF65C}" srcOrd="1" destOrd="0" presId="urn:microsoft.com/office/officeart/2005/8/layout/process4"/>
    <dgm:cxn modelId="{AF23F8A4-74BE-4A74-BAD7-00D78768CA7B}" type="presParOf" srcId="{B889BFD8-799E-4867-8336-F4288091D615}" destId="{B1742F39-D3CB-4784-8B60-A08743EB5730}" srcOrd="2" destOrd="0" presId="urn:microsoft.com/office/officeart/2005/8/layout/process4"/>
    <dgm:cxn modelId="{87591E4C-8CF5-4688-BCEE-029EE331B8C4}" type="presParOf" srcId="{B1742F39-D3CB-4784-8B60-A08743EB5730}" destId="{69C02AF7-8309-4CE1-98D2-F0581F1B5A1F}" srcOrd="0" destOrd="0" presId="urn:microsoft.com/office/officeart/2005/8/layout/process4"/>
    <dgm:cxn modelId="{A3CDACF9-0E09-44D9-9373-D6B94D152449}" type="presParOf" srcId="{B1742F39-D3CB-4784-8B60-A08743EB5730}" destId="{6629137C-26CD-4155-8BE1-E7AD39F32386}" srcOrd="1" destOrd="0" presId="urn:microsoft.com/office/officeart/2005/8/layout/process4"/>
    <dgm:cxn modelId="{9727F58E-B7D3-486C-AE04-ADB753579CBB}" type="presParOf" srcId="{B1742F39-D3CB-4784-8B60-A08743EB5730}" destId="{DBF654B8-29D1-4E73-AF3F-3BD646296C6F}" srcOrd="2" destOrd="0" presId="urn:microsoft.com/office/officeart/2005/8/layout/process4"/>
    <dgm:cxn modelId="{F1BEA9E7-CDD6-4AE1-86B4-D555D75A500F}" type="presParOf" srcId="{1A9644E5-A3CC-462A-A828-566645B28737}" destId="{67AB7B8A-5C71-4C8C-8682-90795F065E94}" srcOrd="1" destOrd="0" presId="urn:microsoft.com/office/officeart/2005/8/layout/process4"/>
    <dgm:cxn modelId="{505654BC-C778-4F45-9289-34E35BA8A93E}" type="presParOf" srcId="{1A9644E5-A3CC-462A-A828-566645B28737}" destId="{5E35BD8F-61AC-4248-B608-626A770CD625}" srcOrd="2" destOrd="0" presId="urn:microsoft.com/office/officeart/2005/8/layout/process4"/>
    <dgm:cxn modelId="{4CA2477D-5F34-4D7B-BAAF-D30A48133649}" type="presParOf" srcId="{5E35BD8F-61AC-4248-B608-626A770CD625}" destId="{7DDED103-B31C-42D9-8DF2-58036BE310A0}" srcOrd="0" destOrd="0" presId="urn:microsoft.com/office/officeart/2005/8/layout/process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7D13EB-B25C-497A-A640-68ECF46E3E17}" type="doc">
      <dgm:prSet loTypeId="urn:microsoft.com/office/officeart/2008/layout/LinedList" loCatId="list" qsTypeId="urn:microsoft.com/office/officeart/2005/8/quickstyle/simple4" qsCatId="simple" csTypeId="urn:microsoft.com/office/officeart/2005/8/colors/colorful1#2" csCatId="colorful"/>
      <dgm:spPr/>
      <dgm:t>
        <a:bodyPr/>
        <a:lstStyle/>
        <a:p>
          <a:endParaRPr lang="en-US"/>
        </a:p>
      </dgm:t>
    </dgm:pt>
    <dgm:pt modelId="{A01182F7-4176-4E52-8902-5E95A0FF5986}">
      <dgm:prSet/>
      <dgm:spPr/>
      <dgm:t>
        <a:bodyPr/>
        <a:lstStyle/>
        <a:p>
          <a:r>
            <a:rPr lang="en-US"/>
            <a:t>No standard documentation</a:t>
          </a:r>
        </a:p>
      </dgm:t>
    </dgm:pt>
    <dgm:pt modelId="{9AD17DD8-8187-4893-AE1C-CBA77D01F68E}" type="parTrans" cxnId="{85015F7D-98FA-4370-A846-98C0D7DF0165}">
      <dgm:prSet/>
      <dgm:spPr/>
      <dgm:t>
        <a:bodyPr/>
        <a:lstStyle/>
        <a:p>
          <a:endParaRPr lang="en-US"/>
        </a:p>
      </dgm:t>
    </dgm:pt>
    <dgm:pt modelId="{3963B770-FA48-4410-A044-BE8027995EF9}" type="sibTrans" cxnId="{85015F7D-98FA-4370-A846-98C0D7DF0165}">
      <dgm:prSet/>
      <dgm:spPr/>
      <dgm:t>
        <a:bodyPr/>
        <a:lstStyle/>
        <a:p>
          <a:endParaRPr lang="en-US"/>
        </a:p>
      </dgm:t>
    </dgm:pt>
    <dgm:pt modelId="{C24945A5-D9C1-4F73-8C3A-31AAE768A46B}">
      <dgm:prSet/>
      <dgm:spPr/>
      <dgm:t>
        <a:bodyPr/>
        <a:lstStyle/>
        <a:p>
          <a:r>
            <a:rPr lang="en-US"/>
            <a:t>High </a:t>
          </a:r>
          <a:r>
            <a:rPr lang="en-US" b="1"/>
            <a:t>stamp duties</a:t>
          </a:r>
          <a:r>
            <a:rPr lang="en-US"/>
            <a:t> on securitization deals</a:t>
          </a:r>
        </a:p>
      </dgm:t>
    </dgm:pt>
    <dgm:pt modelId="{8608E417-0C7A-4F41-93F7-E4D8EF06B576}" type="parTrans" cxnId="{F2D7AC8D-F60F-404E-BEBE-707276AEDF51}">
      <dgm:prSet/>
      <dgm:spPr/>
      <dgm:t>
        <a:bodyPr/>
        <a:lstStyle/>
        <a:p>
          <a:endParaRPr lang="en-US"/>
        </a:p>
      </dgm:t>
    </dgm:pt>
    <dgm:pt modelId="{DF9CFA4A-2803-4535-8AB0-2F73EDA109BC}" type="sibTrans" cxnId="{F2D7AC8D-F60F-404E-BEBE-707276AEDF51}">
      <dgm:prSet/>
      <dgm:spPr/>
      <dgm:t>
        <a:bodyPr/>
        <a:lstStyle/>
        <a:p>
          <a:endParaRPr lang="en-US"/>
        </a:p>
      </dgm:t>
    </dgm:pt>
    <dgm:pt modelId="{5BFB5AC7-291D-41AD-9376-BE79442B76FD}">
      <dgm:prSet/>
      <dgm:spPr/>
      <dgm:t>
        <a:bodyPr/>
        <a:lstStyle/>
        <a:p>
          <a:r>
            <a:rPr lang="en-US"/>
            <a:t>Ambiguity in </a:t>
          </a:r>
          <a:r>
            <a:rPr lang="en-US" b="1"/>
            <a:t>tax treatment</a:t>
          </a:r>
          <a:endParaRPr lang="en-US"/>
        </a:p>
      </dgm:t>
    </dgm:pt>
    <dgm:pt modelId="{9CE5DC96-3260-4371-9FA7-903AC2C2FB00}" type="parTrans" cxnId="{B7D02430-E68E-4221-A56A-B4C51468A059}">
      <dgm:prSet/>
      <dgm:spPr/>
      <dgm:t>
        <a:bodyPr/>
        <a:lstStyle/>
        <a:p>
          <a:endParaRPr lang="en-US"/>
        </a:p>
      </dgm:t>
    </dgm:pt>
    <dgm:pt modelId="{CAF4669B-6B70-4C47-94EE-482B5651220F}" type="sibTrans" cxnId="{B7D02430-E68E-4221-A56A-B4C51468A059}">
      <dgm:prSet/>
      <dgm:spPr/>
      <dgm:t>
        <a:bodyPr/>
        <a:lstStyle/>
        <a:p>
          <a:endParaRPr lang="en-US"/>
        </a:p>
      </dgm:t>
    </dgm:pt>
    <dgm:pt modelId="{DA8FA712-FCC5-42F1-B8D2-CD34D6255669}">
      <dgm:prSet/>
      <dgm:spPr/>
      <dgm:t>
        <a:bodyPr/>
        <a:lstStyle/>
        <a:p>
          <a:r>
            <a:rPr lang="en-US"/>
            <a:t>MBS not explicitly recognized in securities laws</a:t>
          </a:r>
          <a:br>
            <a:rPr lang="en-US"/>
          </a:br>
          <a:endParaRPr lang="en-US"/>
        </a:p>
      </dgm:t>
    </dgm:pt>
    <dgm:pt modelId="{CB195424-FB29-4E7A-A5E8-9F92014723F9}" type="parTrans" cxnId="{E503B30A-927D-401D-90D2-08DD43F27CFB}">
      <dgm:prSet/>
      <dgm:spPr/>
      <dgm:t>
        <a:bodyPr/>
        <a:lstStyle/>
        <a:p>
          <a:endParaRPr lang="en-US"/>
        </a:p>
      </dgm:t>
    </dgm:pt>
    <dgm:pt modelId="{0F51DAE7-6B36-4D9B-92D3-3EA5F3CD3CBD}" type="sibTrans" cxnId="{E503B30A-927D-401D-90D2-08DD43F27CFB}">
      <dgm:prSet/>
      <dgm:spPr/>
      <dgm:t>
        <a:bodyPr/>
        <a:lstStyle/>
        <a:p>
          <a:endParaRPr lang="en-US"/>
        </a:p>
      </dgm:t>
    </dgm:pt>
    <dgm:pt modelId="{93F0DBC3-9165-4BF5-94CB-CDD131F0B46B}" type="pres">
      <dgm:prSet presAssocID="{CD7D13EB-B25C-497A-A640-68ECF46E3E17}" presName="vert0" presStyleCnt="0">
        <dgm:presLayoutVars>
          <dgm:dir/>
          <dgm:animOne val="branch"/>
          <dgm:animLvl val="lvl"/>
        </dgm:presLayoutVars>
      </dgm:prSet>
      <dgm:spPr/>
      <dgm:t>
        <a:bodyPr/>
        <a:lstStyle/>
        <a:p>
          <a:endParaRPr lang="en-US"/>
        </a:p>
      </dgm:t>
    </dgm:pt>
    <dgm:pt modelId="{A909A735-E344-4555-877F-6462185A02FB}" type="pres">
      <dgm:prSet presAssocID="{A01182F7-4176-4E52-8902-5E95A0FF5986}" presName="thickLine" presStyleLbl="alignNode1" presStyleIdx="0" presStyleCnt="4"/>
      <dgm:spPr/>
    </dgm:pt>
    <dgm:pt modelId="{5E4C2C50-9937-4B65-A667-5F939DC10C10}" type="pres">
      <dgm:prSet presAssocID="{A01182F7-4176-4E52-8902-5E95A0FF5986}" presName="horz1" presStyleCnt="0"/>
      <dgm:spPr/>
    </dgm:pt>
    <dgm:pt modelId="{4AA56B02-4E0D-4706-B054-7A826973C8C1}" type="pres">
      <dgm:prSet presAssocID="{A01182F7-4176-4E52-8902-5E95A0FF5986}" presName="tx1" presStyleLbl="revTx" presStyleIdx="0" presStyleCnt="4"/>
      <dgm:spPr/>
      <dgm:t>
        <a:bodyPr/>
        <a:lstStyle/>
        <a:p>
          <a:endParaRPr lang="en-US"/>
        </a:p>
      </dgm:t>
    </dgm:pt>
    <dgm:pt modelId="{52B3194C-6528-4DCC-954C-BEE432DD0F8A}" type="pres">
      <dgm:prSet presAssocID="{A01182F7-4176-4E52-8902-5E95A0FF5986}" presName="vert1" presStyleCnt="0"/>
      <dgm:spPr/>
    </dgm:pt>
    <dgm:pt modelId="{E4D692F8-C02B-4AC2-935B-E75FF219B665}" type="pres">
      <dgm:prSet presAssocID="{C24945A5-D9C1-4F73-8C3A-31AAE768A46B}" presName="thickLine" presStyleLbl="alignNode1" presStyleIdx="1" presStyleCnt="4"/>
      <dgm:spPr/>
    </dgm:pt>
    <dgm:pt modelId="{DEF387C0-45F5-4F28-AE32-FB78E90BDA19}" type="pres">
      <dgm:prSet presAssocID="{C24945A5-D9C1-4F73-8C3A-31AAE768A46B}" presName="horz1" presStyleCnt="0"/>
      <dgm:spPr/>
    </dgm:pt>
    <dgm:pt modelId="{F2659A0E-A61C-4710-B067-5097E09A1EA7}" type="pres">
      <dgm:prSet presAssocID="{C24945A5-D9C1-4F73-8C3A-31AAE768A46B}" presName="tx1" presStyleLbl="revTx" presStyleIdx="1" presStyleCnt="4"/>
      <dgm:spPr/>
      <dgm:t>
        <a:bodyPr/>
        <a:lstStyle/>
        <a:p>
          <a:endParaRPr lang="en-US"/>
        </a:p>
      </dgm:t>
    </dgm:pt>
    <dgm:pt modelId="{65B6953F-3830-453A-B26B-EF4755F969E6}" type="pres">
      <dgm:prSet presAssocID="{C24945A5-D9C1-4F73-8C3A-31AAE768A46B}" presName="vert1" presStyleCnt="0"/>
      <dgm:spPr/>
    </dgm:pt>
    <dgm:pt modelId="{E726DFB3-CD26-4460-A251-BE2A7BC84E0A}" type="pres">
      <dgm:prSet presAssocID="{5BFB5AC7-291D-41AD-9376-BE79442B76FD}" presName="thickLine" presStyleLbl="alignNode1" presStyleIdx="2" presStyleCnt="4"/>
      <dgm:spPr/>
    </dgm:pt>
    <dgm:pt modelId="{616FF9DB-1BA6-4DF0-90B1-FF2DD2E891A3}" type="pres">
      <dgm:prSet presAssocID="{5BFB5AC7-291D-41AD-9376-BE79442B76FD}" presName="horz1" presStyleCnt="0"/>
      <dgm:spPr/>
    </dgm:pt>
    <dgm:pt modelId="{A96D1F0D-5466-48E5-A3FC-4957B54BDF07}" type="pres">
      <dgm:prSet presAssocID="{5BFB5AC7-291D-41AD-9376-BE79442B76FD}" presName="tx1" presStyleLbl="revTx" presStyleIdx="2" presStyleCnt="4"/>
      <dgm:spPr/>
      <dgm:t>
        <a:bodyPr/>
        <a:lstStyle/>
        <a:p>
          <a:endParaRPr lang="en-US"/>
        </a:p>
      </dgm:t>
    </dgm:pt>
    <dgm:pt modelId="{9B5BC109-DD6E-444C-9B7E-0C254169906D}" type="pres">
      <dgm:prSet presAssocID="{5BFB5AC7-291D-41AD-9376-BE79442B76FD}" presName="vert1" presStyleCnt="0"/>
      <dgm:spPr/>
    </dgm:pt>
    <dgm:pt modelId="{A094CE9D-A802-4E35-A8D5-17250CD6512F}" type="pres">
      <dgm:prSet presAssocID="{DA8FA712-FCC5-42F1-B8D2-CD34D6255669}" presName="thickLine" presStyleLbl="alignNode1" presStyleIdx="3" presStyleCnt="4"/>
      <dgm:spPr/>
    </dgm:pt>
    <dgm:pt modelId="{8448A827-B024-4D1C-A58C-FB999D48ECF7}" type="pres">
      <dgm:prSet presAssocID="{DA8FA712-FCC5-42F1-B8D2-CD34D6255669}" presName="horz1" presStyleCnt="0"/>
      <dgm:spPr/>
    </dgm:pt>
    <dgm:pt modelId="{1572CFD2-EC65-46CE-95CC-2B5EDB51ED59}" type="pres">
      <dgm:prSet presAssocID="{DA8FA712-FCC5-42F1-B8D2-CD34D6255669}" presName="tx1" presStyleLbl="revTx" presStyleIdx="3" presStyleCnt="4"/>
      <dgm:spPr/>
      <dgm:t>
        <a:bodyPr/>
        <a:lstStyle/>
        <a:p>
          <a:endParaRPr lang="en-US"/>
        </a:p>
      </dgm:t>
    </dgm:pt>
    <dgm:pt modelId="{E8A18F35-D848-48D1-80A0-8DB465318AA0}" type="pres">
      <dgm:prSet presAssocID="{DA8FA712-FCC5-42F1-B8D2-CD34D6255669}" presName="vert1" presStyleCnt="0"/>
      <dgm:spPr/>
    </dgm:pt>
  </dgm:ptLst>
  <dgm:cxnLst>
    <dgm:cxn modelId="{B7D02430-E68E-4221-A56A-B4C51468A059}" srcId="{CD7D13EB-B25C-497A-A640-68ECF46E3E17}" destId="{5BFB5AC7-291D-41AD-9376-BE79442B76FD}" srcOrd="2" destOrd="0" parTransId="{9CE5DC96-3260-4371-9FA7-903AC2C2FB00}" sibTransId="{CAF4669B-6B70-4C47-94EE-482B5651220F}"/>
    <dgm:cxn modelId="{0B676263-B4B9-4D40-85F9-1F3089566B41}" type="presOf" srcId="{C24945A5-D9C1-4F73-8C3A-31AAE768A46B}" destId="{F2659A0E-A61C-4710-B067-5097E09A1EA7}" srcOrd="0" destOrd="0" presId="urn:microsoft.com/office/officeart/2008/layout/LinedList"/>
    <dgm:cxn modelId="{85015F7D-98FA-4370-A846-98C0D7DF0165}" srcId="{CD7D13EB-B25C-497A-A640-68ECF46E3E17}" destId="{A01182F7-4176-4E52-8902-5E95A0FF5986}" srcOrd="0" destOrd="0" parTransId="{9AD17DD8-8187-4893-AE1C-CBA77D01F68E}" sibTransId="{3963B770-FA48-4410-A044-BE8027995EF9}"/>
    <dgm:cxn modelId="{B00ED3C9-CDD8-4AD7-B114-684DBF5D48EE}" type="presOf" srcId="{A01182F7-4176-4E52-8902-5E95A0FF5986}" destId="{4AA56B02-4E0D-4706-B054-7A826973C8C1}" srcOrd="0" destOrd="0" presId="urn:microsoft.com/office/officeart/2008/layout/LinedList"/>
    <dgm:cxn modelId="{089861B8-3A84-45F9-8240-6E9DD0C90B27}" type="presOf" srcId="{DA8FA712-FCC5-42F1-B8D2-CD34D6255669}" destId="{1572CFD2-EC65-46CE-95CC-2B5EDB51ED59}" srcOrd="0" destOrd="0" presId="urn:microsoft.com/office/officeart/2008/layout/LinedList"/>
    <dgm:cxn modelId="{670D9AAD-8E9F-49FE-8A38-B0DEE743EE2F}" type="presOf" srcId="{5BFB5AC7-291D-41AD-9376-BE79442B76FD}" destId="{A96D1F0D-5466-48E5-A3FC-4957B54BDF07}" srcOrd="0" destOrd="0" presId="urn:microsoft.com/office/officeart/2008/layout/LinedList"/>
    <dgm:cxn modelId="{E503B30A-927D-401D-90D2-08DD43F27CFB}" srcId="{CD7D13EB-B25C-497A-A640-68ECF46E3E17}" destId="{DA8FA712-FCC5-42F1-B8D2-CD34D6255669}" srcOrd="3" destOrd="0" parTransId="{CB195424-FB29-4E7A-A5E8-9F92014723F9}" sibTransId="{0F51DAE7-6B36-4D9B-92D3-3EA5F3CD3CBD}"/>
    <dgm:cxn modelId="{F2D7AC8D-F60F-404E-BEBE-707276AEDF51}" srcId="{CD7D13EB-B25C-497A-A640-68ECF46E3E17}" destId="{C24945A5-D9C1-4F73-8C3A-31AAE768A46B}" srcOrd="1" destOrd="0" parTransId="{8608E417-0C7A-4F41-93F7-E4D8EF06B576}" sibTransId="{DF9CFA4A-2803-4535-8AB0-2F73EDA109BC}"/>
    <dgm:cxn modelId="{065FBF84-FC58-41EB-BCBF-F08A12F0D6F0}" type="presOf" srcId="{CD7D13EB-B25C-497A-A640-68ECF46E3E17}" destId="{93F0DBC3-9165-4BF5-94CB-CDD131F0B46B}" srcOrd="0" destOrd="0" presId="urn:microsoft.com/office/officeart/2008/layout/LinedList"/>
    <dgm:cxn modelId="{A57AA875-068F-487A-92A0-6FCCA1DF59D8}" type="presParOf" srcId="{93F0DBC3-9165-4BF5-94CB-CDD131F0B46B}" destId="{A909A735-E344-4555-877F-6462185A02FB}" srcOrd="0" destOrd="0" presId="urn:microsoft.com/office/officeart/2008/layout/LinedList"/>
    <dgm:cxn modelId="{9CF35938-1133-4ADA-87E7-80A1B5C8916A}" type="presParOf" srcId="{93F0DBC3-9165-4BF5-94CB-CDD131F0B46B}" destId="{5E4C2C50-9937-4B65-A667-5F939DC10C10}" srcOrd="1" destOrd="0" presId="urn:microsoft.com/office/officeart/2008/layout/LinedList"/>
    <dgm:cxn modelId="{216CC53E-47E0-42AF-AD83-B8D44C5B6E2B}" type="presParOf" srcId="{5E4C2C50-9937-4B65-A667-5F939DC10C10}" destId="{4AA56B02-4E0D-4706-B054-7A826973C8C1}" srcOrd="0" destOrd="0" presId="urn:microsoft.com/office/officeart/2008/layout/LinedList"/>
    <dgm:cxn modelId="{6A6163DB-9207-4FD5-8AB0-2C6DEF2AF3BB}" type="presParOf" srcId="{5E4C2C50-9937-4B65-A667-5F939DC10C10}" destId="{52B3194C-6528-4DCC-954C-BEE432DD0F8A}" srcOrd="1" destOrd="0" presId="urn:microsoft.com/office/officeart/2008/layout/LinedList"/>
    <dgm:cxn modelId="{BFCDB7D0-D3CE-4C26-ACC1-1D1C65EDD8B3}" type="presParOf" srcId="{93F0DBC3-9165-4BF5-94CB-CDD131F0B46B}" destId="{E4D692F8-C02B-4AC2-935B-E75FF219B665}" srcOrd="2" destOrd="0" presId="urn:microsoft.com/office/officeart/2008/layout/LinedList"/>
    <dgm:cxn modelId="{DC621AE2-9AA0-44DE-AD17-0E779CDD5BB7}" type="presParOf" srcId="{93F0DBC3-9165-4BF5-94CB-CDD131F0B46B}" destId="{DEF387C0-45F5-4F28-AE32-FB78E90BDA19}" srcOrd="3" destOrd="0" presId="urn:microsoft.com/office/officeart/2008/layout/LinedList"/>
    <dgm:cxn modelId="{17475068-8212-4878-A7FF-63A1974D91E0}" type="presParOf" srcId="{DEF387C0-45F5-4F28-AE32-FB78E90BDA19}" destId="{F2659A0E-A61C-4710-B067-5097E09A1EA7}" srcOrd="0" destOrd="0" presId="urn:microsoft.com/office/officeart/2008/layout/LinedList"/>
    <dgm:cxn modelId="{199EA2DD-E854-4FB5-8866-D1318A7FB353}" type="presParOf" srcId="{DEF387C0-45F5-4F28-AE32-FB78E90BDA19}" destId="{65B6953F-3830-453A-B26B-EF4755F969E6}" srcOrd="1" destOrd="0" presId="urn:microsoft.com/office/officeart/2008/layout/LinedList"/>
    <dgm:cxn modelId="{405D5D70-58B9-412A-9BD1-FD54CF01556F}" type="presParOf" srcId="{93F0DBC3-9165-4BF5-94CB-CDD131F0B46B}" destId="{E726DFB3-CD26-4460-A251-BE2A7BC84E0A}" srcOrd="4" destOrd="0" presId="urn:microsoft.com/office/officeart/2008/layout/LinedList"/>
    <dgm:cxn modelId="{E52FBBE1-1333-4AB7-B199-289FB70CE3A8}" type="presParOf" srcId="{93F0DBC3-9165-4BF5-94CB-CDD131F0B46B}" destId="{616FF9DB-1BA6-4DF0-90B1-FF2DD2E891A3}" srcOrd="5" destOrd="0" presId="urn:microsoft.com/office/officeart/2008/layout/LinedList"/>
    <dgm:cxn modelId="{3C1284A8-5F28-442B-8A69-E61C4BF0ABB8}" type="presParOf" srcId="{616FF9DB-1BA6-4DF0-90B1-FF2DD2E891A3}" destId="{A96D1F0D-5466-48E5-A3FC-4957B54BDF07}" srcOrd="0" destOrd="0" presId="urn:microsoft.com/office/officeart/2008/layout/LinedList"/>
    <dgm:cxn modelId="{2159AEC8-2A99-4927-AB1C-459C2884A0C3}" type="presParOf" srcId="{616FF9DB-1BA6-4DF0-90B1-FF2DD2E891A3}" destId="{9B5BC109-DD6E-444C-9B7E-0C254169906D}" srcOrd="1" destOrd="0" presId="urn:microsoft.com/office/officeart/2008/layout/LinedList"/>
    <dgm:cxn modelId="{D9254740-8EA3-4592-966B-42870859CFF2}" type="presParOf" srcId="{93F0DBC3-9165-4BF5-94CB-CDD131F0B46B}" destId="{A094CE9D-A802-4E35-A8D5-17250CD6512F}" srcOrd="6" destOrd="0" presId="urn:microsoft.com/office/officeart/2008/layout/LinedList"/>
    <dgm:cxn modelId="{3F85D733-DEFA-4537-9A47-C12755A0A8C7}" type="presParOf" srcId="{93F0DBC3-9165-4BF5-94CB-CDD131F0B46B}" destId="{8448A827-B024-4D1C-A58C-FB999D48ECF7}" srcOrd="7" destOrd="0" presId="urn:microsoft.com/office/officeart/2008/layout/LinedList"/>
    <dgm:cxn modelId="{58223AA1-3F1A-4DE4-A074-1335DCE171A6}" type="presParOf" srcId="{8448A827-B024-4D1C-A58C-FB999D48ECF7}" destId="{1572CFD2-EC65-46CE-95CC-2B5EDB51ED59}" srcOrd="0" destOrd="0" presId="urn:microsoft.com/office/officeart/2008/layout/LinedList"/>
    <dgm:cxn modelId="{993B1297-8AF0-48F3-8939-F022367CF025}" type="presParOf" srcId="{8448A827-B024-4D1C-A58C-FB999D48ECF7}" destId="{E8A18F35-D848-48D1-80A0-8DB465318AA0}" srcOrd="1" destOrd="0" presId="urn:microsoft.com/office/officeart/2008/layout/Line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E07DD6-C206-454E-9D99-6F06C802CE60}"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766AFCB-3979-4342-9567-95E63D1F824E}">
      <dgm:prSet/>
      <dgm:spPr/>
      <dgm:t>
        <a:bodyPr/>
        <a:lstStyle/>
        <a:p>
          <a:r>
            <a:rPr lang="en-US"/>
            <a:t>MBS investments by banks subject to </a:t>
          </a:r>
          <a:r>
            <a:rPr lang="en-US" b="1"/>
            <a:t>75–100% risk weighting</a:t>
          </a:r>
          <a:endParaRPr lang="en-US"/>
        </a:p>
      </dgm:t>
    </dgm:pt>
    <dgm:pt modelId="{A24649B8-3741-482C-AC57-8F99D1BF0ED0}" type="parTrans" cxnId="{5BEDC861-DD2B-4BBE-8BCE-95B50AF5625C}">
      <dgm:prSet/>
      <dgm:spPr/>
      <dgm:t>
        <a:bodyPr/>
        <a:lstStyle/>
        <a:p>
          <a:endParaRPr lang="en-US"/>
        </a:p>
      </dgm:t>
    </dgm:pt>
    <dgm:pt modelId="{FCC982C6-3881-4641-9546-8EE22D46C4BA}" type="sibTrans" cxnId="{5BEDC861-DD2B-4BBE-8BCE-95B50AF5625C}">
      <dgm:prSet/>
      <dgm:spPr/>
      <dgm:t>
        <a:bodyPr/>
        <a:lstStyle/>
        <a:p>
          <a:endParaRPr lang="en-US"/>
        </a:p>
      </dgm:t>
    </dgm:pt>
    <dgm:pt modelId="{056FFE13-F82E-4B78-9853-3A797C50C36B}">
      <dgm:prSet/>
      <dgm:spPr/>
      <dgm:t>
        <a:bodyPr/>
        <a:lstStyle/>
        <a:p>
          <a:r>
            <a:rPr lang="en-US"/>
            <a:t>Higher capital requirement discourages participation</a:t>
          </a:r>
        </a:p>
      </dgm:t>
    </dgm:pt>
    <dgm:pt modelId="{3C526203-685C-4BD6-8B70-F2ED5FC6FDDC}" type="parTrans" cxnId="{84C56622-F41D-4627-A7DC-32DE4549114C}">
      <dgm:prSet/>
      <dgm:spPr/>
      <dgm:t>
        <a:bodyPr/>
        <a:lstStyle/>
        <a:p>
          <a:endParaRPr lang="en-US"/>
        </a:p>
      </dgm:t>
    </dgm:pt>
    <dgm:pt modelId="{F2ADF7F0-38DF-4794-9BE4-D43FDFC87754}" type="sibTrans" cxnId="{84C56622-F41D-4627-A7DC-32DE4549114C}">
      <dgm:prSet/>
      <dgm:spPr/>
      <dgm:t>
        <a:bodyPr/>
        <a:lstStyle/>
        <a:p>
          <a:endParaRPr lang="en-US"/>
        </a:p>
      </dgm:t>
    </dgm:pt>
    <dgm:pt modelId="{4DA101D1-8D13-46A1-9A7D-41E238B3B749}">
      <dgm:prSet/>
      <dgm:spPr/>
      <dgm:t>
        <a:bodyPr/>
        <a:lstStyle/>
        <a:p>
          <a:r>
            <a:rPr lang="en-US"/>
            <a:t>Slows down securitization development</a:t>
          </a:r>
        </a:p>
      </dgm:t>
    </dgm:pt>
    <dgm:pt modelId="{A84510B6-6E89-4ECF-B4B5-4984FC6B750B}" type="parTrans" cxnId="{50BE5334-C86C-4340-9A03-D89D41769311}">
      <dgm:prSet/>
      <dgm:spPr/>
      <dgm:t>
        <a:bodyPr/>
        <a:lstStyle/>
        <a:p>
          <a:endParaRPr lang="en-US"/>
        </a:p>
      </dgm:t>
    </dgm:pt>
    <dgm:pt modelId="{77DB6BAF-EFD5-4513-87A1-5662B045D075}" type="sibTrans" cxnId="{50BE5334-C86C-4340-9A03-D89D41769311}">
      <dgm:prSet/>
      <dgm:spPr/>
      <dgm:t>
        <a:bodyPr/>
        <a:lstStyle/>
        <a:p>
          <a:endParaRPr lang="en-US"/>
        </a:p>
      </dgm:t>
    </dgm:pt>
    <dgm:pt modelId="{3C3A3BE3-7C2F-4992-AF04-9AE3E3708CF0}" type="pres">
      <dgm:prSet presAssocID="{22E07DD6-C206-454E-9D99-6F06C802CE60}" presName="hierChild1" presStyleCnt="0">
        <dgm:presLayoutVars>
          <dgm:chPref val="1"/>
          <dgm:dir/>
          <dgm:animOne val="branch"/>
          <dgm:animLvl val="lvl"/>
          <dgm:resizeHandles/>
        </dgm:presLayoutVars>
      </dgm:prSet>
      <dgm:spPr/>
      <dgm:t>
        <a:bodyPr/>
        <a:lstStyle/>
        <a:p>
          <a:endParaRPr lang="en-US"/>
        </a:p>
      </dgm:t>
    </dgm:pt>
    <dgm:pt modelId="{BC2CFA9A-26BB-48DD-B8A1-CA1F80152854}" type="pres">
      <dgm:prSet presAssocID="{A766AFCB-3979-4342-9567-95E63D1F824E}" presName="hierRoot1" presStyleCnt="0"/>
      <dgm:spPr/>
    </dgm:pt>
    <dgm:pt modelId="{698D2259-8EFF-4574-A869-C85091BD9B41}" type="pres">
      <dgm:prSet presAssocID="{A766AFCB-3979-4342-9567-95E63D1F824E}" presName="composite" presStyleCnt="0"/>
      <dgm:spPr/>
    </dgm:pt>
    <dgm:pt modelId="{78379A48-60A4-42FA-BABC-7A81AB34268C}" type="pres">
      <dgm:prSet presAssocID="{A766AFCB-3979-4342-9567-95E63D1F824E}" presName="background" presStyleLbl="node0" presStyleIdx="0" presStyleCnt="3"/>
      <dgm:spPr/>
    </dgm:pt>
    <dgm:pt modelId="{E7EBD460-0916-4FAB-946C-B645D6AE23B9}" type="pres">
      <dgm:prSet presAssocID="{A766AFCB-3979-4342-9567-95E63D1F824E}" presName="text" presStyleLbl="fgAcc0" presStyleIdx="0" presStyleCnt="3">
        <dgm:presLayoutVars>
          <dgm:chPref val="3"/>
        </dgm:presLayoutVars>
      </dgm:prSet>
      <dgm:spPr/>
      <dgm:t>
        <a:bodyPr/>
        <a:lstStyle/>
        <a:p>
          <a:endParaRPr lang="en-US"/>
        </a:p>
      </dgm:t>
    </dgm:pt>
    <dgm:pt modelId="{EE83202D-84FF-4AA1-9A55-EB47920EF41F}" type="pres">
      <dgm:prSet presAssocID="{A766AFCB-3979-4342-9567-95E63D1F824E}" presName="hierChild2" presStyleCnt="0"/>
      <dgm:spPr/>
    </dgm:pt>
    <dgm:pt modelId="{D44A18F9-96B4-4D42-AD77-ED340B2FC814}" type="pres">
      <dgm:prSet presAssocID="{056FFE13-F82E-4B78-9853-3A797C50C36B}" presName="hierRoot1" presStyleCnt="0"/>
      <dgm:spPr/>
    </dgm:pt>
    <dgm:pt modelId="{08C9DC02-509D-4025-B570-F70817586890}" type="pres">
      <dgm:prSet presAssocID="{056FFE13-F82E-4B78-9853-3A797C50C36B}" presName="composite" presStyleCnt="0"/>
      <dgm:spPr/>
    </dgm:pt>
    <dgm:pt modelId="{62817D09-D9CB-492D-B13B-47021B5B9F9D}" type="pres">
      <dgm:prSet presAssocID="{056FFE13-F82E-4B78-9853-3A797C50C36B}" presName="background" presStyleLbl="node0" presStyleIdx="1" presStyleCnt="3"/>
      <dgm:spPr/>
    </dgm:pt>
    <dgm:pt modelId="{A49D712E-5031-42F3-8356-EFF170864C7B}" type="pres">
      <dgm:prSet presAssocID="{056FFE13-F82E-4B78-9853-3A797C50C36B}" presName="text" presStyleLbl="fgAcc0" presStyleIdx="1" presStyleCnt="3">
        <dgm:presLayoutVars>
          <dgm:chPref val="3"/>
        </dgm:presLayoutVars>
      </dgm:prSet>
      <dgm:spPr/>
      <dgm:t>
        <a:bodyPr/>
        <a:lstStyle/>
        <a:p>
          <a:endParaRPr lang="en-US"/>
        </a:p>
      </dgm:t>
    </dgm:pt>
    <dgm:pt modelId="{C36D09F3-9987-4AAE-B3BC-2DA5F14D1133}" type="pres">
      <dgm:prSet presAssocID="{056FFE13-F82E-4B78-9853-3A797C50C36B}" presName="hierChild2" presStyleCnt="0"/>
      <dgm:spPr/>
    </dgm:pt>
    <dgm:pt modelId="{7000227B-A1DA-48EE-B257-1D11A811E599}" type="pres">
      <dgm:prSet presAssocID="{4DA101D1-8D13-46A1-9A7D-41E238B3B749}" presName="hierRoot1" presStyleCnt="0"/>
      <dgm:spPr/>
    </dgm:pt>
    <dgm:pt modelId="{8A796D4F-8915-4F77-9205-A526F08DD5C2}" type="pres">
      <dgm:prSet presAssocID="{4DA101D1-8D13-46A1-9A7D-41E238B3B749}" presName="composite" presStyleCnt="0"/>
      <dgm:spPr/>
    </dgm:pt>
    <dgm:pt modelId="{88C3C531-8640-4F26-B3A3-64CE629D886D}" type="pres">
      <dgm:prSet presAssocID="{4DA101D1-8D13-46A1-9A7D-41E238B3B749}" presName="background" presStyleLbl="node0" presStyleIdx="2" presStyleCnt="3"/>
      <dgm:spPr/>
    </dgm:pt>
    <dgm:pt modelId="{B21CB38D-FF49-41C2-9540-20D6FE334DB6}" type="pres">
      <dgm:prSet presAssocID="{4DA101D1-8D13-46A1-9A7D-41E238B3B749}" presName="text" presStyleLbl="fgAcc0" presStyleIdx="2" presStyleCnt="3">
        <dgm:presLayoutVars>
          <dgm:chPref val="3"/>
        </dgm:presLayoutVars>
      </dgm:prSet>
      <dgm:spPr/>
      <dgm:t>
        <a:bodyPr/>
        <a:lstStyle/>
        <a:p>
          <a:endParaRPr lang="en-US"/>
        </a:p>
      </dgm:t>
    </dgm:pt>
    <dgm:pt modelId="{5AA1185C-01BC-46E7-B826-011A5B1820FA}" type="pres">
      <dgm:prSet presAssocID="{4DA101D1-8D13-46A1-9A7D-41E238B3B749}" presName="hierChild2" presStyleCnt="0"/>
      <dgm:spPr/>
    </dgm:pt>
  </dgm:ptLst>
  <dgm:cxnLst>
    <dgm:cxn modelId="{9D2D490D-AC3D-4914-9EE9-B1BCF68B6387}" type="presOf" srcId="{22E07DD6-C206-454E-9D99-6F06C802CE60}" destId="{3C3A3BE3-7C2F-4992-AF04-9AE3E3708CF0}" srcOrd="0" destOrd="0" presId="urn:microsoft.com/office/officeart/2005/8/layout/hierarchy1"/>
    <dgm:cxn modelId="{50BE5334-C86C-4340-9A03-D89D41769311}" srcId="{22E07DD6-C206-454E-9D99-6F06C802CE60}" destId="{4DA101D1-8D13-46A1-9A7D-41E238B3B749}" srcOrd="2" destOrd="0" parTransId="{A84510B6-6E89-4ECF-B4B5-4984FC6B750B}" sibTransId="{77DB6BAF-EFD5-4513-87A1-5662B045D075}"/>
    <dgm:cxn modelId="{9058C0CF-6961-4FD1-A45A-8CBCE6EBD2AB}" type="presOf" srcId="{4DA101D1-8D13-46A1-9A7D-41E238B3B749}" destId="{B21CB38D-FF49-41C2-9540-20D6FE334DB6}" srcOrd="0" destOrd="0" presId="urn:microsoft.com/office/officeart/2005/8/layout/hierarchy1"/>
    <dgm:cxn modelId="{0E96AE5B-A3A9-4C15-890F-777599B46165}" type="presOf" srcId="{056FFE13-F82E-4B78-9853-3A797C50C36B}" destId="{A49D712E-5031-42F3-8356-EFF170864C7B}" srcOrd="0" destOrd="0" presId="urn:microsoft.com/office/officeart/2005/8/layout/hierarchy1"/>
    <dgm:cxn modelId="{84C56622-F41D-4627-A7DC-32DE4549114C}" srcId="{22E07DD6-C206-454E-9D99-6F06C802CE60}" destId="{056FFE13-F82E-4B78-9853-3A797C50C36B}" srcOrd="1" destOrd="0" parTransId="{3C526203-685C-4BD6-8B70-F2ED5FC6FDDC}" sibTransId="{F2ADF7F0-38DF-4794-9BE4-D43FDFC87754}"/>
    <dgm:cxn modelId="{5BEDC861-DD2B-4BBE-8BCE-95B50AF5625C}" srcId="{22E07DD6-C206-454E-9D99-6F06C802CE60}" destId="{A766AFCB-3979-4342-9567-95E63D1F824E}" srcOrd="0" destOrd="0" parTransId="{A24649B8-3741-482C-AC57-8F99D1BF0ED0}" sibTransId="{FCC982C6-3881-4641-9546-8EE22D46C4BA}"/>
    <dgm:cxn modelId="{42D8B0B7-BA78-40C6-8E3C-002E509299FA}" type="presOf" srcId="{A766AFCB-3979-4342-9567-95E63D1F824E}" destId="{E7EBD460-0916-4FAB-946C-B645D6AE23B9}" srcOrd="0" destOrd="0" presId="urn:microsoft.com/office/officeart/2005/8/layout/hierarchy1"/>
    <dgm:cxn modelId="{A82BF62B-5DBD-4BC8-89A0-572D50A509A7}" type="presParOf" srcId="{3C3A3BE3-7C2F-4992-AF04-9AE3E3708CF0}" destId="{BC2CFA9A-26BB-48DD-B8A1-CA1F80152854}" srcOrd="0" destOrd="0" presId="urn:microsoft.com/office/officeart/2005/8/layout/hierarchy1"/>
    <dgm:cxn modelId="{05293FDC-2175-4998-835C-950351E8DBA1}" type="presParOf" srcId="{BC2CFA9A-26BB-48DD-B8A1-CA1F80152854}" destId="{698D2259-8EFF-4574-A869-C85091BD9B41}" srcOrd="0" destOrd="0" presId="urn:microsoft.com/office/officeart/2005/8/layout/hierarchy1"/>
    <dgm:cxn modelId="{E11E7BEE-E350-493D-B5F1-EC59BAC05904}" type="presParOf" srcId="{698D2259-8EFF-4574-A869-C85091BD9B41}" destId="{78379A48-60A4-42FA-BABC-7A81AB34268C}" srcOrd="0" destOrd="0" presId="urn:microsoft.com/office/officeart/2005/8/layout/hierarchy1"/>
    <dgm:cxn modelId="{77F05915-2AB6-4DF7-B02C-4869C728F9F4}" type="presParOf" srcId="{698D2259-8EFF-4574-A869-C85091BD9B41}" destId="{E7EBD460-0916-4FAB-946C-B645D6AE23B9}" srcOrd="1" destOrd="0" presId="urn:microsoft.com/office/officeart/2005/8/layout/hierarchy1"/>
    <dgm:cxn modelId="{DD7EE859-E102-4EE6-81ED-94E2FD8786F6}" type="presParOf" srcId="{BC2CFA9A-26BB-48DD-B8A1-CA1F80152854}" destId="{EE83202D-84FF-4AA1-9A55-EB47920EF41F}" srcOrd="1" destOrd="0" presId="urn:microsoft.com/office/officeart/2005/8/layout/hierarchy1"/>
    <dgm:cxn modelId="{7FD3EF6A-13CA-4AA9-8BBB-7AB8FB29E0C6}" type="presParOf" srcId="{3C3A3BE3-7C2F-4992-AF04-9AE3E3708CF0}" destId="{D44A18F9-96B4-4D42-AD77-ED340B2FC814}" srcOrd="1" destOrd="0" presId="urn:microsoft.com/office/officeart/2005/8/layout/hierarchy1"/>
    <dgm:cxn modelId="{AE6194DA-C5F5-4758-9A4B-1F83B1C677BA}" type="presParOf" srcId="{D44A18F9-96B4-4D42-AD77-ED340B2FC814}" destId="{08C9DC02-509D-4025-B570-F70817586890}" srcOrd="0" destOrd="0" presId="urn:microsoft.com/office/officeart/2005/8/layout/hierarchy1"/>
    <dgm:cxn modelId="{A33B7D66-828C-4A3F-812E-4AD9553DA60F}" type="presParOf" srcId="{08C9DC02-509D-4025-B570-F70817586890}" destId="{62817D09-D9CB-492D-B13B-47021B5B9F9D}" srcOrd="0" destOrd="0" presId="urn:microsoft.com/office/officeart/2005/8/layout/hierarchy1"/>
    <dgm:cxn modelId="{3FABEDD7-9C03-40A0-923A-EC6B870C0D95}" type="presParOf" srcId="{08C9DC02-509D-4025-B570-F70817586890}" destId="{A49D712E-5031-42F3-8356-EFF170864C7B}" srcOrd="1" destOrd="0" presId="urn:microsoft.com/office/officeart/2005/8/layout/hierarchy1"/>
    <dgm:cxn modelId="{D1FBE3DB-1397-4F5F-99A5-E1A4259D5622}" type="presParOf" srcId="{D44A18F9-96B4-4D42-AD77-ED340B2FC814}" destId="{C36D09F3-9987-4AAE-B3BC-2DA5F14D1133}" srcOrd="1" destOrd="0" presId="urn:microsoft.com/office/officeart/2005/8/layout/hierarchy1"/>
    <dgm:cxn modelId="{06289C0A-9E36-479D-95BD-BC51FF69D30B}" type="presParOf" srcId="{3C3A3BE3-7C2F-4992-AF04-9AE3E3708CF0}" destId="{7000227B-A1DA-48EE-B257-1D11A811E599}" srcOrd="2" destOrd="0" presId="urn:microsoft.com/office/officeart/2005/8/layout/hierarchy1"/>
    <dgm:cxn modelId="{FB1FE3CE-491F-4BAA-A2FB-5F9D9B17C2A5}" type="presParOf" srcId="{7000227B-A1DA-48EE-B257-1D11A811E599}" destId="{8A796D4F-8915-4F77-9205-A526F08DD5C2}" srcOrd="0" destOrd="0" presId="urn:microsoft.com/office/officeart/2005/8/layout/hierarchy1"/>
    <dgm:cxn modelId="{7A0CEE98-9BBE-4B4B-8C3F-B56370AAA2FA}" type="presParOf" srcId="{8A796D4F-8915-4F77-9205-A526F08DD5C2}" destId="{88C3C531-8640-4F26-B3A3-64CE629D886D}" srcOrd="0" destOrd="0" presId="urn:microsoft.com/office/officeart/2005/8/layout/hierarchy1"/>
    <dgm:cxn modelId="{77E9D6DC-2C50-48E9-A2DA-F64366A80071}" type="presParOf" srcId="{8A796D4F-8915-4F77-9205-A526F08DD5C2}" destId="{B21CB38D-FF49-41C2-9540-20D6FE334DB6}" srcOrd="1" destOrd="0" presId="urn:microsoft.com/office/officeart/2005/8/layout/hierarchy1"/>
    <dgm:cxn modelId="{D6A506D5-5C81-4208-B4B6-5330B073D8C3}" type="presParOf" srcId="{7000227B-A1DA-48EE-B257-1D11A811E599}" destId="{5AA1185C-01BC-46E7-B826-011A5B1820FA}" srcOrd="1" destOrd="0" presId="urn:microsoft.com/office/officeart/2005/8/layout/hierarchy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B5B425-EF4B-4CE5-9E8B-25FC51A8C9EC}"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8D77A4-CAA4-4C2C-8A4F-724BE802ADAA}">
      <dgm:prSet/>
      <dgm:spPr/>
      <dgm:t>
        <a:bodyPr/>
        <a:lstStyle/>
        <a:p>
          <a:pPr>
            <a:defRPr b="1"/>
          </a:pPr>
          <a:r>
            <a:rPr lang="en-US" b="1"/>
            <a:t>Social housing:</a:t>
          </a:r>
          <a:r>
            <a:rPr lang="en-US"/>
            <a:t> Aimed at urban poor &amp; informal workers</a:t>
          </a:r>
        </a:p>
      </dgm:t>
    </dgm:pt>
    <dgm:pt modelId="{2667A4D3-BC88-4392-8DA7-625208F16C49}" type="parTrans" cxnId="{843D23DA-F92B-4B36-8624-FD2B72119890}">
      <dgm:prSet/>
      <dgm:spPr/>
      <dgm:t>
        <a:bodyPr/>
        <a:lstStyle/>
        <a:p>
          <a:endParaRPr lang="en-US"/>
        </a:p>
      </dgm:t>
    </dgm:pt>
    <dgm:pt modelId="{0312812E-E5D6-47D5-BE4E-30D92269469B}" type="sibTrans" cxnId="{843D23DA-F92B-4B36-8624-FD2B72119890}">
      <dgm:prSet/>
      <dgm:spPr/>
      <dgm:t>
        <a:bodyPr/>
        <a:lstStyle/>
        <a:p>
          <a:endParaRPr lang="en-US"/>
        </a:p>
      </dgm:t>
    </dgm:pt>
    <dgm:pt modelId="{21E3E62A-0065-4F6F-A1F7-13847D0540A0}">
      <dgm:prSet/>
      <dgm:spPr/>
      <dgm:t>
        <a:bodyPr/>
        <a:lstStyle/>
        <a:p>
          <a:pPr>
            <a:defRPr b="1"/>
          </a:pPr>
          <a:r>
            <a:rPr lang="en-US"/>
            <a:t>Challenges:</a:t>
          </a:r>
        </a:p>
      </dgm:t>
    </dgm:pt>
    <dgm:pt modelId="{795EDF6D-EAB4-4916-A82C-BC7046D6775F}" type="parTrans" cxnId="{973FDB4A-B61F-40ED-BB83-378297D61A48}">
      <dgm:prSet/>
      <dgm:spPr/>
      <dgm:t>
        <a:bodyPr/>
        <a:lstStyle/>
        <a:p>
          <a:endParaRPr lang="en-US"/>
        </a:p>
      </dgm:t>
    </dgm:pt>
    <dgm:pt modelId="{C3968C4D-C011-4B4C-AFE4-74A5EAF267F3}" type="sibTrans" cxnId="{973FDB4A-B61F-40ED-BB83-378297D61A48}">
      <dgm:prSet/>
      <dgm:spPr/>
      <dgm:t>
        <a:bodyPr/>
        <a:lstStyle/>
        <a:p>
          <a:endParaRPr lang="en-US"/>
        </a:p>
      </dgm:t>
    </dgm:pt>
    <dgm:pt modelId="{9C219930-F142-4D51-87FF-6AB27F77360E}">
      <dgm:prSet/>
      <dgm:spPr/>
      <dgm:t>
        <a:bodyPr/>
        <a:lstStyle/>
        <a:p>
          <a:r>
            <a:rPr lang="en-US"/>
            <a:t>Lack of formal income documentation</a:t>
          </a:r>
        </a:p>
      </dgm:t>
    </dgm:pt>
    <dgm:pt modelId="{B54F5BC3-D6AC-46A1-8EA3-7B1BED7CE770}" type="parTrans" cxnId="{EFB63F96-C7B8-4C29-B137-6A0086DCCF18}">
      <dgm:prSet/>
      <dgm:spPr/>
      <dgm:t>
        <a:bodyPr/>
        <a:lstStyle/>
        <a:p>
          <a:endParaRPr lang="en-US"/>
        </a:p>
      </dgm:t>
    </dgm:pt>
    <dgm:pt modelId="{4F15B108-6DD7-4241-8C56-10791965DCC7}" type="sibTrans" cxnId="{EFB63F96-C7B8-4C29-B137-6A0086DCCF18}">
      <dgm:prSet/>
      <dgm:spPr/>
      <dgm:t>
        <a:bodyPr/>
        <a:lstStyle/>
        <a:p>
          <a:endParaRPr lang="en-US"/>
        </a:p>
      </dgm:t>
    </dgm:pt>
    <dgm:pt modelId="{BBAD7A94-CF42-45B6-93D8-02A0794B903B}">
      <dgm:prSet/>
      <dgm:spPr/>
      <dgm:t>
        <a:bodyPr/>
        <a:lstStyle/>
        <a:p>
          <a:r>
            <a:rPr lang="en-US"/>
            <a:t>No collateral</a:t>
          </a:r>
        </a:p>
      </dgm:t>
    </dgm:pt>
    <dgm:pt modelId="{3CB38D30-290A-49BF-AB97-F39CE51303F1}" type="parTrans" cxnId="{04671C21-15EA-4E95-BFD9-002F7DB93CFF}">
      <dgm:prSet/>
      <dgm:spPr/>
      <dgm:t>
        <a:bodyPr/>
        <a:lstStyle/>
        <a:p>
          <a:endParaRPr lang="en-US"/>
        </a:p>
      </dgm:t>
    </dgm:pt>
    <dgm:pt modelId="{69784F95-007D-4937-8BBD-42117173FBBE}" type="sibTrans" cxnId="{04671C21-15EA-4E95-BFD9-002F7DB93CFF}">
      <dgm:prSet/>
      <dgm:spPr/>
      <dgm:t>
        <a:bodyPr/>
        <a:lstStyle/>
        <a:p>
          <a:endParaRPr lang="en-US"/>
        </a:p>
      </dgm:t>
    </dgm:pt>
    <dgm:pt modelId="{C510CAB4-0919-48EF-AAA4-89E407DCFD7F}">
      <dgm:prSet/>
      <dgm:spPr/>
      <dgm:t>
        <a:bodyPr/>
        <a:lstStyle/>
        <a:p>
          <a:r>
            <a:rPr lang="en-US"/>
            <a:t>Excluded from mainstream finance</a:t>
          </a:r>
          <a:br>
            <a:rPr lang="en-US"/>
          </a:br>
          <a:endParaRPr lang="en-US"/>
        </a:p>
      </dgm:t>
    </dgm:pt>
    <dgm:pt modelId="{A3AF4999-DBA1-4B56-85DF-DCC562AA1359}" type="parTrans" cxnId="{A05451FD-4B18-40A4-864E-4863449693FB}">
      <dgm:prSet/>
      <dgm:spPr/>
      <dgm:t>
        <a:bodyPr/>
        <a:lstStyle/>
        <a:p>
          <a:endParaRPr lang="en-US"/>
        </a:p>
      </dgm:t>
    </dgm:pt>
    <dgm:pt modelId="{46070C32-3891-4393-8DEC-685ADF5E7113}" type="sibTrans" cxnId="{A05451FD-4B18-40A4-864E-4863449693FB}">
      <dgm:prSet/>
      <dgm:spPr/>
      <dgm:t>
        <a:bodyPr/>
        <a:lstStyle/>
        <a:p>
          <a:endParaRPr lang="en-US"/>
        </a:p>
      </dgm:t>
    </dgm:pt>
    <dgm:pt modelId="{709D4E10-6420-456A-BDC7-9A3430A808A1}" type="pres">
      <dgm:prSet presAssocID="{DAB5B425-EF4B-4CE5-9E8B-25FC51A8C9EC}" presName="root" presStyleCnt="0">
        <dgm:presLayoutVars>
          <dgm:dir/>
          <dgm:resizeHandles val="exact"/>
        </dgm:presLayoutVars>
      </dgm:prSet>
      <dgm:spPr/>
      <dgm:t>
        <a:bodyPr/>
        <a:lstStyle/>
        <a:p>
          <a:endParaRPr lang="en-US"/>
        </a:p>
      </dgm:t>
    </dgm:pt>
    <dgm:pt modelId="{12FC41F1-DC60-41E6-BCE7-BB389FBE037A}" type="pres">
      <dgm:prSet presAssocID="{8E8D77A4-CAA4-4C2C-8A4F-724BE802ADAA}" presName="compNode" presStyleCnt="0"/>
      <dgm:spPr/>
    </dgm:pt>
    <dgm:pt modelId="{1F4800E3-7409-49B9-A8D4-064731B8E11E}" type="pres">
      <dgm:prSet presAssocID="{8E8D77A4-CAA4-4C2C-8A4F-724BE802ADA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City"/>
        </a:ext>
      </dgm:extLst>
    </dgm:pt>
    <dgm:pt modelId="{30A6DD3D-796B-41BB-A136-33F14F3A7716}" type="pres">
      <dgm:prSet presAssocID="{8E8D77A4-CAA4-4C2C-8A4F-724BE802ADAA}" presName="iconSpace" presStyleCnt="0"/>
      <dgm:spPr/>
    </dgm:pt>
    <dgm:pt modelId="{B0163D03-F7BE-4EE2-9CF9-EDE964B5A79D}" type="pres">
      <dgm:prSet presAssocID="{8E8D77A4-CAA4-4C2C-8A4F-724BE802ADAA}" presName="parTx" presStyleLbl="revTx" presStyleIdx="0" presStyleCnt="4">
        <dgm:presLayoutVars>
          <dgm:chMax val="0"/>
          <dgm:chPref val="0"/>
        </dgm:presLayoutVars>
      </dgm:prSet>
      <dgm:spPr/>
      <dgm:t>
        <a:bodyPr/>
        <a:lstStyle/>
        <a:p>
          <a:endParaRPr lang="en-US"/>
        </a:p>
      </dgm:t>
    </dgm:pt>
    <dgm:pt modelId="{BE1DCCBA-9A41-45EA-9208-CA1E277DE03F}" type="pres">
      <dgm:prSet presAssocID="{8E8D77A4-CAA4-4C2C-8A4F-724BE802ADAA}" presName="txSpace" presStyleCnt="0"/>
      <dgm:spPr/>
    </dgm:pt>
    <dgm:pt modelId="{6DD0FC86-51DE-4165-8B93-D56C1B1FEAE8}" type="pres">
      <dgm:prSet presAssocID="{8E8D77A4-CAA4-4C2C-8A4F-724BE802ADAA}" presName="desTx" presStyleLbl="revTx" presStyleIdx="1" presStyleCnt="4">
        <dgm:presLayoutVars/>
      </dgm:prSet>
      <dgm:spPr/>
    </dgm:pt>
    <dgm:pt modelId="{5ABE2D38-BE84-4B99-9A19-5B6A10476EC1}" type="pres">
      <dgm:prSet presAssocID="{0312812E-E5D6-47D5-BE4E-30D92269469B}" presName="sibTrans" presStyleCnt="0"/>
      <dgm:spPr/>
    </dgm:pt>
    <dgm:pt modelId="{CB50F486-54EE-4878-B41C-38FED0F0B09B}" type="pres">
      <dgm:prSet presAssocID="{21E3E62A-0065-4F6F-A1F7-13847D0540A0}" presName="compNode" presStyleCnt="0"/>
      <dgm:spPr/>
    </dgm:pt>
    <dgm:pt modelId="{A21D9143-2D8F-4C93-80D2-D97CD22AFFF8}" type="pres">
      <dgm:prSet presAssocID="{21E3E62A-0065-4F6F-A1F7-13847D0540A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Money"/>
        </a:ext>
      </dgm:extLst>
    </dgm:pt>
    <dgm:pt modelId="{E49F9758-E5C6-4393-B62C-B382855CDBB2}" type="pres">
      <dgm:prSet presAssocID="{21E3E62A-0065-4F6F-A1F7-13847D0540A0}" presName="iconSpace" presStyleCnt="0"/>
      <dgm:spPr/>
    </dgm:pt>
    <dgm:pt modelId="{5B2EBDDD-95B1-422D-9B2A-43C02D4D7145}" type="pres">
      <dgm:prSet presAssocID="{21E3E62A-0065-4F6F-A1F7-13847D0540A0}" presName="parTx" presStyleLbl="revTx" presStyleIdx="2" presStyleCnt="4">
        <dgm:presLayoutVars>
          <dgm:chMax val="0"/>
          <dgm:chPref val="0"/>
        </dgm:presLayoutVars>
      </dgm:prSet>
      <dgm:spPr/>
      <dgm:t>
        <a:bodyPr/>
        <a:lstStyle/>
        <a:p>
          <a:endParaRPr lang="en-US"/>
        </a:p>
      </dgm:t>
    </dgm:pt>
    <dgm:pt modelId="{5EAE906D-3C17-4291-8513-EAFDBB860C99}" type="pres">
      <dgm:prSet presAssocID="{21E3E62A-0065-4F6F-A1F7-13847D0540A0}" presName="txSpace" presStyleCnt="0"/>
      <dgm:spPr/>
    </dgm:pt>
    <dgm:pt modelId="{976A6EEE-DB1F-449F-A0DF-05530FFC7C25}" type="pres">
      <dgm:prSet presAssocID="{21E3E62A-0065-4F6F-A1F7-13847D0540A0}" presName="desTx" presStyleLbl="revTx" presStyleIdx="3" presStyleCnt="4">
        <dgm:presLayoutVars/>
      </dgm:prSet>
      <dgm:spPr/>
      <dgm:t>
        <a:bodyPr/>
        <a:lstStyle/>
        <a:p>
          <a:endParaRPr lang="en-US"/>
        </a:p>
      </dgm:t>
    </dgm:pt>
  </dgm:ptLst>
  <dgm:cxnLst>
    <dgm:cxn modelId="{04671C21-15EA-4E95-BFD9-002F7DB93CFF}" srcId="{21E3E62A-0065-4F6F-A1F7-13847D0540A0}" destId="{BBAD7A94-CF42-45B6-93D8-02A0794B903B}" srcOrd="1" destOrd="0" parTransId="{3CB38D30-290A-49BF-AB97-F39CE51303F1}" sibTransId="{69784F95-007D-4937-8BBD-42117173FBBE}"/>
    <dgm:cxn modelId="{A05451FD-4B18-40A4-864E-4863449693FB}" srcId="{21E3E62A-0065-4F6F-A1F7-13847D0540A0}" destId="{C510CAB4-0919-48EF-AAA4-89E407DCFD7F}" srcOrd="2" destOrd="0" parTransId="{A3AF4999-DBA1-4B56-85DF-DCC562AA1359}" sibTransId="{46070C32-3891-4393-8DEC-685ADF5E7113}"/>
    <dgm:cxn modelId="{A88DB4AC-3B76-4180-B68E-D9CB801F0DAF}" type="presOf" srcId="{8E8D77A4-CAA4-4C2C-8A4F-724BE802ADAA}" destId="{B0163D03-F7BE-4EE2-9CF9-EDE964B5A79D}" srcOrd="0" destOrd="0" presId="urn:microsoft.com/office/officeart/2018/5/layout/CenteredIconLabelDescriptionList"/>
    <dgm:cxn modelId="{EFB63F96-C7B8-4C29-B137-6A0086DCCF18}" srcId="{21E3E62A-0065-4F6F-A1F7-13847D0540A0}" destId="{9C219930-F142-4D51-87FF-6AB27F77360E}" srcOrd="0" destOrd="0" parTransId="{B54F5BC3-D6AC-46A1-8EA3-7B1BED7CE770}" sibTransId="{4F15B108-6DD7-4241-8C56-10791965DCC7}"/>
    <dgm:cxn modelId="{8557F8E7-4A2E-45DA-A5A5-DB285E2FD332}" type="presOf" srcId="{BBAD7A94-CF42-45B6-93D8-02A0794B903B}" destId="{976A6EEE-DB1F-449F-A0DF-05530FFC7C25}" srcOrd="0" destOrd="1" presId="urn:microsoft.com/office/officeart/2018/5/layout/CenteredIconLabelDescriptionList"/>
    <dgm:cxn modelId="{2F177014-DB52-4858-89DD-28EBA9458FFA}" type="presOf" srcId="{9C219930-F142-4D51-87FF-6AB27F77360E}" destId="{976A6EEE-DB1F-449F-A0DF-05530FFC7C25}" srcOrd="0" destOrd="0" presId="urn:microsoft.com/office/officeart/2018/5/layout/CenteredIconLabelDescriptionList"/>
    <dgm:cxn modelId="{973FDB4A-B61F-40ED-BB83-378297D61A48}" srcId="{DAB5B425-EF4B-4CE5-9E8B-25FC51A8C9EC}" destId="{21E3E62A-0065-4F6F-A1F7-13847D0540A0}" srcOrd="1" destOrd="0" parTransId="{795EDF6D-EAB4-4916-A82C-BC7046D6775F}" sibTransId="{C3968C4D-C011-4B4C-AFE4-74A5EAF267F3}"/>
    <dgm:cxn modelId="{B7E82BF1-253D-4258-AE2C-3DF5528106CB}" type="presOf" srcId="{21E3E62A-0065-4F6F-A1F7-13847D0540A0}" destId="{5B2EBDDD-95B1-422D-9B2A-43C02D4D7145}" srcOrd="0" destOrd="0" presId="urn:microsoft.com/office/officeart/2018/5/layout/CenteredIconLabelDescriptionList"/>
    <dgm:cxn modelId="{933B0E4D-6099-4E20-BF8F-FA6082BCCA53}" type="presOf" srcId="{C510CAB4-0919-48EF-AAA4-89E407DCFD7F}" destId="{976A6EEE-DB1F-449F-A0DF-05530FFC7C25}" srcOrd="0" destOrd="2" presId="urn:microsoft.com/office/officeart/2018/5/layout/CenteredIconLabelDescriptionList"/>
    <dgm:cxn modelId="{843D23DA-F92B-4B36-8624-FD2B72119890}" srcId="{DAB5B425-EF4B-4CE5-9E8B-25FC51A8C9EC}" destId="{8E8D77A4-CAA4-4C2C-8A4F-724BE802ADAA}" srcOrd="0" destOrd="0" parTransId="{2667A4D3-BC88-4392-8DA7-625208F16C49}" sibTransId="{0312812E-E5D6-47D5-BE4E-30D92269469B}"/>
    <dgm:cxn modelId="{2C667AC2-02BD-46E2-9425-0DAF16CED7AE}" type="presOf" srcId="{DAB5B425-EF4B-4CE5-9E8B-25FC51A8C9EC}" destId="{709D4E10-6420-456A-BDC7-9A3430A808A1}" srcOrd="0" destOrd="0" presId="urn:microsoft.com/office/officeart/2018/5/layout/CenteredIconLabelDescriptionList"/>
    <dgm:cxn modelId="{05E99A25-33D9-40F9-A194-8CEC29F9B9D4}" type="presParOf" srcId="{709D4E10-6420-456A-BDC7-9A3430A808A1}" destId="{12FC41F1-DC60-41E6-BCE7-BB389FBE037A}" srcOrd="0" destOrd="0" presId="urn:microsoft.com/office/officeart/2018/5/layout/CenteredIconLabelDescriptionList"/>
    <dgm:cxn modelId="{F17EC047-3A6C-4ECF-B992-7944C0EF72E6}" type="presParOf" srcId="{12FC41F1-DC60-41E6-BCE7-BB389FBE037A}" destId="{1F4800E3-7409-49B9-A8D4-064731B8E11E}" srcOrd="0" destOrd="0" presId="urn:microsoft.com/office/officeart/2018/5/layout/CenteredIconLabelDescriptionList"/>
    <dgm:cxn modelId="{E55DEA61-2C31-41DF-A09E-D06C76E471DE}" type="presParOf" srcId="{12FC41F1-DC60-41E6-BCE7-BB389FBE037A}" destId="{30A6DD3D-796B-41BB-A136-33F14F3A7716}" srcOrd="1" destOrd="0" presId="urn:microsoft.com/office/officeart/2018/5/layout/CenteredIconLabelDescriptionList"/>
    <dgm:cxn modelId="{D020347E-76BA-4DF2-9784-12F667A3FDCF}" type="presParOf" srcId="{12FC41F1-DC60-41E6-BCE7-BB389FBE037A}" destId="{B0163D03-F7BE-4EE2-9CF9-EDE964B5A79D}" srcOrd="2" destOrd="0" presId="urn:microsoft.com/office/officeart/2018/5/layout/CenteredIconLabelDescriptionList"/>
    <dgm:cxn modelId="{BA71BB0F-57E3-44FA-A21D-A2AC9BD0D75F}" type="presParOf" srcId="{12FC41F1-DC60-41E6-BCE7-BB389FBE037A}" destId="{BE1DCCBA-9A41-45EA-9208-CA1E277DE03F}" srcOrd="3" destOrd="0" presId="urn:microsoft.com/office/officeart/2018/5/layout/CenteredIconLabelDescriptionList"/>
    <dgm:cxn modelId="{E606A85B-27A1-438F-B03E-EC9AB9A19E2C}" type="presParOf" srcId="{12FC41F1-DC60-41E6-BCE7-BB389FBE037A}" destId="{6DD0FC86-51DE-4165-8B93-D56C1B1FEAE8}" srcOrd="4" destOrd="0" presId="urn:microsoft.com/office/officeart/2018/5/layout/CenteredIconLabelDescriptionList"/>
    <dgm:cxn modelId="{3F032FEF-40F6-4E42-9DC1-C83A2CD6BA7F}" type="presParOf" srcId="{709D4E10-6420-456A-BDC7-9A3430A808A1}" destId="{5ABE2D38-BE84-4B99-9A19-5B6A10476EC1}" srcOrd="1" destOrd="0" presId="urn:microsoft.com/office/officeart/2018/5/layout/CenteredIconLabelDescriptionList"/>
    <dgm:cxn modelId="{5E44B7A7-4E92-4FEF-9CB2-AB51D5E93CCE}" type="presParOf" srcId="{709D4E10-6420-456A-BDC7-9A3430A808A1}" destId="{CB50F486-54EE-4878-B41C-38FED0F0B09B}" srcOrd="2" destOrd="0" presId="urn:microsoft.com/office/officeart/2018/5/layout/CenteredIconLabelDescriptionList"/>
    <dgm:cxn modelId="{1D45A307-9C0D-4954-B677-FACBED6C40D6}" type="presParOf" srcId="{CB50F486-54EE-4878-B41C-38FED0F0B09B}" destId="{A21D9143-2D8F-4C93-80D2-D97CD22AFFF8}" srcOrd="0" destOrd="0" presId="urn:microsoft.com/office/officeart/2018/5/layout/CenteredIconLabelDescriptionList"/>
    <dgm:cxn modelId="{A62499DE-9E1B-4C50-A53D-9F4628718C6C}" type="presParOf" srcId="{CB50F486-54EE-4878-B41C-38FED0F0B09B}" destId="{E49F9758-E5C6-4393-B62C-B382855CDBB2}" srcOrd="1" destOrd="0" presId="urn:microsoft.com/office/officeart/2018/5/layout/CenteredIconLabelDescriptionList"/>
    <dgm:cxn modelId="{A1D8EFB4-F2B2-4BAD-A48E-CD36CC0FF8E9}" type="presParOf" srcId="{CB50F486-54EE-4878-B41C-38FED0F0B09B}" destId="{5B2EBDDD-95B1-422D-9B2A-43C02D4D7145}" srcOrd="2" destOrd="0" presId="urn:microsoft.com/office/officeart/2018/5/layout/CenteredIconLabelDescriptionList"/>
    <dgm:cxn modelId="{BD79E7EE-5424-4528-B4B7-7BDE66093FF5}" type="presParOf" srcId="{CB50F486-54EE-4878-B41C-38FED0F0B09B}" destId="{5EAE906D-3C17-4291-8513-EAFDBB860C99}" srcOrd="3" destOrd="0" presId="urn:microsoft.com/office/officeart/2018/5/layout/CenteredIconLabelDescriptionList"/>
    <dgm:cxn modelId="{0CCF8943-7BB6-4319-B28A-49B2A31468D8}" type="presParOf" srcId="{CB50F486-54EE-4878-B41C-38FED0F0B09B}" destId="{976A6EEE-DB1F-449F-A0DF-05530FFC7C25}" srcOrd="4" destOrd="0" presId="urn:microsoft.com/office/officeart/2018/5/layout/CenteredIconLabelDescription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0F7A1A-5A72-47CB-89DA-0DC6165C3B2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3533C36-1E01-4906-96E2-324FEE399C0F}">
      <dgm:prSet/>
      <dgm:spPr/>
      <dgm:t>
        <a:bodyPr/>
        <a:lstStyle/>
        <a:p>
          <a:pPr>
            <a:defRPr cap="all"/>
          </a:pPr>
          <a:r>
            <a:rPr lang="en-US"/>
            <a:t>Outdated legislation and low returns for landlords</a:t>
          </a:r>
        </a:p>
      </dgm:t>
    </dgm:pt>
    <dgm:pt modelId="{EFFD52BA-E311-400B-97A7-03D6405B46F4}" type="parTrans" cxnId="{844A7FFC-771E-4543-A983-A5E22A7D8FB0}">
      <dgm:prSet/>
      <dgm:spPr/>
      <dgm:t>
        <a:bodyPr/>
        <a:lstStyle/>
        <a:p>
          <a:endParaRPr lang="en-US"/>
        </a:p>
      </dgm:t>
    </dgm:pt>
    <dgm:pt modelId="{C3904D57-041C-4358-B644-DCD854559583}" type="sibTrans" cxnId="{844A7FFC-771E-4543-A983-A5E22A7D8FB0}">
      <dgm:prSet/>
      <dgm:spPr/>
      <dgm:t>
        <a:bodyPr/>
        <a:lstStyle/>
        <a:p>
          <a:endParaRPr lang="en-US"/>
        </a:p>
      </dgm:t>
    </dgm:pt>
    <dgm:pt modelId="{479659F2-1F44-4089-8B54-121850CCCACE}">
      <dgm:prSet/>
      <dgm:spPr/>
      <dgm:t>
        <a:bodyPr/>
        <a:lstStyle/>
        <a:p>
          <a:pPr>
            <a:defRPr cap="all"/>
          </a:pPr>
          <a:r>
            <a:rPr lang="en-US"/>
            <a:t>Lack of institutional rental housing options</a:t>
          </a:r>
        </a:p>
      </dgm:t>
    </dgm:pt>
    <dgm:pt modelId="{71DB8D04-8F01-4BE4-B950-34530F4CA9A5}" type="parTrans" cxnId="{1196E63F-0291-4AF1-A9F6-D18DE7F3E372}">
      <dgm:prSet/>
      <dgm:spPr/>
      <dgm:t>
        <a:bodyPr/>
        <a:lstStyle/>
        <a:p>
          <a:endParaRPr lang="en-US"/>
        </a:p>
      </dgm:t>
    </dgm:pt>
    <dgm:pt modelId="{1F8C0962-88FF-44DE-A6F9-E58E3FB9EDDE}" type="sibTrans" cxnId="{1196E63F-0291-4AF1-A9F6-D18DE7F3E372}">
      <dgm:prSet/>
      <dgm:spPr/>
      <dgm:t>
        <a:bodyPr/>
        <a:lstStyle/>
        <a:p>
          <a:endParaRPr lang="en-US"/>
        </a:p>
      </dgm:t>
    </dgm:pt>
    <dgm:pt modelId="{8A036E77-EA41-43EB-91C5-9FF5A0A81CD7}">
      <dgm:prSet/>
      <dgm:spPr/>
      <dgm:t>
        <a:bodyPr/>
        <a:lstStyle/>
        <a:p>
          <a:pPr>
            <a:defRPr cap="all"/>
          </a:pPr>
          <a:r>
            <a:rPr lang="en-US"/>
            <a:t>Migrants and low-income groups lack affordable rentals</a:t>
          </a:r>
          <a:br>
            <a:rPr lang="en-US"/>
          </a:br>
          <a:endParaRPr lang="en-US"/>
        </a:p>
      </dgm:t>
    </dgm:pt>
    <dgm:pt modelId="{B5FC0720-14C6-4C82-A84C-B46879B873FD}" type="parTrans" cxnId="{4B35FA4A-B5A8-4A0B-824E-63B29B494F4D}">
      <dgm:prSet/>
      <dgm:spPr/>
      <dgm:t>
        <a:bodyPr/>
        <a:lstStyle/>
        <a:p>
          <a:endParaRPr lang="en-US"/>
        </a:p>
      </dgm:t>
    </dgm:pt>
    <dgm:pt modelId="{03198639-150A-49DE-85BD-CF139B5FD095}" type="sibTrans" cxnId="{4B35FA4A-B5A8-4A0B-824E-63B29B494F4D}">
      <dgm:prSet/>
      <dgm:spPr/>
      <dgm:t>
        <a:bodyPr/>
        <a:lstStyle/>
        <a:p>
          <a:endParaRPr lang="en-US"/>
        </a:p>
      </dgm:t>
    </dgm:pt>
    <dgm:pt modelId="{858A4E80-EE9F-4BCB-ACB1-D27FA0A861FB}" type="pres">
      <dgm:prSet presAssocID="{CA0F7A1A-5A72-47CB-89DA-0DC6165C3B22}" presName="root" presStyleCnt="0">
        <dgm:presLayoutVars>
          <dgm:dir/>
          <dgm:resizeHandles val="exact"/>
        </dgm:presLayoutVars>
      </dgm:prSet>
      <dgm:spPr/>
      <dgm:t>
        <a:bodyPr/>
        <a:lstStyle/>
        <a:p>
          <a:endParaRPr lang="en-US"/>
        </a:p>
      </dgm:t>
    </dgm:pt>
    <dgm:pt modelId="{D378ADA0-02C8-456E-9F17-C9C53D7B7F25}" type="pres">
      <dgm:prSet presAssocID="{B3533C36-1E01-4906-96E2-324FEE399C0F}" presName="compNode" presStyleCnt="0"/>
      <dgm:spPr/>
    </dgm:pt>
    <dgm:pt modelId="{141944C3-842C-4BB7-8ADC-F14A71EA5EC2}" type="pres">
      <dgm:prSet presAssocID="{B3533C36-1E01-4906-96E2-324FEE399C0F}" presName="iconBgRect" presStyleLbl="bgShp" presStyleIdx="0" presStyleCnt="3"/>
      <dgm:spPr>
        <a:prstGeom prst="round2DiagRect">
          <a:avLst>
            <a:gd name="adj1" fmla="val 29727"/>
            <a:gd name="adj2" fmla="val 0"/>
          </a:avLst>
        </a:prstGeom>
      </dgm:spPr>
    </dgm:pt>
    <dgm:pt modelId="{331DF08A-B825-41EC-8415-9FACD7062B8C}" type="pres">
      <dgm:prSet presAssocID="{B3533C36-1E01-4906-96E2-324FEE399C0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xmlns=""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xmlns="" id="0" name="" descr="Money"/>
        </a:ext>
      </dgm:extLst>
    </dgm:pt>
    <dgm:pt modelId="{83F37FB3-6D0E-4013-85A0-D22894F9BE71}" type="pres">
      <dgm:prSet presAssocID="{B3533C36-1E01-4906-96E2-324FEE399C0F}" presName="spaceRect" presStyleCnt="0"/>
      <dgm:spPr/>
    </dgm:pt>
    <dgm:pt modelId="{124DF191-A132-4D0F-A0A5-1B56A96489DA}" type="pres">
      <dgm:prSet presAssocID="{B3533C36-1E01-4906-96E2-324FEE399C0F}" presName="textRect" presStyleLbl="revTx" presStyleIdx="0" presStyleCnt="3">
        <dgm:presLayoutVars>
          <dgm:chMax val="1"/>
          <dgm:chPref val="1"/>
        </dgm:presLayoutVars>
      </dgm:prSet>
      <dgm:spPr/>
      <dgm:t>
        <a:bodyPr/>
        <a:lstStyle/>
        <a:p>
          <a:endParaRPr lang="en-US"/>
        </a:p>
      </dgm:t>
    </dgm:pt>
    <dgm:pt modelId="{E886E54B-A5EF-4A49-A480-A03F8D9F70FA}" type="pres">
      <dgm:prSet presAssocID="{C3904D57-041C-4358-B644-DCD854559583}" presName="sibTrans" presStyleCnt="0"/>
      <dgm:spPr/>
    </dgm:pt>
    <dgm:pt modelId="{520E350A-D257-4ADB-8BFF-77B2E0BE5855}" type="pres">
      <dgm:prSet presAssocID="{479659F2-1F44-4089-8B54-121850CCCACE}" presName="compNode" presStyleCnt="0"/>
      <dgm:spPr/>
    </dgm:pt>
    <dgm:pt modelId="{22D8D686-2FF0-47BB-AB58-413F294B8E53}" type="pres">
      <dgm:prSet presAssocID="{479659F2-1F44-4089-8B54-121850CCCACE}" presName="iconBgRect" presStyleLbl="bgShp" presStyleIdx="1" presStyleCnt="3"/>
      <dgm:spPr>
        <a:prstGeom prst="round2DiagRect">
          <a:avLst>
            <a:gd name="adj1" fmla="val 29727"/>
            <a:gd name="adj2" fmla="val 0"/>
          </a:avLst>
        </a:prstGeom>
      </dgm:spPr>
    </dgm:pt>
    <dgm:pt modelId="{DCEA1F97-A658-474B-AA17-C8F9AA38445B}" type="pres">
      <dgm:prSet presAssocID="{479659F2-1F44-4089-8B54-121850CCCAC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xmlns=""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xmlns="" id="0" name="" descr="House"/>
        </a:ext>
      </dgm:extLst>
    </dgm:pt>
    <dgm:pt modelId="{49893188-32EA-4A6D-893F-7AD90B5BC10F}" type="pres">
      <dgm:prSet presAssocID="{479659F2-1F44-4089-8B54-121850CCCACE}" presName="spaceRect" presStyleCnt="0"/>
      <dgm:spPr/>
    </dgm:pt>
    <dgm:pt modelId="{9D16995C-4476-4FF4-BFA1-FD89DBA0B335}" type="pres">
      <dgm:prSet presAssocID="{479659F2-1F44-4089-8B54-121850CCCACE}" presName="textRect" presStyleLbl="revTx" presStyleIdx="1" presStyleCnt="3">
        <dgm:presLayoutVars>
          <dgm:chMax val="1"/>
          <dgm:chPref val="1"/>
        </dgm:presLayoutVars>
      </dgm:prSet>
      <dgm:spPr/>
      <dgm:t>
        <a:bodyPr/>
        <a:lstStyle/>
        <a:p>
          <a:endParaRPr lang="en-US"/>
        </a:p>
      </dgm:t>
    </dgm:pt>
    <dgm:pt modelId="{2B34026F-2822-475D-AA9D-6F11EF2C81C9}" type="pres">
      <dgm:prSet presAssocID="{1F8C0962-88FF-44DE-A6F9-E58E3FB9EDDE}" presName="sibTrans" presStyleCnt="0"/>
      <dgm:spPr/>
    </dgm:pt>
    <dgm:pt modelId="{D36FFBCE-8D7F-4DC7-B5E6-A676F61A36A3}" type="pres">
      <dgm:prSet presAssocID="{8A036E77-EA41-43EB-91C5-9FF5A0A81CD7}" presName="compNode" presStyleCnt="0"/>
      <dgm:spPr/>
    </dgm:pt>
    <dgm:pt modelId="{547E5522-A14F-4C74-8E24-2A2EDF64BF0C}" type="pres">
      <dgm:prSet presAssocID="{8A036E77-EA41-43EB-91C5-9FF5A0A81CD7}" presName="iconBgRect" presStyleLbl="bgShp" presStyleIdx="2" presStyleCnt="3"/>
      <dgm:spPr>
        <a:prstGeom prst="round2DiagRect">
          <a:avLst>
            <a:gd name="adj1" fmla="val 29727"/>
            <a:gd name="adj2" fmla="val 0"/>
          </a:avLst>
        </a:prstGeom>
      </dgm:spPr>
    </dgm:pt>
    <dgm:pt modelId="{63AF88B4-ADFE-43CF-A756-E61453B00E26}" type="pres">
      <dgm:prSet presAssocID="{8A036E77-EA41-43EB-91C5-9FF5A0A81CD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xmlns=""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xmlns="" id="0" name="" descr="Group"/>
        </a:ext>
      </dgm:extLst>
    </dgm:pt>
    <dgm:pt modelId="{9F50CD26-088F-4661-83DF-9C8A20E91C54}" type="pres">
      <dgm:prSet presAssocID="{8A036E77-EA41-43EB-91C5-9FF5A0A81CD7}" presName="spaceRect" presStyleCnt="0"/>
      <dgm:spPr/>
    </dgm:pt>
    <dgm:pt modelId="{F4C58B63-9A30-4F80-9502-FF00E8197674}" type="pres">
      <dgm:prSet presAssocID="{8A036E77-EA41-43EB-91C5-9FF5A0A81CD7}" presName="textRect" presStyleLbl="revTx" presStyleIdx="2" presStyleCnt="3">
        <dgm:presLayoutVars>
          <dgm:chMax val="1"/>
          <dgm:chPref val="1"/>
        </dgm:presLayoutVars>
      </dgm:prSet>
      <dgm:spPr/>
      <dgm:t>
        <a:bodyPr/>
        <a:lstStyle/>
        <a:p>
          <a:endParaRPr lang="en-US"/>
        </a:p>
      </dgm:t>
    </dgm:pt>
  </dgm:ptLst>
  <dgm:cxnLst>
    <dgm:cxn modelId="{9FD5E72C-B6CA-4FED-B255-BCE5E4454276}" type="presOf" srcId="{8A036E77-EA41-43EB-91C5-9FF5A0A81CD7}" destId="{F4C58B63-9A30-4F80-9502-FF00E8197674}" srcOrd="0" destOrd="0" presId="urn:microsoft.com/office/officeart/2018/5/layout/IconLeafLabelList"/>
    <dgm:cxn modelId="{1196E63F-0291-4AF1-A9F6-D18DE7F3E372}" srcId="{CA0F7A1A-5A72-47CB-89DA-0DC6165C3B22}" destId="{479659F2-1F44-4089-8B54-121850CCCACE}" srcOrd="1" destOrd="0" parTransId="{71DB8D04-8F01-4BE4-B950-34530F4CA9A5}" sibTransId="{1F8C0962-88FF-44DE-A6F9-E58E3FB9EDDE}"/>
    <dgm:cxn modelId="{844A7FFC-771E-4543-A983-A5E22A7D8FB0}" srcId="{CA0F7A1A-5A72-47CB-89DA-0DC6165C3B22}" destId="{B3533C36-1E01-4906-96E2-324FEE399C0F}" srcOrd="0" destOrd="0" parTransId="{EFFD52BA-E311-400B-97A7-03D6405B46F4}" sibTransId="{C3904D57-041C-4358-B644-DCD854559583}"/>
    <dgm:cxn modelId="{3939EEEC-A19D-402F-A6D0-EE08A98BFD49}" type="presOf" srcId="{CA0F7A1A-5A72-47CB-89DA-0DC6165C3B22}" destId="{858A4E80-EE9F-4BCB-ACB1-D27FA0A861FB}" srcOrd="0" destOrd="0" presId="urn:microsoft.com/office/officeart/2018/5/layout/IconLeafLabelList"/>
    <dgm:cxn modelId="{ED1EA758-37F0-40E1-BE9E-E0FBE789A6A6}" type="presOf" srcId="{B3533C36-1E01-4906-96E2-324FEE399C0F}" destId="{124DF191-A132-4D0F-A0A5-1B56A96489DA}" srcOrd="0" destOrd="0" presId="urn:microsoft.com/office/officeart/2018/5/layout/IconLeafLabelList"/>
    <dgm:cxn modelId="{4B35FA4A-B5A8-4A0B-824E-63B29B494F4D}" srcId="{CA0F7A1A-5A72-47CB-89DA-0DC6165C3B22}" destId="{8A036E77-EA41-43EB-91C5-9FF5A0A81CD7}" srcOrd="2" destOrd="0" parTransId="{B5FC0720-14C6-4C82-A84C-B46879B873FD}" sibTransId="{03198639-150A-49DE-85BD-CF139B5FD095}"/>
    <dgm:cxn modelId="{66DA3025-F4D9-40E8-AED8-52E34AE4B88A}" type="presOf" srcId="{479659F2-1F44-4089-8B54-121850CCCACE}" destId="{9D16995C-4476-4FF4-BFA1-FD89DBA0B335}" srcOrd="0" destOrd="0" presId="urn:microsoft.com/office/officeart/2018/5/layout/IconLeafLabelList"/>
    <dgm:cxn modelId="{21F1717A-8364-4E58-9790-32BB53085089}" type="presParOf" srcId="{858A4E80-EE9F-4BCB-ACB1-D27FA0A861FB}" destId="{D378ADA0-02C8-456E-9F17-C9C53D7B7F25}" srcOrd="0" destOrd="0" presId="urn:microsoft.com/office/officeart/2018/5/layout/IconLeafLabelList"/>
    <dgm:cxn modelId="{81D2D2B0-50BF-40A0-BCFB-519CE8FDB3AA}" type="presParOf" srcId="{D378ADA0-02C8-456E-9F17-C9C53D7B7F25}" destId="{141944C3-842C-4BB7-8ADC-F14A71EA5EC2}" srcOrd="0" destOrd="0" presId="urn:microsoft.com/office/officeart/2018/5/layout/IconLeafLabelList"/>
    <dgm:cxn modelId="{B0E70A53-D960-4E0B-B063-F57304B3A02F}" type="presParOf" srcId="{D378ADA0-02C8-456E-9F17-C9C53D7B7F25}" destId="{331DF08A-B825-41EC-8415-9FACD7062B8C}" srcOrd="1" destOrd="0" presId="urn:microsoft.com/office/officeart/2018/5/layout/IconLeafLabelList"/>
    <dgm:cxn modelId="{43984C33-5BFD-40BD-A3EB-07581F5E8347}" type="presParOf" srcId="{D378ADA0-02C8-456E-9F17-C9C53D7B7F25}" destId="{83F37FB3-6D0E-4013-85A0-D22894F9BE71}" srcOrd="2" destOrd="0" presId="urn:microsoft.com/office/officeart/2018/5/layout/IconLeafLabelList"/>
    <dgm:cxn modelId="{EF98F7F4-76AF-4248-BF21-4C95C59F68E8}" type="presParOf" srcId="{D378ADA0-02C8-456E-9F17-C9C53D7B7F25}" destId="{124DF191-A132-4D0F-A0A5-1B56A96489DA}" srcOrd="3" destOrd="0" presId="urn:microsoft.com/office/officeart/2018/5/layout/IconLeafLabelList"/>
    <dgm:cxn modelId="{A030FBB4-8E68-4926-AA70-DDE6F4F595A4}" type="presParOf" srcId="{858A4E80-EE9F-4BCB-ACB1-D27FA0A861FB}" destId="{E886E54B-A5EF-4A49-A480-A03F8D9F70FA}" srcOrd="1" destOrd="0" presId="urn:microsoft.com/office/officeart/2018/5/layout/IconLeafLabelList"/>
    <dgm:cxn modelId="{D573F11D-1FA3-426B-8799-B089FC32B5D3}" type="presParOf" srcId="{858A4E80-EE9F-4BCB-ACB1-D27FA0A861FB}" destId="{520E350A-D257-4ADB-8BFF-77B2E0BE5855}" srcOrd="2" destOrd="0" presId="urn:microsoft.com/office/officeart/2018/5/layout/IconLeafLabelList"/>
    <dgm:cxn modelId="{E49F9D0E-F58E-4151-BDB4-42A48B5939B4}" type="presParOf" srcId="{520E350A-D257-4ADB-8BFF-77B2E0BE5855}" destId="{22D8D686-2FF0-47BB-AB58-413F294B8E53}" srcOrd="0" destOrd="0" presId="urn:microsoft.com/office/officeart/2018/5/layout/IconLeafLabelList"/>
    <dgm:cxn modelId="{CEA31253-01B4-477F-84F9-26FD549F9B53}" type="presParOf" srcId="{520E350A-D257-4ADB-8BFF-77B2E0BE5855}" destId="{DCEA1F97-A658-474B-AA17-C8F9AA38445B}" srcOrd="1" destOrd="0" presId="urn:microsoft.com/office/officeart/2018/5/layout/IconLeafLabelList"/>
    <dgm:cxn modelId="{48805FA7-0690-49F6-9AD8-85EED5BFF5EC}" type="presParOf" srcId="{520E350A-D257-4ADB-8BFF-77B2E0BE5855}" destId="{49893188-32EA-4A6D-893F-7AD90B5BC10F}" srcOrd="2" destOrd="0" presId="urn:microsoft.com/office/officeart/2018/5/layout/IconLeafLabelList"/>
    <dgm:cxn modelId="{A173C102-CE0B-4DEE-98CE-7DCD74481889}" type="presParOf" srcId="{520E350A-D257-4ADB-8BFF-77B2E0BE5855}" destId="{9D16995C-4476-4FF4-BFA1-FD89DBA0B335}" srcOrd="3" destOrd="0" presId="urn:microsoft.com/office/officeart/2018/5/layout/IconLeafLabelList"/>
    <dgm:cxn modelId="{4A4F91C0-CDF4-437D-8DDB-BBD8E2B6073A}" type="presParOf" srcId="{858A4E80-EE9F-4BCB-ACB1-D27FA0A861FB}" destId="{2B34026F-2822-475D-AA9D-6F11EF2C81C9}" srcOrd="3" destOrd="0" presId="urn:microsoft.com/office/officeart/2018/5/layout/IconLeafLabelList"/>
    <dgm:cxn modelId="{8DC5EBB8-1EA4-4ADE-89AA-F2CE10A6B69C}" type="presParOf" srcId="{858A4E80-EE9F-4BCB-ACB1-D27FA0A861FB}" destId="{D36FFBCE-8D7F-4DC7-B5E6-A676F61A36A3}" srcOrd="4" destOrd="0" presId="urn:microsoft.com/office/officeart/2018/5/layout/IconLeafLabelList"/>
    <dgm:cxn modelId="{DCFA11F2-68A0-41A5-B223-35D39C9F3C81}" type="presParOf" srcId="{D36FFBCE-8D7F-4DC7-B5E6-A676F61A36A3}" destId="{547E5522-A14F-4C74-8E24-2A2EDF64BF0C}" srcOrd="0" destOrd="0" presId="urn:microsoft.com/office/officeart/2018/5/layout/IconLeafLabelList"/>
    <dgm:cxn modelId="{75D2E1B3-4453-45DF-B070-C22A25E848F3}" type="presParOf" srcId="{D36FFBCE-8D7F-4DC7-B5E6-A676F61A36A3}" destId="{63AF88B4-ADFE-43CF-A756-E61453B00E26}" srcOrd="1" destOrd="0" presId="urn:microsoft.com/office/officeart/2018/5/layout/IconLeafLabelList"/>
    <dgm:cxn modelId="{A99F766A-D91F-435A-B1BD-1051237937AA}" type="presParOf" srcId="{D36FFBCE-8D7F-4DC7-B5E6-A676F61A36A3}" destId="{9F50CD26-088F-4661-83DF-9C8A20E91C54}" srcOrd="2" destOrd="0" presId="urn:microsoft.com/office/officeart/2018/5/layout/IconLeafLabelList"/>
    <dgm:cxn modelId="{AC466F91-D356-41FC-983C-4959B8EB0381}" type="presParOf" srcId="{D36FFBCE-8D7F-4DC7-B5E6-A676F61A36A3}" destId="{F4C58B63-9A30-4F80-9502-FF00E8197674}" srcOrd="3" destOrd="0" presId="urn:microsoft.com/office/officeart/2018/5/layout/IconLeafLabel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38D4073-3B07-43E7-AC0C-E44CE19C0541}"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5B8CB2BD-DA13-476A-9121-D83FBC108E0D}">
      <dgm:prSet/>
      <dgm:spPr/>
      <dgm:t>
        <a:bodyPr/>
        <a:lstStyle/>
        <a:p>
          <a:r>
            <a:rPr lang="en-US" dirty="0"/>
            <a:t>Model </a:t>
          </a:r>
          <a:r>
            <a:rPr lang="en-US" b="1" dirty="0"/>
            <a:t>Tenancy Act</a:t>
          </a:r>
          <a:r>
            <a:rPr lang="en-US" dirty="0"/>
            <a:t> introduced</a:t>
          </a:r>
        </a:p>
      </dgm:t>
    </dgm:pt>
    <dgm:pt modelId="{C0A70D59-DCF5-4361-A057-2303B61BEEE7}" type="parTrans" cxnId="{FCFB4ACE-220B-4DDC-9FDF-0E65144CF894}">
      <dgm:prSet/>
      <dgm:spPr/>
      <dgm:t>
        <a:bodyPr/>
        <a:lstStyle/>
        <a:p>
          <a:endParaRPr lang="en-US"/>
        </a:p>
      </dgm:t>
    </dgm:pt>
    <dgm:pt modelId="{E309D035-8BA9-4B9D-B82D-91EC4E52CA3B}" type="sibTrans" cxnId="{FCFB4ACE-220B-4DDC-9FDF-0E65144CF894}">
      <dgm:prSet/>
      <dgm:spPr/>
      <dgm:t>
        <a:bodyPr/>
        <a:lstStyle/>
        <a:p>
          <a:endParaRPr lang="en-US"/>
        </a:p>
      </dgm:t>
    </dgm:pt>
    <dgm:pt modelId="{00468141-8143-48A5-AFAB-6794595F8405}">
      <dgm:prSet/>
      <dgm:spPr/>
      <dgm:t>
        <a:bodyPr/>
        <a:lstStyle/>
        <a:p>
          <a:r>
            <a:rPr lang="en-US"/>
            <a:t>Aims to:</a:t>
          </a:r>
        </a:p>
      </dgm:t>
    </dgm:pt>
    <dgm:pt modelId="{DC46A5B5-A749-48BE-9DF3-6C5FCA074F57}" type="parTrans" cxnId="{870E4454-4760-4E75-A22F-B17D451AB017}">
      <dgm:prSet/>
      <dgm:spPr/>
      <dgm:t>
        <a:bodyPr/>
        <a:lstStyle/>
        <a:p>
          <a:endParaRPr lang="en-US"/>
        </a:p>
      </dgm:t>
    </dgm:pt>
    <dgm:pt modelId="{68B0313E-8C99-459A-B66C-301E64FB77A6}" type="sibTrans" cxnId="{870E4454-4760-4E75-A22F-B17D451AB017}">
      <dgm:prSet/>
      <dgm:spPr/>
      <dgm:t>
        <a:bodyPr/>
        <a:lstStyle/>
        <a:p>
          <a:endParaRPr lang="en-US"/>
        </a:p>
      </dgm:t>
    </dgm:pt>
    <dgm:pt modelId="{6ECA5B1F-D6C5-4C94-BD8C-35B6DA90805E}">
      <dgm:prSet/>
      <dgm:spPr/>
      <dgm:t>
        <a:bodyPr/>
        <a:lstStyle/>
        <a:p>
          <a:r>
            <a:rPr lang="en-US"/>
            <a:t>Balance landlord-tenant rights</a:t>
          </a:r>
        </a:p>
      </dgm:t>
    </dgm:pt>
    <dgm:pt modelId="{761EB010-3153-4C5D-8EF5-EBE0DC164B48}" type="parTrans" cxnId="{7FBBF280-3B60-4A8C-BBC2-BE8A5BB851A1}">
      <dgm:prSet/>
      <dgm:spPr/>
      <dgm:t>
        <a:bodyPr/>
        <a:lstStyle/>
        <a:p>
          <a:endParaRPr lang="en-US"/>
        </a:p>
      </dgm:t>
    </dgm:pt>
    <dgm:pt modelId="{7F168D5C-5727-4EAD-9D8E-864CA0D7D853}" type="sibTrans" cxnId="{7FBBF280-3B60-4A8C-BBC2-BE8A5BB851A1}">
      <dgm:prSet/>
      <dgm:spPr/>
      <dgm:t>
        <a:bodyPr/>
        <a:lstStyle/>
        <a:p>
          <a:endParaRPr lang="en-US"/>
        </a:p>
      </dgm:t>
    </dgm:pt>
    <dgm:pt modelId="{F8A73299-56EB-4693-BA1B-AAFFF744756E}">
      <dgm:prSet/>
      <dgm:spPr/>
      <dgm:t>
        <a:bodyPr/>
        <a:lstStyle/>
        <a:p>
          <a:r>
            <a:rPr lang="en-US"/>
            <a:t>Promote private rental markets</a:t>
          </a:r>
        </a:p>
      </dgm:t>
    </dgm:pt>
    <dgm:pt modelId="{72A690BF-E5EC-4999-B0F1-A9777C4DB6E0}" type="parTrans" cxnId="{1784FE15-774F-4CDE-B96D-5BF6BD532C86}">
      <dgm:prSet/>
      <dgm:spPr/>
      <dgm:t>
        <a:bodyPr/>
        <a:lstStyle/>
        <a:p>
          <a:endParaRPr lang="en-US"/>
        </a:p>
      </dgm:t>
    </dgm:pt>
    <dgm:pt modelId="{E669A01C-B118-4318-85C8-BC82D8A9DFCC}" type="sibTrans" cxnId="{1784FE15-774F-4CDE-B96D-5BF6BD532C86}">
      <dgm:prSet/>
      <dgm:spPr/>
      <dgm:t>
        <a:bodyPr/>
        <a:lstStyle/>
        <a:p>
          <a:endParaRPr lang="en-US"/>
        </a:p>
      </dgm:t>
    </dgm:pt>
    <dgm:pt modelId="{5146585B-9D5C-40F0-9E8A-2E2F7C34937E}">
      <dgm:prSet/>
      <dgm:spPr/>
      <dgm:t>
        <a:bodyPr/>
        <a:lstStyle/>
        <a:p>
          <a:r>
            <a:rPr lang="en-US" b="1" dirty="0"/>
            <a:t>Adoption by states remains low</a:t>
          </a:r>
          <a:endParaRPr lang="en-US" dirty="0"/>
        </a:p>
      </dgm:t>
    </dgm:pt>
    <dgm:pt modelId="{D6EB9B16-F0C4-4971-9C01-8E9317CA50A4}" type="parTrans" cxnId="{138E5A3E-F123-4812-9E7D-EDDF184925F5}">
      <dgm:prSet/>
      <dgm:spPr/>
      <dgm:t>
        <a:bodyPr/>
        <a:lstStyle/>
        <a:p>
          <a:endParaRPr lang="en-US"/>
        </a:p>
      </dgm:t>
    </dgm:pt>
    <dgm:pt modelId="{F252E3D4-943A-47DC-BAEC-B0D2D2384C97}" type="sibTrans" cxnId="{138E5A3E-F123-4812-9E7D-EDDF184925F5}">
      <dgm:prSet/>
      <dgm:spPr/>
      <dgm:t>
        <a:bodyPr/>
        <a:lstStyle/>
        <a:p>
          <a:endParaRPr lang="en-US"/>
        </a:p>
      </dgm:t>
    </dgm:pt>
    <dgm:pt modelId="{50932742-8F63-489A-A9EA-E4E8A9C192B7}" type="pres">
      <dgm:prSet presAssocID="{C38D4073-3B07-43E7-AC0C-E44CE19C0541}" presName="Name0" presStyleCnt="0">
        <dgm:presLayoutVars>
          <dgm:dir/>
          <dgm:animLvl val="lvl"/>
          <dgm:resizeHandles val="exact"/>
        </dgm:presLayoutVars>
      </dgm:prSet>
      <dgm:spPr/>
      <dgm:t>
        <a:bodyPr/>
        <a:lstStyle/>
        <a:p>
          <a:endParaRPr lang="en-US"/>
        </a:p>
      </dgm:t>
    </dgm:pt>
    <dgm:pt modelId="{8ED393C4-228B-4CC3-9E85-BB971B0B864E}" type="pres">
      <dgm:prSet presAssocID="{5B8CB2BD-DA13-476A-9121-D83FBC108E0D}" presName="linNode" presStyleCnt="0"/>
      <dgm:spPr/>
    </dgm:pt>
    <dgm:pt modelId="{47EF78BB-889C-44AE-A08A-73CE1CA30E46}" type="pres">
      <dgm:prSet presAssocID="{5B8CB2BD-DA13-476A-9121-D83FBC108E0D}" presName="parentText" presStyleLbl="node1" presStyleIdx="0" presStyleCnt="3" custScaleX="277778">
        <dgm:presLayoutVars>
          <dgm:chMax val="1"/>
          <dgm:bulletEnabled val="1"/>
        </dgm:presLayoutVars>
      </dgm:prSet>
      <dgm:spPr/>
      <dgm:t>
        <a:bodyPr/>
        <a:lstStyle/>
        <a:p>
          <a:endParaRPr lang="en-US"/>
        </a:p>
      </dgm:t>
    </dgm:pt>
    <dgm:pt modelId="{86F390F4-0B2D-43E0-AAA0-B1E5221FB55A}" type="pres">
      <dgm:prSet presAssocID="{E309D035-8BA9-4B9D-B82D-91EC4E52CA3B}" presName="sp" presStyleCnt="0"/>
      <dgm:spPr/>
    </dgm:pt>
    <dgm:pt modelId="{DBA989EB-A704-4EEE-821C-5C9D54549D93}" type="pres">
      <dgm:prSet presAssocID="{00468141-8143-48A5-AFAB-6794595F8405}" presName="linNode" presStyleCnt="0"/>
      <dgm:spPr/>
    </dgm:pt>
    <dgm:pt modelId="{7945194E-5127-4068-8E9C-8A8AD177DE17}" type="pres">
      <dgm:prSet presAssocID="{00468141-8143-48A5-AFAB-6794595F8405}" presName="parentText" presStyleLbl="node1" presStyleIdx="1" presStyleCnt="3">
        <dgm:presLayoutVars>
          <dgm:chMax val="1"/>
          <dgm:bulletEnabled val="1"/>
        </dgm:presLayoutVars>
      </dgm:prSet>
      <dgm:spPr/>
      <dgm:t>
        <a:bodyPr/>
        <a:lstStyle/>
        <a:p>
          <a:endParaRPr lang="en-US"/>
        </a:p>
      </dgm:t>
    </dgm:pt>
    <dgm:pt modelId="{99195A46-69CF-4EA6-9F0C-1980B445A342}" type="pres">
      <dgm:prSet presAssocID="{00468141-8143-48A5-AFAB-6794595F8405}" presName="descendantText" presStyleLbl="alignAccFollowNode1" presStyleIdx="0" presStyleCnt="1">
        <dgm:presLayoutVars>
          <dgm:bulletEnabled val="1"/>
        </dgm:presLayoutVars>
      </dgm:prSet>
      <dgm:spPr/>
      <dgm:t>
        <a:bodyPr/>
        <a:lstStyle/>
        <a:p>
          <a:endParaRPr lang="en-US"/>
        </a:p>
      </dgm:t>
    </dgm:pt>
    <dgm:pt modelId="{33C2CAE4-16DB-48DF-9B8E-FA767D699A35}" type="pres">
      <dgm:prSet presAssocID="{68B0313E-8C99-459A-B66C-301E64FB77A6}" presName="sp" presStyleCnt="0"/>
      <dgm:spPr/>
    </dgm:pt>
    <dgm:pt modelId="{68168D46-BE57-410F-A610-099257938DEA}" type="pres">
      <dgm:prSet presAssocID="{5146585B-9D5C-40F0-9E8A-2E2F7C34937E}" presName="linNode" presStyleCnt="0"/>
      <dgm:spPr/>
    </dgm:pt>
    <dgm:pt modelId="{710887D3-0C9E-496F-8B0C-2149759C9F32}" type="pres">
      <dgm:prSet presAssocID="{5146585B-9D5C-40F0-9E8A-2E2F7C34937E}" presName="parentText" presStyleLbl="node1" presStyleIdx="2" presStyleCnt="3" custScaleX="277778">
        <dgm:presLayoutVars>
          <dgm:chMax val="1"/>
          <dgm:bulletEnabled val="1"/>
        </dgm:presLayoutVars>
      </dgm:prSet>
      <dgm:spPr/>
      <dgm:t>
        <a:bodyPr/>
        <a:lstStyle/>
        <a:p>
          <a:endParaRPr lang="en-US"/>
        </a:p>
      </dgm:t>
    </dgm:pt>
  </dgm:ptLst>
  <dgm:cxnLst>
    <dgm:cxn modelId="{E0EAA83D-DF36-4C7E-B4F8-C292EAD692A7}" type="presOf" srcId="{C38D4073-3B07-43E7-AC0C-E44CE19C0541}" destId="{50932742-8F63-489A-A9EA-E4E8A9C192B7}" srcOrd="0" destOrd="0" presId="urn:microsoft.com/office/officeart/2005/8/layout/vList5"/>
    <dgm:cxn modelId="{9A494136-2137-4094-93B2-A0E53ADA522F}" type="presOf" srcId="{00468141-8143-48A5-AFAB-6794595F8405}" destId="{7945194E-5127-4068-8E9C-8A8AD177DE17}" srcOrd="0" destOrd="0" presId="urn:microsoft.com/office/officeart/2005/8/layout/vList5"/>
    <dgm:cxn modelId="{138E5A3E-F123-4812-9E7D-EDDF184925F5}" srcId="{C38D4073-3B07-43E7-AC0C-E44CE19C0541}" destId="{5146585B-9D5C-40F0-9E8A-2E2F7C34937E}" srcOrd="2" destOrd="0" parTransId="{D6EB9B16-F0C4-4971-9C01-8E9317CA50A4}" sibTransId="{F252E3D4-943A-47DC-BAEC-B0D2D2384C97}"/>
    <dgm:cxn modelId="{21A655F2-6E26-45B6-A96F-E3424E9E07EB}" type="presOf" srcId="{6ECA5B1F-D6C5-4C94-BD8C-35B6DA90805E}" destId="{99195A46-69CF-4EA6-9F0C-1980B445A342}" srcOrd="0" destOrd="0" presId="urn:microsoft.com/office/officeart/2005/8/layout/vList5"/>
    <dgm:cxn modelId="{7FBBF280-3B60-4A8C-BBC2-BE8A5BB851A1}" srcId="{00468141-8143-48A5-AFAB-6794595F8405}" destId="{6ECA5B1F-D6C5-4C94-BD8C-35B6DA90805E}" srcOrd="0" destOrd="0" parTransId="{761EB010-3153-4C5D-8EF5-EBE0DC164B48}" sibTransId="{7F168D5C-5727-4EAD-9D8E-864CA0D7D853}"/>
    <dgm:cxn modelId="{870E4454-4760-4E75-A22F-B17D451AB017}" srcId="{C38D4073-3B07-43E7-AC0C-E44CE19C0541}" destId="{00468141-8143-48A5-AFAB-6794595F8405}" srcOrd="1" destOrd="0" parTransId="{DC46A5B5-A749-48BE-9DF3-6C5FCA074F57}" sibTransId="{68B0313E-8C99-459A-B66C-301E64FB77A6}"/>
    <dgm:cxn modelId="{52C27124-11C0-4016-8F54-B1E7E627DF08}" type="presOf" srcId="{F8A73299-56EB-4693-BA1B-AAFFF744756E}" destId="{99195A46-69CF-4EA6-9F0C-1980B445A342}" srcOrd="0" destOrd="1" presId="urn:microsoft.com/office/officeart/2005/8/layout/vList5"/>
    <dgm:cxn modelId="{FCFB4ACE-220B-4DDC-9FDF-0E65144CF894}" srcId="{C38D4073-3B07-43E7-AC0C-E44CE19C0541}" destId="{5B8CB2BD-DA13-476A-9121-D83FBC108E0D}" srcOrd="0" destOrd="0" parTransId="{C0A70D59-DCF5-4361-A057-2303B61BEEE7}" sibTransId="{E309D035-8BA9-4B9D-B82D-91EC4E52CA3B}"/>
    <dgm:cxn modelId="{55133F34-9BF8-4777-975B-D2F32EAC46CA}" type="presOf" srcId="{5146585B-9D5C-40F0-9E8A-2E2F7C34937E}" destId="{710887D3-0C9E-496F-8B0C-2149759C9F32}" srcOrd="0" destOrd="0" presId="urn:microsoft.com/office/officeart/2005/8/layout/vList5"/>
    <dgm:cxn modelId="{1784FE15-774F-4CDE-B96D-5BF6BD532C86}" srcId="{00468141-8143-48A5-AFAB-6794595F8405}" destId="{F8A73299-56EB-4693-BA1B-AAFFF744756E}" srcOrd="1" destOrd="0" parTransId="{72A690BF-E5EC-4999-B0F1-A9777C4DB6E0}" sibTransId="{E669A01C-B118-4318-85C8-BC82D8A9DFCC}"/>
    <dgm:cxn modelId="{64F975F5-3F46-43F2-AAAC-33F13AC42D57}" type="presOf" srcId="{5B8CB2BD-DA13-476A-9121-D83FBC108E0D}" destId="{47EF78BB-889C-44AE-A08A-73CE1CA30E46}" srcOrd="0" destOrd="0" presId="urn:microsoft.com/office/officeart/2005/8/layout/vList5"/>
    <dgm:cxn modelId="{4E16D3CC-76D0-42E2-B49D-028B35298A29}" type="presParOf" srcId="{50932742-8F63-489A-A9EA-E4E8A9C192B7}" destId="{8ED393C4-228B-4CC3-9E85-BB971B0B864E}" srcOrd="0" destOrd="0" presId="urn:microsoft.com/office/officeart/2005/8/layout/vList5"/>
    <dgm:cxn modelId="{0A2264B2-3437-41BC-B579-F3769F2335EB}" type="presParOf" srcId="{8ED393C4-228B-4CC3-9E85-BB971B0B864E}" destId="{47EF78BB-889C-44AE-A08A-73CE1CA30E46}" srcOrd="0" destOrd="0" presId="urn:microsoft.com/office/officeart/2005/8/layout/vList5"/>
    <dgm:cxn modelId="{0A2A7B89-3172-4D7F-8589-988A805D23D1}" type="presParOf" srcId="{50932742-8F63-489A-A9EA-E4E8A9C192B7}" destId="{86F390F4-0B2D-43E0-AAA0-B1E5221FB55A}" srcOrd="1" destOrd="0" presId="urn:microsoft.com/office/officeart/2005/8/layout/vList5"/>
    <dgm:cxn modelId="{09323884-E6ED-4046-97B0-A17B733D9817}" type="presParOf" srcId="{50932742-8F63-489A-A9EA-E4E8A9C192B7}" destId="{DBA989EB-A704-4EEE-821C-5C9D54549D93}" srcOrd="2" destOrd="0" presId="urn:microsoft.com/office/officeart/2005/8/layout/vList5"/>
    <dgm:cxn modelId="{1514866E-1067-4DAB-9742-3E78050D0B6A}" type="presParOf" srcId="{DBA989EB-A704-4EEE-821C-5C9D54549D93}" destId="{7945194E-5127-4068-8E9C-8A8AD177DE17}" srcOrd="0" destOrd="0" presId="urn:microsoft.com/office/officeart/2005/8/layout/vList5"/>
    <dgm:cxn modelId="{C2EBD956-FCB9-43F8-AD74-4422E263CC41}" type="presParOf" srcId="{DBA989EB-A704-4EEE-821C-5C9D54549D93}" destId="{99195A46-69CF-4EA6-9F0C-1980B445A342}" srcOrd="1" destOrd="0" presId="urn:microsoft.com/office/officeart/2005/8/layout/vList5"/>
    <dgm:cxn modelId="{3DD5A9C5-4743-4B39-8913-CE9DD8AC4579}" type="presParOf" srcId="{50932742-8F63-489A-A9EA-E4E8A9C192B7}" destId="{33C2CAE4-16DB-48DF-9B8E-FA767D699A35}" srcOrd="3" destOrd="0" presId="urn:microsoft.com/office/officeart/2005/8/layout/vList5"/>
    <dgm:cxn modelId="{10064A91-0668-43B9-B719-DE2DFD6AA934}" type="presParOf" srcId="{50932742-8F63-489A-A9EA-E4E8A9C192B7}" destId="{68168D46-BE57-410F-A610-099257938DEA}" srcOrd="4" destOrd="0" presId="urn:microsoft.com/office/officeart/2005/8/layout/vList5"/>
    <dgm:cxn modelId="{E88E34C0-527D-4169-A064-A48FE6B0E9D6}" type="presParOf" srcId="{68168D46-BE57-410F-A610-099257938DEA}" destId="{710887D3-0C9E-496F-8B0C-2149759C9F32}" srcOrd="0"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9A0BFC-BC39-4D50-A2E9-ADA4B177E9B5}"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E923129-F81F-4585-8A11-7492A0C99669}">
      <dgm:prSet/>
      <dgm:spPr/>
      <dgm:t>
        <a:bodyPr/>
        <a:lstStyle/>
        <a:p>
          <a:r>
            <a:rPr lang="en-US"/>
            <a:t>Small, short-term, unsecured loans</a:t>
          </a:r>
        </a:p>
      </dgm:t>
    </dgm:pt>
    <dgm:pt modelId="{E5DA0845-BB2E-47B9-AA83-6573D5AFE505}" type="parTrans" cxnId="{54237E97-7675-437E-9F9C-0DA12FFA9D14}">
      <dgm:prSet/>
      <dgm:spPr/>
      <dgm:t>
        <a:bodyPr/>
        <a:lstStyle/>
        <a:p>
          <a:endParaRPr lang="en-US"/>
        </a:p>
      </dgm:t>
    </dgm:pt>
    <dgm:pt modelId="{B24AFA51-D7A4-445F-9D4F-B8119A168B2C}" type="sibTrans" cxnId="{54237E97-7675-437E-9F9C-0DA12FFA9D14}">
      <dgm:prSet/>
      <dgm:spPr/>
      <dgm:t>
        <a:bodyPr/>
        <a:lstStyle/>
        <a:p>
          <a:endParaRPr lang="en-US"/>
        </a:p>
      </dgm:t>
    </dgm:pt>
    <dgm:pt modelId="{354CCC8C-9E66-4CEC-9F77-B941EB20D638}">
      <dgm:prSet/>
      <dgm:spPr/>
      <dgm:t>
        <a:bodyPr/>
        <a:lstStyle/>
        <a:p>
          <a:r>
            <a:rPr lang="en-US"/>
            <a:t>Flexible repayments (daily/weekly)</a:t>
          </a:r>
        </a:p>
      </dgm:t>
    </dgm:pt>
    <dgm:pt modelId="{E0275477-1539-4B17-936C-C4837AB5BE15}" type="parTrans" cxnId="{323D89CC-EC2D-4C84-8B81-99BDC8933741}">
      <dgm:prSet/>
      <dgm:spPr/>
      <dgm:t>
        <a:bodyPr/>
        <a:lstStyle/>
        <a:p>
          <a:endParaRPr lang="en-US"/>
        </a:p>
      </dgm:t>
    </dgm:pt>
    <dgm:pt modelId="{54100FF6-2435-465D-A34C-7BE3FF992213}" type="sibTrans" cxnId="{323D89CC-EC2D-4C84-8B81-99BDC8933741}">
      <dgm:prSet/>
      <dgm:spPr/>
      <dgm:t>
        <a:bodyPr/>
        <a:lstStyle/>
        <a:p>
          <a:endParaRPr lang="en-US"/>
        </a:p>
      </dgm:t>
    </dgm:pt>
    <dgm:pt modelId="{A92F8797-B138-4B02-88AA-9A2BC2AACED9}">
      <dgm:prSet/>
      <dgm:spPr/>
      <dgm:t>
        <a:bodyPr/>
        <a:lstStyle/>
        <a:p>
          <a:r>
            <a:rPr lang="en-US"/>
            <a:t>High interest rates</a:t>
          </a:r>
        </a:p>
      </dgm:t>
    </dgm:pt>
    <dgm:pt modelId="{5747A723-BFE9-4DE6-9363-42E95ED87B46}" type="parTrans" cxnId="{DEDFD060-1DAD-48A5-8846-AD8C2A8BA55B}">
      <dgm:prSet/>
      <dgm:spPr/>
      <dgm:t>
        <a:bodyPr/>
        <a:lstStyle/>
        <a:p>
          <a:endParaRPr lang="en-US"/>
        </a:p>
      </dgm:t>
    </dgm:pt>
    <dgm:pt modelId="{B95779F9-C3DD-44F3-BD6C-F5CDF8EEB40D}" type="sibTrans" cxnId="{DEDFD060-1DAD-48A5-8846-AD8C2A8BA55B}">
      <dgm:prSet/>
      <dgm:spPr/>
      <dgm:t>
        <a:bodyPr/>
        <a:lstStyle/>
        <a:p>
          <a:endParaRPr lang="en-US"/>
        </a:p>
      </dgm:t>
    </dgm:pt>
    <dgm:pt modelId="{DE4EBF55-4AA0-4958-860F-EF1485450BD8}">
      <dgm:prSet/>
      <dgm:spPr/>
      <dgm:t>
        <a:bodyPr/>
        <a:lstStyle/>
        <a:p>
          <a:r>
            <a:rPr lang="en-US"/>
            <a:t>High accessibility, especially for the unbanked</a:t>
          </a:r>
          <a:br>
            <a:rPr lang="en-US"/>
          </a:br>
          <a:endParaRPr lang="en-US"/>
        </a:p>
      </dgm:t>
    </dgm:pt>
    <dgm:pt modelId="{8742AA7B-BDA8-44F5-9BE1-081A4465FD9B}" type="parTrans" cxnId="{CE23E948-CE56-43F0-83B1-CDE5823A16E4}">
      <dgm:prSet/>
      <dgm:spPr/>
      <dgm:t>
        <a:bodyPr/>
        <a:lstStyle/>
        <a:p>
          <a:endParaRPr lang="en-US"/>
        </a:p>
      </dgm:t>
    </dgm:pt>
    <dgm:pt modelId="{68AD798A-457C-451F-9175-CFC056FBFD6D}" type="sibTrans" cxnId="{CE23E948-CE56-43F0-83B1-CDE5823A16E4}">
      <dgm:prSet/>
      <dgm:spPr/>
      <dgm:t>
        <a:bodyPr/>
        <a:lstStyle/>
        <a:p>
          <a:endParaRPr lang="en-US"/>
        </a:p>
      </dgm:t>
    </dgm:pt>
    <dgm:pt modelId="{7C042C3C-2725-4AFB-8AEC-6D360A277242}" type="pres">
      <dgm:prSet presAssocID="{199A0BFC-BC39-4D50-A2E9-ADA4B177E9B5}" presName="linear" presStyleCnt="0">
        <dgm:presLayoutVars>
          <dgm:animLvl val="lvl"/>
          <dgm:resizeHandles val="exact"/>
        </dgm:presLayoutVars>
      </dgm:prSet>
      <dgm:spPr/>
      <dgm:t>
        <a:bodyPr/>
        <a:lstStyle/>
        <a:p>
          <a:endParaRPr lang="en-US"/>
        </a:p>
      </dgm:t>
    </dgm:pt>
    <dgm:pt modelId="{A7E3CB44-7827-4822-8751-B8A4D4A1A89D}" type="pres">
      <dgm:prSet presAssocID="{EE923129-F81F-4585-8A11-7492A0C99669}" presName="parentText" presStyleLbl="node1" presStyleIdx="0" presStyleCnt="4">
        <dgm:presLayoutVars>
          <dgm:chMax val="0"/>
          <dgm:bulletEnabled val="1"/>
        </dgm:presLayoutVars>
      </dgm:prSet>
      <dgm:spPr/>
      <dgm:t>
        <a:bodyPr/>
        <a:lstStyle/>
        <a:p>
          <a:endParaRPr lang="en-US"/>
        </a:p>
      </dgm:t>
    </dgm:pt>
    <dgm:pt modelId="{0C27715F-3CA8-41CE-934E-5AB4549EC84D}" type="pres">
      <dgm:prSet presAssocID="{B24AFA51-D7A4-445F-9D4F-B8119A168B2C}" presName="spacer" presStyleCnt="0"/>
      <dgm:spPr/>
    </dgm:pt>
    <dgm:pt modelId="{85A4532A-8595-4A4A-A9A4-B90C5AC10900}" type="pres">
      <dgm:prSet presAssocID="{354CCC8C-9E66-4CEC-9F77-B941EB20D638}" presName="parentText" presStyleLbl="node1" presStyleIdx="1" presStyleCnt="4">
        <dgm:presLayoutVars>
          <dgm:chMax val="0"/>
          <dgm:bulletEnabled val="1"/>
        </dgm:presLayoutVars>
      </dgm:prSet>
      <dgm:spPr/>
      <dgm:t>
        <a:bodyPr/>
        <a:lstStyle/>
        <a:p>
          <a:endParaRPr lang="en-US"/>
        </a:p>
      </dgm:t>
    </dgm:pt>
    <dgm:pt modelId="{A0029098-6B32-4CAF-81C4-929A249DD1D1}" type="pres">
      <dgm:prSet presAssocID="{54100FF6-2435-465D-A34C-7BE3FF992213}" presName="spacer" presStyleCnt="0"/>
      <dgm:spPr/>
    </dgm:pt>
    <dgm:pt modelId="{6D23874E-4001-4CBF-B349-7826D112C217}" type="pres">
      <dgm:prSet presAssocID="{A92F8797-B138-4B02-88AA-9A2BC2AACED9}" presName="parentText" presStyleLbl="node1" presStyleIdx="2" presStyleCnt="4">
        <dgm:presLayoutVars>
          <dgm:chMax val="0"/>
          <dgm:bulletEnabled val="1"/>
        </dgm:presLayoutVars>
      </dgm:prSet>
      <dgm:spPr/>
      <dgm:t>
        <a:bodyPr/>
        <a:lstStyle/>
        <a:p>
          <a:endParaRPr lang="en-US"/>
        </a:p>
      </dgm:t>
    </dgm:pt>
    <dgm:pt modelId="{5BBD7904-EC89-4C37-A296-841421778058}" type="pres">
      <dgm:prSet presAssocID="{B95779F9-C3DD-44F3-BD6C-F5CDF8EEB40D}" presName="spacer" presStyleCnt="0"/>
      <dgm:spPr/>
    </dgm:pt>
    <dgm:pt modelId="{5962F46A-FC72-4CF2-B749-DF745A701725}" type="pres">
      <dgm:prSet presAssocID="{DE4EBF55-4AA0-4958-860F-EF1485450BD8}" presName="parentText" presStyleLbl="node1" presStyleIdx="3" presStyleCnt="4">
        <dgm:presLayoutVars>
          <dgm:chMax val="0"/>
          <dgm:bulletEnabled val="1"/>
        </dgm:presLayoutVars>
      </dgm:prSet>
      <dgm:spPr/>
      <dgm:t>
        <a:bodyPr/>
        <a:lstStyle/>
        <a:p>
          <a:endParaRPr lang="en-US"/>
        </a:p>
      </dgm:t>
    </dgm:pt>
  </dgm:ptLst>
  <dgm:cxnLst>
    <dgm:cxn modelId="{CE23E948-CE56-43F0-83B1-CDE5823A16E4}" srcId="{199A0BFC-BC39-4D50-A2E9-ADA4B177E9B5}" destId="{DE4EBF55-4AA0-4958-860F-EF1485450BD8}" srcOrd="3" destOrd="0" parTransId="{8742AA7B-BDA8-44F5-9BE1-081A4465FD9B}" sibTransId="{68AD798A-457C-451F-9175-CFC056FBFD6D}"/>
    <dgm:cxn modelId="{0801AD6E-4EE2-454D-8C8C-62E780918867}" type="presOf" srcId="{A92F8797-B138-4B02-88AA-9A2BC2AACED9}" destId="{6D23874E-4001-4CBF-B349-7826D112C217}" srcOrd="0" destOrd="0" presId="urn:microsoft.com/office/officeart/2005/8/layout/vList2"/>
    <dgm:cxn modelId="{DEDFD060-1DAD-48A5-8846-AD8C2A8BA55B}" srcId="{199A0BFC-BC39-4D50-A2E9-ADA4B177E9B5}" destId="{A92F8797-B138-4B02-88AA-9A2BC2AACED9}" srcOrd="2" destOrd="0" parTransId="{5747A723-BFE9-4DE6-9363-42E95ED87B46}" sibTransId="{B95779F9-C3DD-44F3-BD6C-F5CDF8EEB40D}"/>
    <dgm:cxn modelId="{7F2EACC7-BA23-4920-A81B-4B0ACBAE3B9B}" type="presOf" srcId="{DE4EBF55-4AA0-4958-860F-EF1485450BD8}" destId="{5962F46A-FC72-4CF2-B749-DF745A701725}" srcOrd="0" destOrd="0" presId="urn:microsoft.com/office/officeart/2005/8/layout/vList2"/>
    <dgm:cxn modelId="{54237E97-7675-437E-9F9C-0DA12FFA9D14}" srcId="{199A0BFC-BC39-4D50-A2E9-ADA4B177E9B5}" destId="{EE923129-F81F-4585-8A11-7492A0C99669}" srcOrd="0" destOrd="0" parTransId="{E5DA0845-BB2E-47B9-AA83-6573D5AFE505}" sibTransId="{B24AFA51-D7A4-445F-9D4F-B8119A168B2C}"/>
    <dgm:cxn modelId="{323D89CC-EC2D-4C84-8B81-99BDC8933741}" srcId="{199A0BFC-BC39-4D50-A2E9-ADA4B177E9B5}" destId="{354CCC8C-9E66-4CEC-9F77-B941EB20D638}" srcOrd="1" destOrd="0" parTransId="{E0275477-1539-4B17-936C-C4837AB5BE15}" sibTransId="{54100FF6-2435-465D-A34C-7BE3FF992213}"/>
    <dgm:cxn modelId="{F089F55F-21C8-4B26-B3B7-002AF385A3D6}" type="presOf" srcId="{354CCC8C-9E66-4CEC-9F77-B941EB20D638}" destId="{85A4532A-8595-4A4A-A9A4-B90C5AC10900}" srcOrd="0" destOrd="0" presId="urn:microsoft.com/office/officeart/2005/8/layout/vList2"/>
    <dgm:cxn modelId="{B004A531-59E6-4190-8785-5026187EA288}" type="presOf" srcId="{EE923129-F81F-4585-8A11-7492A0C99669}" destId="{A7E3CB44-7827-4822-8751-B8A4D4A1A89D}" srcOrd="0" destOrd="0" presId="urn:microsoft.com/office/officeart/2005/8/layout/vList2"/>
    <dgm:cxn modelId="{F3E47E16-4D4B-4480-BB0A-7A9D41C45EBB}" type="presOf" srcId="{199A0BFC-BC39-4D50-A2E9-ADA4B177E9B5}" destId="{7C042C3C-2725-4AFB-8AEC-6D360A277242}" srcOrd="0" destOrd="0" presId="urn:microsoft.com/office/officeart/2005/8/layout/vList2"/>
    <dgm:cxn modelId="{768671DF-F8A3-4EC2-B5E6-753F91A46CA5}" type="presParOf" srcId="{7C042C3C-2725-4AFB-8AEC-6D360A277242}" destId="{A7E3CB44-7827-4822-8751-B8A4D4A1A89D}" srcOrd="0" destOrd="0" presId="urn:microsoft.com/office/officeart/2005/8/layout/vList2"/>
    <dgm:cxn modelId="{15CF0685-A3D7-40E0-A208-702020B3A314}" type="presParOf" srcId="{7C042C3C-2725-4AFB-8AEC-6D360A277242}" destId="{0C27715F-3CA8-41CE-934E-5AB4549EC84D}" srcOrd="1" destOrd="0" presId="urn:microsoft.com/office/officeart/2005/8/layout/vList2"/>
    <dgm:cxn modelId="{35A4960C-B2EF-4FE2-AA39-65133DA35AD4}" type="presParOf" srcId="{7C042C3C-2725-4AFB-8AEC-6D360A277242}" destId="{85A4532A-8595-4A4A-A9A4-B90C5AC10900}" srcOrd="2" destOrd="0" presId="urn:microsoft.com/office/officeart/2005/8/layout/vList2"/>
    <dgm:cxn modelId="{04598F1A-F85A-45C1-B075-8D3D0437F897}" type="presParOf" srcId="{7C042C3C-2725-4AFB-8AEC-6D360A277242}" destId="{A0029098-6B32-4CAF-81C4-929A249DD1D1}" srcOrd="3" destOrd="0" presId="urn:microsoft.com/office/officeart/2005/8/layout/vList2"/>
    <dgm:cxn modelId="{43CFD765-DE1F-4D48-9F90-76E667B65041}" type="presParOf" srcId="{7C042C3C-2725-4AFB-8AEC-6D360A277242}" destId="{6D23874E-4001-4CBF-B349-7826D112C217}" srcOrd="4" destOrd="0" presId="urn:microsoft.com/office/officeart/2005/8/layout/vList2"/>
    <dgm:cxn modelId="{83BBE70A-5924-4F98-805D-A515F955D962}" type="presParOf" srcId="{7C042C3C-2725-4AFB-8AEC-6D360A277242}" destId="{5BBD7904-EC89-4C37-A296-841421778058}" srcOrd="5" destOrd="0" presId="urn:microsoft.com/office/officeart/2005/8/layout/vList2"/>
    <dgm:cxn modelId="{C4BA67C6-B789-414A-9A47-A77DA9A481C1}" type="presParOf" srcId="{7C042C3C-2725-4AFB-8AEC-6D360A277242}" destId="{5962F46A-FC72-4CF2-B749-DF745A701725}" srcOrd="6" destOrd="0" presId="urn:microsoft.com/office/officeart/2005/8/layout/vList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EF9C2C-2921-4D45-BC4D-A70FA2459BD3}">
      <dsp:nvSpPr>
        <dsp:cNvPr id="0" name=""/>
        <dsp:cNvSpPr/>
      </dsp:nvSpPr>
      <dsp:spPr>
        <a:xfrm>
          <a:off x="0" y="682"/>
          <a:ext cx="6245265" cy="15965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D72B6B-D406-4103-B25A-FB42EA2A361C}">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0935D7-FFC7-4193-B615-C84AA288CDFA}">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Securitization involves pooling loans and selling them as securities to investors.</a:t>
          </a:r>
        </a:p>
      </dsp:txBody>
      <dsp:txXfrm>
        <a:off x="1844034" y="682"/>
        <a:ext cx="4401230" cy="1596566"/>
      </dsp:txXfrm>
    </dsp:sp>
    <dsp:sp modelId="{D0CCB1B0-1D4D-4E79-87D5-6E88CE416C17}">
      <dsp:nvSpPr>
        <dsp:cNvPr id="0" name=""/>
        <dsp:cNvSpPr/>
      </dsp:nvSpPr>
      <dsp:spPr>
        <a:xfrm>
          <a:off x="0" y="1996390"/>
          <a:ext cx="6245265" cy="15965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C4F26E-1BB5-4516-AC59-FE41E46366A6}">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B8E419-E650-47A1-A445-E67770AD727D}">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Helps lenders free up capital and manage risks.</a:t>
          </a:r>
        </a:p>
      </dsp:txBody>
      <dsp:txXfrm>
        <a:off x="1844034" y="1996390"/>
        <a:ext cx="4401230" cy="1596566"/>
      </dsp:txXfrm>
    </dsp:sp>
    <dsp:sp modelId="{688745E3-CA67-4DBF-B935-6E43212FE7D1}">
      <dsp:nvSpPr>
        <dsp:cNvPr id="0" name=""/>
        <dsp:cNvSpPr/>
      </dsp:nvSpPr>
      <dsp:spPr>
        <a:xfrm>
          <a:off x="0" y="3992098"/>
          <a:ext cx="6245265" cy="15965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E2A7C2-63E8-436E-B682-7B9D85E74138}">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18B278-2F40-4AD8-9FDA-3856A478380E}">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022350">
            <a:lnSpc>
              <a:spcPct val="90000"/>
            </a:lnSpc>
            <a:spcBef>
              <a:spcPct val="0"/>
            </a:spcBef>
            <a:spcAft>
              <a:spcPct val="35000"/>
            </a:spcAft>
            <a:buNone/>
          </a:pPr>
          <a:r>
            <a:rPr lang="en-US" sz="2300" kern="1200"/>
            <a:t>Common in housing finance: Mortgage-Backed Securities (MBS)</a:t>
          </a:r>
        </a:p>
      </dsp:txBody>
      <dsp:txXfrm>
        <a:off x="1844034" y="3992098"/>
        <a:ext cx="4401230" cy="15965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6A7FB7-D858-4C71-936C-133C438DF65C}">
      <dsp:nvSpPr>
        <dsp:cNvPr id="0" name=""/>
        <dsp:cNvSpPr/>
      </dsp:nvSpPr>
      <dsp:spPr>
        <a:xfrm>
          <a:off x="0" y="3291729"/>
          <a:ext cx="6666833" cy="215973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a:t>Faced slow uptake due to:</a:t>
          </a:r>
        </a:p>
      </dsp:txBody>
      <dsp:txXfrm>
        <a:off x="0" y="3291729"/>
        <a:ext cx="6666833" cy="1166254"/>
      </dsp:txXfrm>
    </dsp:sp>
    <dsp:sp modelId="{69C02AF7-8309-4CE1-98D2-F0581F1B5A1F}">
      <dsp:nvSpPr>
        <dsp:cNvPr id="0" name=""/>
        <dsp:cNvSpPr/>
      </dsp:nvSpPr>
      <dsp:spPr>
        <a:xfrm>
          <a:off x="3255" y="4414789"/>
          <a:ext cx="2220107" cy="993476"/>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Low awareness</a:t>
          </a:r>
        </a:p>
      </dsp:txBody>
      <dsp:txXfrm>
        <a:off x="3255" y="4414789"/>
        <a:ext cx="2220107" cy="993476"/>
      </dsp:txXfrm>
    </dsp:sp>
    <dsp:sp modelId="{6629137C-26CD-4155-8BE1-E7AD39F32386}">
      <dsp:nvSpPr>
        <dsp:cNvPr id="0" name=""/>
        <dsp:cNvSpPr/>
      </dsp:nvSpPr>
      <dsp:spPr>
        <a:xfrm>
          <a:off x="2223362" y="4414789"/>
          <a:ext cx="2220107" cy="993476"/>
        </a:xfrm>
        <a:prstGeom prst="rect">
          <a:avLst/>
        </a:prstGeom>
        <a:solidFill>
          <a:schemeClr val="accent2">
            <a:tint val="40000"/>
            <a:alpha val="90000"/>
            <a:hueOff val="3367359"/>
            <a:satOff val="-31116"/>
            <a:lumOff val="-3508"/>
            <a:alphaOff val="0"/>
          </a:schemeClr>
        </a:solidFill>
        <a:ln w="12700" cap="flat" cmpd="sng" algn="ctr">
          <a:solidFill>
            <a:schemeClr val="accent2">
              <a:tint val="40000"/>
              <a:alpha val="90000"/>
              <a:hueOff val="3367359"/>
              <a:satOff val="-31116"/>
              <a:lumOff val="-35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Weak investor interest</a:t>
          </a:r>
        </a:p>
      </dsp:txBody>
      <dsp:txXfrm>
        <a:off x="2223362" y="4414789"/>
        <a:ext cx="2220107" cy="993476"/>
      </dsp:txXfrm>
    </dsp:sp>
    <dsp:sp modelId="{DBF654B8-29D1-4E73-AF3F-3BD646296C6F}">
      <dsp:nvSpPr>
        <dsp:cNvPr id="0" name=""/>
        <dsp:cNvSpPr/>
      </dsp:nvSpPr>
      <dsp:spPr>
        <a:xfrm>
          <a:off x="4443470" y="4414789"/>
          <a:ext cx="2220107" cy="993476"/>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Lack of regulatory clarity</a:t>
          </a:r>
        </a:p>
      </dsp:txBody>
      <dsp:txXfrm>
        <a:off x="4443470" y="4414789"/>
        <a:ext cx="2220107" cy="993476"/>
      </dsp:txXfrm>
    </dsp:sp>
    <dsp:sp modelId="{7DDED103-B31C-42D9-8DF2-58036BE310A0}">
      <dsp:nvSpPr>
        <dsp:cNvPr id="0" name=""/>
        <dsp:cNvSpPr/>
      </dsp:nvSpPr>
      <dsp:spPr>
        <a:xfrm rot="10800000">
          <a:off x="0" y="2459"/>
          <a:ext cx="6666833" cy="3321666"/>
        </a:xfrm>
        <a:prstGeom prst="upArrowCallou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marL="0" lvl="0" indent="0" algn="ctr" defTabSz="1822450">
            <a:lnSpc>
              <a:spcPct val="90000"/>
            </a:lnSpc>
            <a:spcBef>
              <a:spcPct val="0"/>
            </a:spcBef>
            <a:spcAft>
              <a:spcPct val="35000"/>
            </a:spcAft>
            <a:buNone/>
          </a:pPr>
          <a:r>
            <a:rPr lang="en-US" sz="4100" kern="1200"/>
            <a:t>First pilot MBS issued in </a:t>
          </a:r>
          <a:r>
            <a:rPr lang="en-US" sz="4100" b="1" kern="1200"/>
            <a:t>2000</a:t>
          </a:r>
          <a:endParaRPr lang="en-US" sz="4100" kern="1200"/>
        </a:p>
      </dsp:txBody>
      <dsp:txXfrm rot="10800000">
        <a:off x="0" y="2459"/>
        <a:ext cx="6666833" cy="21583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9A735-E344-4555-877F-6462185A02FB}">
      <dsp:nvSpPr>
        <dsp:cNvPr id="0" name=""/>
        <dsp:cNvSpPr/>
      </dsp:nvSpPr>
      <dsp:spPr>
        <a:xfrm>
          <a:off x="0" y="0"/>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AA56B02-4E0D-4706-B054-7A826973C8C1}">
      <dsp:nvSpPr>
        <dsp:cNvPr id="0" name=""/>
        <dsp:cNvSpPr/>
      </dsp:nvSpPr>
      <dsp:spPr>
        <a:xfrm>
          <a:off x="0" y="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No standard documentation</a:t>
          </a:r>
        </a:p>
      </dsp:txBody>
      <dsp:txXfrm>
        <a:off x="0" y="0"/>
        <a:ext cx="6666833" cy="1363480"/>
      </dsp:txXfrm>
    </dsp:sp>
    <dsp:sp modelId="{E4D692F8-C02B-4AC2-935B-E75FF219B665}">
      <dsp:nvSpPr>
        <dsp:cNvPr id="0" name=""/>
        <dsp:cNvSpPr/>
      </dsp:nvSpPr>
      <dsp:spPr>
        <a:xfrm>
          <a:off x="0" y="1363480"/>
          <a:ext cx="6666833"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2659A0E-A61C-4710-B067-5097E09A1EA7}">
      <dsp:nvSpPr>
        <dsp:cNvPr id="0" name=""/>
        <dsp:cNvSpPr/>
      </dsp:nvSpPr>
      <dsp:spPr>
        <a:xfrm>
          <a:off x="0" y="136348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High </a:t>
          </a:r>
          <a:r>
            <a:rPr lang="en-US" sz="2700" b="1" kern="1200"/>
            <a:t>stamp duties</a:t>
          </a:r>
          <a:r>
            <a:rPr lang="en-US" sz="2700" kern="1200"/>
            <a:t> on securitization deals</a:t>
          </a:r>
        </a:p>
      </dsp:txBody>
      <dsp:txXfrm>
        <a:off x="0" y="1363480"/>
        <a:ext cx="6666833" cy="1363480"/>
      </dsp:txXfrm>
    </dsp:sp>
    <dsp:sp modelId="{E726DFB3-CD26-4460-A251-BE2A7BC84E0A}">
      <dsp:nvSpPr>
        <dsp:cNvPr id="0" name=""/>
        <dsp:cNvSpPr/>
      </dsp:nvSpPr>
      <dsp:spPr>
        <a:xfrm>
          <a:off x="0" y="2726960"/>
          <a:ext cx="6666833"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96D1F0D-5466-48E5-A3FC-4957B54BDF07}">
      <dsp:nvSpPr>
        <dsp:cNvPr id="0" name=""/>
        <dsp:cNvSpPr/>
      </dsp:nvSpPr>
      <dsp:spPr>
        <a:xfrm>
          <a:off x="0" y="272696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Ambiguity in </a:t>
          </a:r>
          <a:r>
            <a:rPr lang="en-US" sz="2700" b="1" kern="1200"/>
            <a:t>tax treatment</a:t>
          </a:r>
          <a:endParaRPr lang="en-US" sz="2700" kern="1200"/>
        </a:p>
      </dsp:txBody>
      <dsp:txXfrm>
        <a:off x="0" y="2726960"/>
        <a:ext cx="6666833" cy="1363480"/>
      </dsp:txXfrm>
    </dsp:sp>
    <dsp:sp modelId="{A094CE9D-A802-4E35-A8D5-17250CD6512F}">
      <dsp:nvSpPr>
        <dsp:cNvPr id="0" name=""/>
        <dsp:cNvSpPr/>
      </dsp:nvSpPr>
      <dsp:spPr>
        <a:xfrm>
          <a:off x="0" y="4090440"/>
          <a:ext cx="6666833"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572CFD2-EC65-46CE-95CC-2B5EDB51ED59}">
      <dsp:nvSpPr>
        <dsp:cNvPr id="0" name=""/>
        <dsp:cNvSpPr/>
      </dsp:nvSpPr>
      <dsp:spPr>
        <a:xfrm>
          <a:off x="0" y="4090440"/>
          <a:ext cx="6666833"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MBS not explicitly recognized in securities laws</a:t>
          </a:r>
          <a:br>
            <a:rPr lang="en-US" sz="2700" kern="1200"/>
          </a:br>
          <a:endParaRPr lang="en-US" sz="2700" kern="1200"/>
        </a:p>
      </dsp:txBody>
      <dsp:txXfrm>
        <a:off x="0" y="4090440"/>
        <a:ext cx="6666833" cy="13634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379A48-60A4-42FA-BABC-7A81AB34268C}">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EBD460-0916-4FAB-946C-B645D6AE23B9}">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MBS investments by banks subject to </a:t>
          </a:r>
          <a:r>
            <a:rPr lang="en-US" sz="2700" b="1" kern="1200"/>
            <a:t>75–100% risk weighting</a:t>
          </a:r>
          <a:endParaRPr lang="en-US" sz="2700" kern="1200"/>
        </a:p>
      </dsp:txBody>
      <dsp:txXfrm>
        <a:off x="378614" y="886531"/>
        <a:ext cx="2810360" cy="1744948"/>
      </dsp:txXfrm>
    </dsp:sp>
    <dsp:sp modelId="{62817D09-D9CB-492D-B13B-47021B5B9F9D}">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9D712E-5031-42F3-8356-EFF170864C7B}">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Higher capital requirement discourages participation</a:t>
          </a:r>
        </a:p>
      </dsp:txBody>
      <dsp:txXfrm>
        <a:off x="3946203" y="886531"/>
        <a:ext cx="2810360" cy="1744948"/>
      </dsp:txXfrm>
    </dsp:sp>
    <dsp:sp modelId="{88C3C531-8640-4F26-B3A3-64CE629D886D}">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1CB38D-FF49-41C2-9540-20D6FE334DB6}">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t>Slows down securitization development</a:t>
          </a:r>
        </a:p>
      </dsp:txBody>
      <dsp:txXfrm>
        <a:off x="7513791" y="886531"/>
        <a:ext cx="2810360" cy="17449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800E3-7409-49B9-A8D4-064731B8E11E}">
      <dsp:nvSpPr>
        <dsp:cNvPr id="0" name=""/>
        <dsp:cNvSpPr/>
      </dsp:nvSpPr>
      <dsp:spPr>
        <a:xfrm>
          <a:off x="1963800" y="41228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163D03-F7BE-4EE2-9CF9-EDE964B5A79D}">
      <dsp:nvSpPr>
        <dsp:cNvPr id="0" name=""/>
        <dsp:cNvSpPr/>
      </dsp:nvSpPr>
      <dsp:spPr>
        <a:xfrm>
          <a:off x="559800" y="207593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b="1" kern="1200"/>
            <a:t>Social housing:</a:t>
          </a:r>
          <a:r>
            <a:rPr lang="en-US" sz="2300" kern="1200"/>
            <a:t> Aimed at urban poor &amp; informal workers</a:t>
          </a:r>
        </a:p>
      </dsp:txBody>
      <dsp:txXfrm>
        <a:off x="559800" y="2075931"/>
        <a:ext cx="4320000" cy="648000"/>
      </dsp:txXfrm>
    </dsp:sp>
    <dsp:sp modelId="{6DD0FC86-51DE-4165-8B93-D56C1B1FEAE8}">
      <dsp:nvSpPr>
        <dsp:cNvPr id="0" name=""/>
        <dsp:cNvSpPr/>
      </dsp:nvSpPr>
      <dsp:spPr>
        <a:xfrm>
          <a:off x="559800" y="2794467"/>
          <a:ext cx="4320000" cy="1144589"/>
        </a:xfrm>
        <a:prstGeom prst="rect">
          <a:avLst/>
        </a:prstGeom>
        <a:noFill/>
        <a:ln>
          <a:noFill/>
        </a:ln>
        <a:effectLst/>
      </dsp:spPr>
      <dsp:style>
        <a:lnRef idx="0">
          <a:scrgbClr r="0" g="0" b="0"/>
        </a:lnRef>
        <a:fillRef idx="0">
          <a:scrgbClr r="0" g="0" b="0"/>
        </a:fillRef>
        <a:effectRef idx="0">
          <a:scrgbClr r="0" g="0" b="0"/>
        </a:effectRef>
        <a:fontRef idx="minor"/>
      </dsp:style>
    </dsp:sp>
    <dsp:sp modelId="{A21D9143-2D8F-4C93-80D2-D97CD22AFFF8}">
      <dsp:nvSpPr>
        <dsp:cNvPr id="0" name=""/>
        <dsp:cNvSpPr/>
      </dsp:nvSpPr>
      <dsp:spPr>
        <a:xfrm>
          <a:off x="7039800" y="41228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2EBDDD-95B1-422D-9B2A-43C02D4D7145}">
      <dsp:nvSpPr>
        <dsp:cNvPr id="0" name=""/>
        <dsp:cNvSpPr/>
      </dsp:nvSpPr>
      <dsp:spPr>
        <a:xfrm>
          <a:off x="5635800" y="207593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US" sz="2300" kern="1200"/>
            <a:t>Challenges:</a:t>
          </a:r>
        </a:p>
      </dsp:txBody>
      <dsp:txXfrm>
        <a:off x="5635800" y="2075931"/>
        <a:ext cx="4320000" cy="648000"/>
      </dsp:txXfrm>
    </dsp:sp>
    <dsp:sp modelId="{976A6EEE-DB1F-449F-A0DF-05530FFC7C25}">
      <dsp:nvSpPr>
        <dsp:cNvPr id="0" name=""/>
        <dsp:cNvSpPr/>
      </dsp:nvSpPr>
      <dsp:spPr>
        <a:xfrm>
          <a:off x="5635800" y="2794467"/>
          <a:ext cx="4320000" cy="1144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Lack of formal income documentation</a:t>
          </a:r>
        </a:p>
        <a:p>
          <a:pPr marL="0" lvl="0" indent="0" algn="ctr" defTabSz="755650">
            <a:lnSpc>
              <a:spcPct val="90000"/>
            </a:lnSpc>
            <a:spcBef>
              <a:spcPct val="0"/>
            </a:spcBef>
            <a:spcAft>
              <a:spcPct val="35000"/>
            </a:spcAft>
            <a:buNone/>
          </a:pPr>
          <a:r>
            <a:rPr lang="en-US" sz="1700" kern="1200"/>
            <a:t>No collateral</a:t>
          </a:r>
        </a:p>
        <a:p>
          <a:pPr marL="0" lvl="0" indent="0" algn="ctr" defTabSz="755650">
            <a:lnSpc>
              <a:spcPct val="90000"/>
            </a:lnSpc>
            <a:spcBef>
              <a:spcPct val="0"/>
            </a:spcBef>
            <a:spcAft>
              <a:spcPct val="35000"/>
            </a:spcAft>
            <a:buNone/>
          </a:pPr>
          <a:r>
            <a:rPr lang="en-US" sz="1700" kern="1200"/>
            <a:t>Excluded from mainstream finance</a:t>
          </a:r>
          <a:br>
            <a:rPr lang="en-US" sz="1700" kern="1200"/>
          </a:br>
          <a:endParaRPr lang="en-US" sz="1700" kern="1200"/>
        </a:p>
      </dsp:txBody>
      <dsp:txXfrm>
        <a:off x="5635800" y="2794467"/>
        <a:ext cx="4320000" cy="11445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944C3-842C-4BB7-8ADC-F14A71EA5EC2}">
      <dsp:nvSpPr>
        <dsp:cNvPr id="0" name=""/>
        <dsp:cNvSpPr/>
      </dsp:nvSpPr>
      <dsp:spPr>
        <a:xfrm>
          <a:off x="679050" y="578168"/>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1DF08A-B825-41EC-8415-9FACD7062B8C}">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4DF191-A132-4D0F-A0A5-1B56A96489DA}">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Outdated legislation and low returns for landlords</a:t>
          </a:r>
        </a:p>
      </dsp:txBody>
      <dsp:txXfrm>
        <a:off x="75768" y="3053169"/>
        <a:ext cx="3093750" cy="720000"/>
      </dsp:txXfrm>
    </dsp:sp>
    <dsp:sp modelId="{22D8D686-2FF0-47BB-AB58-413F294B8E53}">
      <dsp:nvSpPr>
        <dsp:cNvPr id="0" name=""/>
        <dsp:cNvSpPr/>
      </dsp:nvSpPr>
      <dsp:spPr>
        <a:xfrm>
          <a:off x="4314206" y="578168"/>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EA1F97-A658-474B-AA17-C8F9AA38445B}">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16995C-4476-4FF4-BFA1-FD89DBA0B335}">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Lack of institutional rental housing options</a:t>
          </a:r>
        </a:p>
      </dsp:txBody>
      <dsp:txXfrm>
        <a:off x="3710925" y="3053169"/>
        <a:ext cx="3093750" cy="720000"/>
      </dsp:txXfrm>
    </dsp:sp>
    <dsp:sp modelId="{547E5522-A14F-4C74-8E24-2A2EDF64BF0C}">
      <dsp:nvSpPr>
        <dsp:cNvPr id="0" name=""/>
        <dsp:cNvSpPr/>
      </dsp:nvSpPr>
      <dsp:spPr>
        <a:xfrm>
          <a:off x="7949362" y="578168"/>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F88B4-ADFE-43CF-A756-E61453B00E26}">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C58B63-9A30-4F80-9502-FF00E8197674}">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kern="1200"/>
            <a:t>Migrants and low-income groups lack affordable rentals</a:t>
          </a:r>
          <a:br>
            <a:rPr lang="en-US" sz="1400" kern="1200"/>
          </a:br>
          <a:endParaRPr lang="en-US" sz="1400" kern="1200"/>
        </a:p>
      </dsp:txBody>
      <dsp:txXfrm>
        <a:off x="7346081" y="3053169"/>
        <a:ext cx="309375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F78BB-889C-44AE-A08A-73CE1CA30E46}">
      <dsp:nvSpPr>
        <dsp:cNvPr id="0" name=""/>
        <dsp:cNvSpPr/>
      </dsp:nvSpPr>
      <dsp:spPr>
        <a:xfrm>
          <a:off x="0" y="2124"/>
          <a:ext cx="10505339" cy="140228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104775" rIns="209550" bIns="104775" numCol="1" spcCol="1270" anchor="ctr" anchorCtr="0">
          <a:noAutofit/>
        </a:bodyPr>
        <a:lstStyle/>
        <a:p>
          <a:pPr marL="0" lvl="0" indent="0" algn="ctr" defTabSz="2444750">
            <a:lnSpc>
              <a:spcPct val="90000"/>
            </a:lnSpc>
            <a:spcBef>
              <a:spcPct val="0"/>
            </a:spcBef>
            <a:spcAft>
              <a:spcPct val="35000"/>
            </a:spcAft>
            <a:buNone/>
          </a:pPr>
          <a:r>
            <a:rPr lang="en-US" sz="5500" kern="1200" dirty="0"/>
            <a:t>Model </a:t>
          </a:r>
          <a:r>
            <a:rPr lang="en-US" sz="5500" b="1" kern="1200" dirty="0"/>
            <a:t>Tenancy Act</a:t>
          </a:r>
          <a:r>
            <a:rPr lang="en-US" sz="5500" kern="1200" dirty="0"/>
            <a:t> introduced</a:t>
          </a:r>
        </a:p>
      </dsp:txBody>
      <dsp:txXfrm>
        <a:off x="68454" y="70578"/>
        <a:ext cx="10368431" cy="1265378"/>
      </dsp:txXfrm>
    </dsp:sp>
    <dsp:sp modelId="{99195A46-69CF-4EA6-9F0C-1980B445A342}">
      <dsp:nvSpPr>
        <dsp:cNvPr id="0" name=""/>
        <dsp:cNvSpPr/>
      </dsp:nvSpPr>
      <dsp:spPr>
        <a:xfrm rot="5400000">
          <a:off x="6589693" y="-1189323"/>
          <a:ext cx="1121829" cy="6729984"/>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Balance landlord-tenant rights</a:t>
          </a:r>
        </a:p>
        <a:p>
          <a:pPr marL="285750" lvl="1" indent="-285750" algn="l" defTabSz="1289050">
            <a:lnSpc>
              <a:spcPct val="90000"/>
            </a:lnSpc>
            <a:spcBef>
              <a:spcPct val="0"/>
            </a:spcBef>
            <a:spcAft>
              <a:spcPct val="15000"/>
            </a:spcAft>
            <a:buChar char="•"/>
          </a:pPr>
          <a:r>
            <a:rPr lang="en-US" sz="2900" kern="1200"/>
            <a:t>Promote private rental markets</a:t>
          </a:r>
        </a:p>
      </dsp:txBody>
      <dsp:txXfrm rot="-5400000">
        <a:off x="3785616" y="1669517"/>
        <a:ext cx="6675221" cy="1012303"/>
      </dsp:txXfrm>
    </dsp:sp>
    <dsp:sp modelId="{7945194E-5127-4068-8E9C-8A8AD177DE17}">
      <dsp:nvSpPr>
        <dsp:cNvPr id="0" name=""/>
        <dsp:cNvSpPr/>
      </dsp:nvSpPr>
      <dsp:spPr>
        <a:xfrm>
          <a:off x="0" y="1474525"/>
          <a:ext cx="3785616" cy="140228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104775" rIns="209550" bIns="104775" numCol="1" spcCol="1270" anchor="ctr" anchorCtr="0">
          <a:noAutofit/>
        </a:bodyPr>
        <a:lstStyle/>
        <a:p>
          <a:pPr marL="0" lvl="0" indent="0" algn="ctr" defTabSz="2444750">
            <a:lnSpc>
              <a:spcPct val="90000"/>
            </a:lnSpc>
            <a:spcBef>
              <a:spcPct val="0"/>
            </a:spcBef>
            <a:spcAft>
              <a:spcPct val="35000"/>
            </a:spcAft>
            <a:buNone/>
          </a:pPr>
          <a:r>
            <a:rPr lang="en-US" sz="5500" kern="1200"/>
            <a:t>Aims to:</a:t>
          </a:r>
        </a:p>
      </dsp:txBody>
      <dsp:txXfrm>
        <a:off x="68454" y="1542979"/>
        <a:ext cx="3648708" cy="1265378"/>
      </dsp:txXfrm>
    </dsp:sp>
    <dsp:sp modelId="{710887D3-0C9E-496F-8B0C-2149759C9F32}">
      <dsp:nvSpPr>
        <dsp:cNvPr id="0" name=""/>
        <dsp:cNvSpPr/>
      </dsp:nvSpPr>
      <dsp:spPr>
        <a:xfrm>
          <a:off x="0" y="2946926"/>
          <a:ext cx="10505339" cy="140228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0" tIns="104775" rIns="209550" bIns="104775" numCol="1" spcCol="1270" anchor="ctr" anchorCtr="0">
          <a:noAutofit/>
        </a:bodyPr>
        <a:lstStyle/>
        <a:p>
          <a:pPr marL="0" lvl="0" indent="0" algn="ctr" defTabSz="2444750">
            <a:lnSpc>
              <a:spcPct val="90000"/>
            </a:lnSpc>
            <a:spcBef>
              <a:spcPct val="0"/>
            </a:spcBef>
            <a:spcAft>
              <a:spcPct val="35000"/>
            </a:spcAft>
            <a:buNone/>
          </a:pPr>
          <a:r>
            <a:rPr lang="en-US" sz="5500" b="1" kern="1200" dirty="0"/>
            <a:t>Adoption by states remains low</a:t>
          </a:r>
          <a:endParaRPr lang="en-US" sz="5500" kern="1200" dirty="0"/>
        </a:p>
      </dsp:txBody>
      <dsp:txXfrm>
        <a:off x="68454" y="3015380"/>
        <a:ext cx="10368431" cy="12653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E3CB44-7827-4822-8751-B8A4D4A1A89D}">
      <dsp:nvSpPr>
        <dsp:cNvPr id="0" name=""/>
        <dsp:cNvSpPr/>
      </dsp:nvSpPr>
      <dsp:spPr>
        <a:xfrm>
          <a:off x="0" y="813"/>
          <a:ext cx="6798539" cy="87837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Small, short-term, unsecured loans</a:t>
          </a:r>
        </a:p>
      </dsp:txBody>
      <dsp:txXfrm>
        <a:off x="42879" y="43692"/>
        <a:ext cx="6712781" cy="792619"/>
      </dsp:txXfrm>
    </dsp:sp>
    <dsp:sp modelId="{85A4532A-8595-4A4A-A9A4-B90C5AC10900}">
      <dsp:nvSpPr>
        <dsp:cNvPr id="0" name=""/>
        <dsp:cNvSpPr/>
      </dsp:nvSpPr>
      <dsp:spPr>
        <a:xfrm>
          <a:off x="0" y="942550"/>
          <a:ext cx="6798539" cy="878377"/>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Flexible repayments (daily/weekly)</a:t>
          </a:r>
        </a:p>
      </dsp:txBody>
      <dsp:txXfrm>
        <a:off x="42879" y="985429"/>
        <a:ext cx="6712781" cy="792619"/>
      </dsp:txXfrm>
    </dsp:sp>
    <dsp:sp modelId="{6D23874E-4001-4CBF-B349-7826D112C217}">
      <dsp:nvSpPr>
        <dsp:cNvPr id="0" name=""/>
        <dsp:cNvSpPr/>
      </dsp:nvSpPr>
      <dsp:spPr>
        <a:xfrm>
          <a:off x="0" y="1884288"/>
          <a:ext cx="6798539" cy="878377"/>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High interest rates</a:t>
          </a:r>
        </a:p>
      </dsp:txBody>
      <dsp:txXfrm>
        <a:off x="42879" y="1927167"/>
        <a:ext cx="6712781" cy="792619"/>
      </dsp:txXfrm>
    </dsp:sp>
    <dsp:sp modelId="{5962F46A-FC72-4CF2-B749-DF745A701725}">
      <dsp:nvSpPr>
        <dsp:cNvPr id="0" name=""/>
        <dsp:cNvSpPr/>
      </dsp:nvSpPr>
      <dsp:spPr>
        <a:xfrm>
          <a:off x="0" y="2826026"/>
          <a:ext cx="6798539" cy="878377"/>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High accessibility, especially for the unbanked</a:t>
          </a:r>
          <a:br>
            <a:rPr lang="en-US" sz="2200" kern="1200"/>
          </a:br>
          <a:endParaRPr lang="en-US" sz="2200" kern="1200"/>
        </a:p>
      </dsp:txBody>
      <dsp:txXfrm>
        <a:off x="42879" y="2868905"/>
        <a:ext cx="6712781" cy="79261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xmlns="">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1540D-B5A1-4B53-95BD-62090E8E0D4F}" type="datetimeFigureOut">
              <a:rPr lang="en-GB" smtClean="0"/>
              <a:pPr/>
              <a:t>07/10/2025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E357F-851E-47AA-A4CA-9692FC22F591}" type="slidenum">
              <a:rPr lang="en-GB" smtClean="0"/>
              <a:pPr/>
              <a:t>‹#›</a:t>
            </a:fld>
            <a:endParaRPr lang="en-GB"/>
          </a:p>
        </p:txBody>
      </p:sp>
    </p:spTree>
    <p:extLst>
      <p:ext uri="{BB962C8B-B14F-4D97-AF65-F5344CB8AC3E}">
        <p14:creationId xmlns:p14="http://schemas.microsoft.com/office/powerpoint/2010/main" xmlns="" val="3587203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Mortgage finance helps individuals purchase homes by using the home as collateral. This lecture shows how India’s mortgage sector evolved from a state-driven model to a competitive market-based system.</a:t>
            </a:r>
          </a:p>
          <a:p>
            <a:endParaRPr lang="en-GB" dirty="0"/>
          </a:p>
        </p:txBody>
      </p:sp>
      <p:sp>
        <p:nvSpPr>
          <p:cNvPr id="4" name="Slide Number Placeholder 3"/>
          <p:cNvSpPr>
            <a:spLocks noGrp="1"/>
          </p:cNvSpPr>
          <p:nvPr>
            <p:ph type="sldNum" sz="quarter" idx="5"/>
          </p:nvPr>
        </p:nvSpPr>
        <p:spPr/>
        <p:txBody>
          <a:bodyPr/>
          <a:lstStyle/>
          <a:p>
            <a:fld id="{860E357F-851E-47AA-A4CA-9692FC22F591}" type="slidenum">
              <a:rPr lang="en-GB" smtClean="0"/>
              <a:pPr/>
              <a:t>16</a:t>
            </a:fld>
            <a:endParaRPr lang="en-GB"/>
          </a:p>
        </p:txBody>
      </p:sp>
    </p:spTree>
    <p:extLst>
      <p:ext uri="{BB962C8B-B14F-4D97-AF65-F5344CB8AC3E}">
        <p14:creationId xmlns:p14="http://schemas.microsoft.com/office/powerpoint/2010/main" xmlns="" val="269858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0E357F-851E-47AA-A4CA-9692FC22F591}" type="slidenum">
              <a:rPr lang="en-GB" smtClean="0"/>
              <a:pPr/>
              <a:t>18</a:t>
            </a:fld>
            <a:endParaRPr lang="en-GB"/>
          </a:p>
        </p:txBody>
      </p:sp>
    </p:spTree>
    <p:extLst>
      <p:ext uri="{BB962C8B-B14F-4D97-AF65-F5344CB8AC3E}">
        <p14:creationId xmlns:p14="http://schemas.microsoft.com/office/powerpoint/2010/main" xmlns="" val="3458945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era laid the groundwork for collective housing models, which would later influence formal mortgage institutions.</a:t>
            </a:r>
            <a:endParaRPr lang="en-GB" dirty="0"/>
          </a:p>
        </p:txBody>
      </p:sp>
      <p:sp>
        <p:nvSpPr>
          <p:cNvPr id="4" name="Slide Number Placeholder 3"/>
          <p:cNvSpPr>
            <a:spLocks noGrp="1"/>
          </p:cNvSpPr>
          <p:nvPr>
            <p:ph type="sldNum" sz="quarter" idx="5"/>
          </p:nvPr>
        </p:nvSpPr>
        <p:spPr/>
        <p:txBody>
          <a:bodyPr/>
          <a:lstStyle/>
          <a:p>
            <a:fld id="{860E357F-851E-47AA-A4CA-9692FC22F591}" type="slidenum">
              <a:rPr lang="en-GB" smtClean="0"/>
              <a:pPr/>
              <a:t>19</a:t>
            </a:fld>
            <a:endParaRPr lang="en-GB"/>
          </a:p>
        </p:txBody>
      </p:sp>
    </p:spTree>
    <p:extLst>
      <p:ext uri="{BB962C8B-B14F-4D97-AF65-F5344CB8AC3E}">
        <p14:creationId xmlns:p14="http://schemas.microsoft.com/office/powerpoint/2010/main" xmlns="" val="23703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0E357F-851E-47AA-A4CA-9692FC22F591}" type="slidenum">
              <a:rPr lang="en-GB" smtClean="0"/>
              <a:pPr/>
              <a:t>25</a:t>
            </a:fld>
            <a:endParaRPr lang="en-GB"/>
          </a:p>
        </p:txBody>
      </p:sp>
    </p:spTree>
    <p:extLst>
      <p:ext uri="{BB962C8B-B14F-4D97-AF65-F5344CB8AC3E}">
        <p14:creationId xmlns:p14="http://schemas.microsoft.com/office/powerpoint/2010/main" xmlns="" val="3820483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361906-7C6A-0605-384F-4CE56ECDF0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8787915E-C795-7EEB-D7C8-31C048853C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A84ED3EC-C3D4-5DBF-CC50-B29F69B9E9C0}"/>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06D5BEC9-6661-0487-9628-14F9A819A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F972470-A864-7A58-29F7-B83EF3CA2F33}"/>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3757761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FC0740-EC7B-01BE-46A6-EEA617E598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666DE8D8-005F-8B18-3BE7-97F0DC19BB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C24F4012-FDAB-AD0A-F2D0-8B2E0F5EF56D}"/>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408979C3-7EA2-FD08-92E4-88FBB74B94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CB221E3B-260F-858A-CC49-74FC4EDD7C44}"/>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2676703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F4F77-F326-AC95-4A37-126B4FFBC4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FBA2F35-A434-B646-5DDE-4AE4C438F9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8803FF65-6D2C-53C0-458E-27289812FCA4}"/>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92175F5B-F3D6-1DBD-0F7C-EAC7A6585E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62017634-DD05-411F-9165-62F027449143}"/>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79047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7E3C04-64C2-D9EE-B581-FA592EB0848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2E2C0D4A-7247-2FA7-A686-2CD8554E25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8CF479E7-FE82-F639-6EA8-D36667528A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D7167520-6DB0-EE84-BA77-D724CF648103}"/>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6" name="Footer Placeholder 5">
            <a:extLst>
              <a:ext uri="{FF2B5EF4-FFF2-40B4-BE49-F238E27FC236}">
                <a16:creationId xmlns:a16="http://schemas.microsoft.com/office/drawing/2014/main" xmlns="" id="{17E1628B-4D4F-9C7B-35DA-768422877DF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F1716BB3-B871-7A92-7BF3-876E07DDBEB6}"/>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737217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F77AAE-F23F-189B-B6FB-2D099A3E46C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65DA6635-31C6-8FA3-5C3F-183FE39515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C4F330B-89B6-FA54-45E7-886349A7DC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6678BB20-FF57-3E5C-D892-E22ECB6EB4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B9DF589-7E7D-566B-15EA-27BD019947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E49E7A3D-9486-262C-3A21-DA5178A941FF}"/>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8" name="Footer Placeholder 7">
            <a:extLst>
              <a:ext uri="{FF2B5EF4-FFF2-40B4-BE49-F238E27FC236}">
                <a16:creationId xmlns:a16="http://schemas.microsoft.com/office/drawing/2014/main" xmlns="" id="{7B2A9D17-C4C3-7302-68A3-6F1A892271E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6FFFB90D-3987-AD31-4799-7DB360257EBC}"/>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2519209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30F5E0-E101-642D-2C10-42C38AB45F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265DA5D8-8B06-795E-F84C-64AE7A8012FD}"/>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4" name="Footer Placeholder 3">
            <a:extLst>
              <a:ext uri="{FF2B5EF4-FFF2-40B4-BE49-F238E27FC236}">
                <a16:creationId xmlns:a16="http://schemas.microsoft.com/office/drawing/2014/main" xmlns="" id="{EB421927-D595-4951-E93C-E3E35427B19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446D6877-7AA0-B4BB-8220-54CA3672785B}"/>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702944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7FE7929-23A6-B3D5-642F-2EDCE4C90CDB}"/>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3" name="Footer Placeholder 2">
            <a:extLst>
              <a:ext uri="{FF2B5EF4-FFF2-40B4-BE49-F238E27FC236}">
                <a16:creationId xmlns:a16="http://schemas.microsoft.com/office/drawing/2014/main" xmlns="" id="{7D433218-6878-86FB-3BAD-8CA757673B7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1CF381A7-6973-34C9-9535-686D55EC2E0C}"/>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427893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FB0386-08EF-547B-E4F1-1570F829E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E6B2F0D7-E443-8DCE-241A-781070F0C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F61EE43E-0E94-14D4-C1B2-32467E592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4083317-260A-09DC-3EAB-C1C22C6ABEA2}"/>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6" name="Footer Placeholder 5">
            <a:extLst>
              <a:ext uri="{FF2B5EF4-FFF2-40B4-BE49-F238E27FC236}">
                <a16:creationId xmlns:a16="http://schemas.microsoft.com/office/drawing/2014/main" xmlns="" id="{C368E038-474B-98BD-D0DC-DE071345E9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9D0E3009-641A-D68D-91C8-5DA45F3BF20A}"/>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2806966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60629A-46F8-5DCA-3AB6-F67044E77F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266E248D-4F4E-B008-C98F-063B4628B0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DBC664AB-6263-522E-D0B1-E123E7816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74830C3-2D28-8EBF-C739-5DB4E25259A8}"/>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6" name="Footer Placeholder 5">
            <a:extLst>
              <a:ext uri="{FF2B5EF4-FFF2-40B4-BE49-F238E27FC236}">
                <a16:creationId xmlns:a16="http://schemas.microsoft.com/office/drawing/2014/main" xmlns="" id="{98685018-FBD7-3807-2E95-7A57FDDEEB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010AEF12-EEB8-0072-98A7-6C828A1C09B7}"/>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1252811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348154-6777-C2A6-25AF-B6077E1377D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4986D281-9C80-564E-FC66-EC0FA4370F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1BC8D1F-D89E-5DE2-4907-76DE37DC0C8A}"/>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6FF674B5-1091-B2AB-E3FE-96C9D43029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1380C9D0-FF84-1F50-9BE4-9FEB1BCB7928}"/>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1219478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9AEE175-6916-ACD3-1687-89926C79CD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76263775-7874-4175-274B-F423B8F427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D5A5DAA-29A5-5BFE-2854-8AC653F7DEC0}"/>
              </a:ext>
            </a:extLst>
          </p:cNvPr>
          <p:cNvSpPr>
            <a:spLocks noGrp="1"/>
          </p:cNvSpPr>
          <p:nvPr>
            <p:ph type="dt" sz="half" idx="10"/>
          </p:nvPr>
        </p:nvSpPr>
        <p:spPr/>
        <p:txBody>
          <a:body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2433D1EA-486C-84B9-D5AF-13C9FD608A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77D7A78B-96DF-EFD2-BC47-BF7FD7162D48}"/>
              </a:ext>
            </a:extLst>
          </p:cNvPr>
          <p:cNvSpPr>
            <a:spLocks noGrp="1"/>
          </p:cNvSpPr>
          <p:nvPr>
            <p:ph type="sldNum" sz="quarter" idx="12"/>
          </p:nvPr>
        </p:nvSpPr>
        <p:spPr/>
        <p:txBody>
          <a:body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2781837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B3A3F48-F74F-A9A8-59EA-B0D156911E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42FD4CB0-E34F-0F7B-D536-7171F3479B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0786907-F4B8-0622-6DBD-3E26B42783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8822C1-55E7-414C-A6CF-70B0AB579C61}" type="datetimeFigureOut">
              <a:rPr lang="en-GB" smtClean="0"/>
              <a:pPr/>
              <a:t>07/10/2025</a:t>
            </a:fld>
            <a:endParaRPr lang="en-GB"/>
          </a:p>
        </p:txBody>
      </p:sp>
      <p:sp>
        <p:nvSpPr>
          <p:cNvPr id="5" name="Footer Placeholder 4">
            <a:extLst>
              <a:ext uri="{FF2B5EF4-FFF2-40B4-BE49-F238E27FC236}">
                <a16:creationId xmlns:a16="http://schemas.microsoft.com/office/drawing/2014/main" xmlns="" id="{91DC0350-6706-D60A-3518-7BC1A25723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ECAFE063-7C51-FE44-E332-6C180658C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AC39E-A2A3-40E8-87A3-0AE0AC65BCBF}" type="slidenum">
              <a:rPr lang="en-GB" smtClean="0"/>
              <a:pPr/>
              <a:t>‹#›</a:t>
            </a:fld>
            <a:endParaRPr lang="en-GB"/>
          </a:p>
        </p:txBody>
      </p:sp>
    </p:spTree>
    <p:extLst>
      <p:ext uri="{BB962C8B-B14F-4D97-AF65-F5344CB8AC3E}">
        <p14:creationId xmlns:p14="http://schemas.microsoft.com/office/powerpoint/2010/main" xmlns="" val="525420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Four wooden houses with different sizes">
            <a:extLst>
              <a:ext uri="{FF2B5EF4-FFF2-40B4-BE49-F238E27FC236}">
                <a16:creationId xmlns:a16="http://schemas.microsoft.com/office/drawing/2014/main" xmlns="" id="{5AEFD4C4-CCAD-E6E1-ACED-3C26F6D5BF84}"/>
              </a:ext>
            </a:extLst>
          </p:cNvPr>
          <p:cNvPicPr>
            <a:picLocks noChangeAspect="1"/>
          </p:cNvPicPr>
          <p:nvPr/>
        </p:nvPicPr>
        <p:blipFill>
          <a:blip r:embed="rId2">
            <a:alphaModFix/>
          </a:blip>
          <a:srcRect t="2110" b="13620"/>
          <a:stretch>
            <a:fillRect/>
          </a:stretch>
        </p:blipFill>
        <p:spPr>
          <a:xfrm>
            <a:off x="20" y="10"/>
            <a:ext cx="12191979" cy="6857990"/>
          </a:xfrm>
          <a:prstGeom prst="rect">
            <a:avLst/>
          </a:prstGeom>
        </p:spPr>
      </p:pic>
      <p:sp>
        <p:nvSpPr>
          <p:cNvPr id="9" name="Rectangle 8">
            <a:extLst>
              <a:ext uri="{FF2B5EF4-FFF2-40B4-BE49-F238E27FC236}">
                <a16:creationId xmlns:a16="http://schemas.microsoft.com/office/drawing/2014/main" xmlns="" id="{EB0222B5-B739-82A9-5CCC-C5585AE12A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080A76E-422A-F111-1E07-2C7E38561759}"/>
              </a:ext>
            </a:extLst>
          </p:cNvPr>
          <p:cNvSpPr>
            <a:spLocks noGrp="1"/>
          </p:cNvSpPr>
          <p:nvPr>
            <p:ph type="ctrTitle"/>
          </p:nvPr>
        </p:nvSpPr>
        <p:spPr>
          <a:xfrm>
            <a:off x="762000" y="1137434"/>
            <a:ext cx="7800660" cy="1520987"/>
          </a:xfrm>
        </p:spPr>
        <p:txBody>
          <a:bodyPr anchor="t">
            <a:normAutofit/>
          </a:bodyPr>
          <a:lstStyle/>
          <a:p>
            <a:pPr algn="l"/>
            <a:r>
              <a:rPr lang="en-US" sz="4000" dirty="0">
                <a:solidFill>
                  <a:srgbClr val="FFFFFF"/>
                </a:solidFill>
              </a:rPr>
              <a:t>Housing Finance</a:t>
            </a:r>
            <a:endParaRPr lang="en-GB" sz="4000" dirty="0">
              <a:solidFill>
                <a:srgbClr val="FFFFFF"/>
              </a:solidFill>
            </a:endParaRPr>
          </a:p>
        </p:txBody>
      </p:sp>
      <p:sp>
        <p:nvSpPr>
          <p:cNvPr id="11" name="Rectangle 10">
            <a:extLst>
              <a:ext uri="{FF2B5EF4-FFF2-40B4-BE49-F238E27FC236}">
                <a16:creationId xmlns:a16="http://schemas.microsoft.com/office/drawing/2014/main" xmlns="" id="{5BE23E75-E7E9-4D9F-6D25-5512363F862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xmlns="" id="{2D989A2B-E60F-70CE-720C-A0A50DB38406}"/>
              </a:ext>
            </a:extLst>
          </p:cNvPr>
          <p:cNvSpPr>
            <a:spLocks noGrp="1"/>
          </p:cNvSpPr>
          <p:nvPr>
            <p:ph type="subTitle" idx="1"/>
          </p:nvPr>
        </p:nvSpPr>
        <p:spPr>
          <a:xfrm>
            <a:off x="838200" y="4293441"/>
            <a:ext cx="6295332" cy="1588514"/>
          </a:xfrm>
        </p:spPr>
        <p:txBody>
          <a:bodyPr anchor="b">
            <a:normAutofit/>
          </a:bodyPr>
          <a:lstStyle/>
          <a:p>
            <a:pPr algn="l"/>
            <a:r>
              <a:rPr lang="en-US" sz="1800" dirty="0">
                <a:solidFill>
                  <a:srgbClr val="FFFFFF"/>
                </a:solidFill>
              </a:rPr>
              <a:t>Module 4</a:t>
            </a:r>
          </a:p>
          <a:p>
            <a:pPr algn="l"/>
            <a:r>
              <a:rPr lang="en-US" sz="1800" dirty="0">
                <a:solidFill>
                  <a:srgbClr val="FFFFFF"/>
                </a:solidFill>
              </a:rPr>
              <a:t>Ifra Fathima I</a:t>
            </a:r>
            <a:endParaRPr lang="en-GB" sz="1800" dirty="0">
              <a:solidFill>
                <a:srgbClr val="FFFFFF"/>
              </a:solidFill>
            </a:endParaRPr>
          </a:p>
        </p:txBody>
      </p:sp>
      <p:cxnSp>
        <p:nvCxnSpPr>
          <p:cNvPr id="13" name="Straight Connector 12">
            <a:extLst>
              <a:ext uri="{FF2B5EF4-FFF2-40B4-BE49-F238E27FC236}">
                <a16:creationId xmlns:a16="http://schemas.microsoft.com/office/drawing/2014/main" xmlns="" id="{61B115DB-65EB-3FC3-7284-CFDF4ADC60B6}"/>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73929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
            </a:r>
            <a:r>
              <a:rPr lang="en-US" dirty="0" smtClean="0"/>
              <a:t>efinition</a:t>
            </a:r>
            <a:endParaRPr lang="en-IN" dirty="0"/>
          </a:p>
        </p:txBody>
      </p:sp>
      <p:sp>
        <p:nvSpPr>
          <p:cNvPr id="3" name="Content Placeholder 2"/>
          <p:cNvSpPr>
            <a:spLocks noGrp="1"/>
          </p:cNvSpPr>
          <p:nvPr>
            <p:ph idx="1"/>
          </p:nvPr>
        </p:nvSpPr>
        <p:spPr/>
        <p:txBody>
          <a:bodyPr/>
          <a:lstStyle/>
          <a:p>
            <a:pPr algn="just"/>
            <a:r>
              <a:rPr lang="en-IN" dirty="0" smtClean="0"/>
              <a:t>Housing finance is a complex process that integrates multi-sector issues driven by constantly changing local features such as the country’s legal or cultural environment, economic makeup, political system, and regulatory framework.</a:t>
            </a:r>
            <a:endParaRPr lang="en-IN" dirty="0"/>
          </a:p>
        </p:txBody>
      </p:sp>
    </p:spTree>
    <p:extLst>
      <p:ext uri="{BB962C8B-B14F-4D97-AF65-F5344CB8AC3E}">
        <p14:creationId xmlns:p14="http://schemas.microsoft.com/office/powerpoint/2010/main" xmlns="" val="42918543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Key Discussion Points and Examples:</a:t>
            </a:r>
            <a:endParaRPr lang="en-IN" dirty="0"/>
          </a:p>
        </p:txBody>
      </p:sp>
      <p:sp>
        <p:nvSpPr>
          <p:cNvPr id="3" name="Content Placeholder 2"/>
          <p:cNvSpPr>
            <a:spLocks noGrp="1"/>
          </p:cNvSpPr>
          <p:nvPr>
            <p:ph idx="1"/>
          </p:nvPr>
        </p:nvSpPr>
        <p:spPr/>
        <p:txBody>
          <a:bodyPr>
            <a:normAutofit/>
          </a:bodyPr>
          <a:lstStyle/>
          <a:p>
            <a:pPr lvl="0"/>
            <a:r>
              <a:rPr lang="en-IN" b="1" dirty="0" smtClean="0"/>
              <a:t>Economic </a:t>
            </a:r>
            <a:r>
              <a:rPr lang="en-IN" b="1" dirty="0"/>
              <a:t>Linkages and Contribution to GDP:</a:t>
            </a:r>
            <a:r>
              <a:rPr lang="en-IN" dirty="0"/>
              <a:t> The housing sector is deeply intertwined with </a:t>
            </a:r>
            <a:r>
              <a:rPr lang="en-IN" b="1" dirty="0"/>
              <a:t>macroeconomic stability</a:t>
            </a:r>
            <a:r>
              <a:rPr lang="en-IN" dirty="0"/>
              <a:t>. It is the second largest employer in India, subsequent only to agriculture. The sources provide a clear measure of its impact: for every Indian rupee invested in housing, </a:t>
            </a:r>
            <a:r>
              <a:rPr lang="en-IN" b="1" dirty="0"/>
              <a:t>INR 0.78 is added to the country's Gross Domestic Product (GDP)</a:t>
            </a:r>
            <a:r>
              <a:rPr lang="en-IN" dirty="0"/>
              <a:t>. Furthermore, the sector has strong backward and forward linkages to over 250 ancillary industries.</a:t>
            </a:r>
            <a:endParaRPr lang="en-IN" sz="2400" dirty="0"/>
          </a:p>
          <a:p>
            <a:pPr marL="0" indent="0">
              <a:buNone/>
            </a:pPr>
            <a:endParaRPr lang="en-IN" dirty="0"/>
          </a:p>
        </p:txBody>
      </p:sp>
    </p:spTree>
    <p:extLst>
      <p:ext uri="{BB962C8B-B14F-4D97-AF65-F5344CB8AC3E}">
        <p14:creationId xmlns:p14="http://schemas.microsoft.com/office/powerpoint/2010/main" xmlns="" val="28148111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621" y="803186"/>
            <a:ext cx="10769699" cy="5248622"/>
          </a:xfrm>
        </p:spPr>
        <p:style>
          <a:lnRef idx="2">
            <a:schemeClr val="accent1"/>
          </a:lnRef>
          <a:fillRef idx="1">
            <a:schemeClr val="lt1"/>
          </a:fillRef>
          <a:effectRef idx="0">
            <a:schemeClr val="accent1"/>
          </a:effectRef>
          <a:fontRef idx="minor">
            <a:schemeClr val="dk1"/>
          </a:fontRef>
        </p:style>
        <p:txBody>
          <a:bodyPr>
            <a:normAutofit/>
          </a:bodyPr>
          <a:lstStyle/>
          <a:p>
            <a:pPr lvl="0"/>
            <a:r>
              <a:rPr lang="en-IN" sz="2000" b="1" dirty="0" smtClean="0"/>
              <a:t>Institutional Development and Apex Body:</a:t>
            </a:r>
            <a:r>
              <a:rPr lang="en-IN" sz="2000" dirty="0" smtClean="0"/>
              <a:t> The institutional framework has evolved significantly. </a:t>
            </a:r>
            <a:endParaRPr lang="en-IN" sz="2800" dirty="0" smtClean="0"/>
          </a:p>
          <a:p>
            <a:pPr lvl="1"/>
            <a:r>
              <a:rPr lang="en-IN" sz="1800" b="1" dirty="0" smtClean="0"/>
              <a:t>Early/Traditional Providers:</a:t>
            </a:r>
            <a:r>
              <a:rPr lang="en-IN" sz="1800" dirty="0" smtClean="0"/>
              <a:t> Historically, </a:t>
            </a:r>
            <a:r>
              <a:rPr lang="en-IN" sz="1800" b="1" dirty="0" smtClean="0"/>
              <a:t>Life Insurance Corporation (LIC)</a:t>
            </a:r>
            <a:r>
              <a:rPr lang="en-IN" sz="1800" dirty="0" smtClean="0"/>
              <a:t> provided housing loans to its policyholders.</a:t>
            </a:r>
            <a:endParaRPr lang="en-IN" sz="2400" dirty="0" smtClean="0"/>
          </a:p>
          <a:p>
            <a:pPr lvl="1"/>
            <a:r>
              <a:rPr lang="en-IN" sz="1800" b="1" dirty="0" smtClean="0"/>
              <a:t>Pioneering Institutions:</a:t>
            </a:r>
            <a:r>
              <a:rPr lang="en-IN" sz="1800" dirty="0" smtClean="0"/>
              <a:t> The </a:t>
            </a:r>
            <a:r>
              <a:rPr lang="en-IN" sz="1800" b="1" dirty="0" smtClean="0"/>
              <a:t>Housing and Urban Development Corporation (HUDCO)</a:t>
            </a:r>
            <a:r>
              <a:rPr lang="en-IN" sz="1800" dirty="0" smtClean="0"/>
              <a:t>, incorporated in 1970, was the first government-led initiative focusing on the social aspect of housing. This was followed by the </a:t>
            </a:r>
            <a:r>
              <a:rPr lang="en-IN" sz="1800" b="1" dirty="0" smtClean="0"/>
              <a:t>Housing Development Finance Corporation (HDFC)</a:t>
            </a:r>
            <a:r>
              <a:rPr lang="en-IN" sz="1800" dirty="0" smtClean="0"/>
              <a:t> in 1977, which was India's first retail housing finance company.</a:t>
            </a:r>
            <a:endParaRPr lang="en-IN" sz="2400" dirty="0" smtClean="0"/>
          </a:p>
          <a:p>
            <a:pPr lvl="1"/>
            <a:r>
              <a:rPr lang="en-IN" sz="1800" b="1" dirty="0" smtClean="0"/>
              <a:t>The Apex Bank:</a:t>
            </a:r>
            <a:r>
              <a:rPr lang="en-IN" sz="1800" dirty="0" smtClean="0"/>
              <a:t> A crucial step was the establishment of the </a:t>
            </a:r>
            <a:r>
              <a:rPr lang="en-IN" sz="1800" b="1" dirty="0" smtClean="0"/>
              <a:t>National Housing Bank (NHB)</a:t>
            </a:r>
            <a:r>
              <a:rPr lang="en-IN" sz="1800" dirty="0" smtClean="0"/>
              <a:t> in 1987, a wholly owned subsidiary of the Reserve Bank of India (RBI). The NHB is the apex bank responsible for promoting and developing specialized financial institutions and issuing guidelines to all institutions connected with housing.</a:t>
            </a:r>
            <a:endParaRPr lang="en-IN" sz="2400" dirty="0" smtClean="0"/>
          </a:p>
          <a:p>
            <a:endParaRPr lang="en-IN" dirty="0"/>
          </a:p>
        </p:txBody>
      </p:sp>
    </p:spTree>
    <p:extLst>
      <p:ext uri="{BB962C8B-B14F-4D97-AF65-F5344CB8AC3E}">
        <p14:creationId xmlns:p14="http://schemas.microsoft.com/office/powerpoint/2010/main" xmlns="" val="23045582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8069" y="803186"/>
            <a:ext cx="10822251" cy="5248622"/>
          </a:xfrm>
        </p:spPr>
        <p:style>
          <a:lnRef idx="2">
            <a:schemeClr val="accent1"/>
          </a:lnRef>
          <a:fillRef idx="1">
            <a:schemeClr val="lt1"/>
          </a:fillRef>
          <a:effectRef idx="0">
            <a:schemeClr val="accent1"/>
          </a:effectRef>
          <a:fontRef idx="minor">
            <a:schemeClr val="dk1"/>
          </a:fontRef>
        </p:style>
        <p:txBody>
          <a:bodyPr/>
          <a:lstStyle/>
          <a:p>
            <a:pPr lvl="0"/>
            <a:r>
              <a:rPr lang="en-IN" sz="2400" b="1" dirty="0" smtClean="0"/>
              <a:t>Policy Shift from Provider to Facilitator:</a:t>
            </a:r>
            <a:r>
              <a:rPr lang="en-IN" sz="2400" dirty="0" smtClean="0"/>
              <a:t> Historically, Indian governments viewed housing mainly from a social perspective, relying on subsidies. </a:t>
            </a:r>
            <a:endParaRPr lang="en-IN" sz="3200" dirty="0" smtClean="0"/>
          </a:p>
          <a:p>
            <a:pPr lvl="1"/>
            <a:r>
              <a:rPr lang="en-IN" sz="2000" b="1" dirty="0" smtClean="0"/>
              <a:t>Example of Policy Change:</a:t>
            </a:r>
            <a:r>
              <a:rPr lang="en-IN" sz="2000" dirty="0" smtClean="0"/>
              <a:t> The </a:t>
            </a:r>
            <a:r>
              <a:rPr lang="en-IN" sz="2000" b="1" dirty="0" smtClean="0"/>
              <a:t>Housing and Habitat Policy of 1998</a:t>
            </a:r>
            <a:r>
              <a:rPr lang="en-IN" sz="2000" dirty="0" smtClean="0"/>
              <a:t> marked a significant shift, recognizing that the government's role should change from a direct provider to a </a:t>
            </a:r>
            <a:r>
              <a:rPr lang="en-IN" sz="2000" b="1" dirty="0" smtClean="0"/>
              <a:t>facilitator</a:t>
            </a:r>
            <a:r>
              <a:rPr lang="en-IN" sz="2000" dirty="0" smtClean="0"/>
              <a:t>, thus encouraging private sector capital. This shift is reflected in the subsequent decline of housing’s proportion in total capital expenditure under Five-Year Plans.</a:t>
            </a:r>
            <a:endParaRPr lang="en-IN" sz="2800" dirty="0" smtClean="0"/>
          </a:p>
          <a:p>
            <a:pPr marL="0" indent="0">
              <a:buNone/>
            </a:pPr>
            <a:endParaRPr lang="en-IN" dirty="0"/>
          </a:p>
        </p:txBody>
      </p:sp>
    </p:spTree>
    <p:extLst>
      <p:ext uri="{BB962C8B-B14F-4D97-AF65-F5344CB8AC3E}">
        <p14:creationId xmlns:p14="http://schemas.microsoft.com/office/powerpoint/2010/main" xmlns="" val="28552004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Mechanics of Lending and Loan Risk Management</a:t>
            </a:r>
            <a:endParaRPr lang="en-IN" dirty="0"/>
          </a:p>
        </p:txBody>
      </p:sp>
      <p:sp>
        <p:nvSpPr>
          <p:cNvPr id="3" name="Content Placeholder 2"/>
          <p:cNvSpPr>
            <a:spLocks noGrp="1"/>
          </p:cNvSpPr>
          <p:nvPr>
            <p:ph idx="1"/>
          </p:nvPr>
        </p:nvSpPr>
        <p:spPr/>
        <p:txBody>
          <a:bodyPr>
            <a:normAutofit/>
          </a:bodyPr>
          <a:lstStyle/>
          <a:p>
            <a:pPr marL="0" indent="0">
              <a:buNone/>
            </a:pPr>
            <a:r>
              <a:rPr lang="en-IN" dirty="0" smtClean="0"/>
              <a:t>Understanding </a:t>
            </a:r>
            <a:r>
              <a:rPr lang="en-IN" dirty="0"/>
              <a:t>how the loan amount is determined and regulated is central to HF mechanics.</a:t>
            </a:r>
            <a:endParaRPr lang="en-IN" sz="2400" dirty="0"/>
          </a:p>
          <a:p>
            <a:pPr marL="0" lvl="0" indent="0">
              <a:buNone/>
            </a:pPr>
            <a:r>
              <a:rPr lang="en-IN" b="1" dirty="0" smtClean="0"/>
              <a:t>Factors </a:t>
            </a:r>
            <a:r>
              <a:rPr lang="en-IN" b="1" dirty="0"/>
              <a:t>Determining Loan Agreement:</a:t>
            </a:r>
            <a:r>
              <a:rPr lang="en-IN" dirty="0"/>
              <a:t> Several crucial factors are weighed by financiers: </a:t>
            </a:r>
            <a:endParaRPr lang="en-IN" sz="2400" dirty="0"/>
          </a:p>
          <a:p>
            <a:pPr lvl="1"/>
            <a:r>
              <a:rPr lang="en-IN" dirty="0"/>
              <a:t>The </a:t>
            </a:r>
            <a:r>
              <a:rPr lang="en-IN" b="1" dirty="0"/>
              <a:t>estimated property value</a:t>
            </a:r>
            <a:r>
              <a:rPr lang="en-IN" dirty="0"/>
              <a:t>.</a:t>
            </a:r>
            <a:endParaRPr lang="en-IN" sz="2000" dirty="0"/>
          </a:p>
          <a:p>
            <a:pPr lvl="1"/>
            <a:r>
              <a:rPr lang="en-IN" dirty="0"/>
              <a:t>Possession of </a:t>
            </a:r>
            <a:r>
              <a:rPr lang="en-IN" b="1" dirty="0"/>
              <a:t>clear title deeds</a:t>
            </a:r>
            <a:r>
              <a:rPr lang="en-IN" dirty="0"/>
              <a:t> by the applicant.</a:t>
            </a:r>
            <a:endParaRPr lang="en-IN" sz="2000" dirty="0"/>
          </a:p>
          <a:p>
            <a:pPr lvl="1"/>
            <a:r>
              <a:rPr lang="en-IN" dirty="0"/>
              <a:t>The borrower's </a:t>
            </a:r>
            <a:r>
              <a:rPr lang="en-IN" b="1" dirty="0"/>
              <a:t>source of income and earning capacity</a:t>
            </a:r>
            <a:r>
              <a:rPr lang="en-IN" dirty="0"/>
              <a:t>.</a:t>
            </a:r>
            <a:endParaRPr lang="en-IN" sz="2000" dirty="0"/>
          </a:p>
          <a:p>
            <a:pPr lvl="1"/>
            <a:r>
              <a:rPr lang="en-IN" dirty="0"/>
              <a:t>The existence of </a:t>
            </a:r>
            <a:r>
              <a:rPr lang="en-IN" b="1" dirty="0"/>
              <a:t>other unpaid loans</a:t>
            </a:r>
            <a:r>
              <a:rPr lang="en-IN" dirty="0"/>
              <a:t> at the time of application</a:t>
            </a:r>
            <a:r>
              <a:rPr lang="en-IN" dirty="0" smtClean="0"/>
              <a:t>.</a:t>
            </a:r>
            <a:endParaRPr lang="en-IN" sz="2000" dirty="0"/>
          </a:p>
        </p:txBody>
      </p:sp>
    </p:spTree>
    <p:extLst>
      <p:ext uri="{BB962C8B-B14F-4D97-AF65-F5344CB8AC3E}">
        <p14:creationId xmlns:p14="http://schemas.microsoft.com/office/powerpoint/2010/main" xmlns="" val="29091491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62153" y="210207"/>
            <a:ext cx="10738168" cy="6085489"/>
          </a:xfrm>
        </p:spPr>
        <p:style>
          <a:lnRef idx="2">
            <a:schemeClr val="accent1"/>
          </a:lnRef>
          <a:fillRef idx="1">
            <a:schemeClr val="lt1"/>
          </a:fillRef>
          <a:effectRef idx="0">
            <a:schemeClr val="accent1"/>
          </a:effectRef>
          <a:fontRef idx="minor">
            <a:schemeClr val="dk1"/>
          </a:fontRef>
        </p:style>
        <p:txBody>
          <a:bodyPr>
            <a:noAutofit/>
          </a:bodyPr>
          <a:lstStyle/>
          <a:p>
            <a:pPr lvl="0"/>
            <a:r>
              <a:rPr lang="en-IN" sz="2400" b="1" dirty="0" smtClean="0"/>
              <a:t>Repayment Method (EMI):</a:t>
            </a:r>
            <a:r>
              <a:rPr lang="en-IN" sz="2400" dirty="0" smtClean="0"/>
              <a:t> The most common method of repayment is the </a:t>
            </a:r>
            <a:r>
              <a:rPr lang="en-IN" sz="2400" b="1" dirty="0" smtClean="0"/>
              <a:t>Equated Monthly Instalment (EMI)</a:t>
            </a:r>
            <a:r>
              <a:rPr lang="en-IN" sz="2400" dirty="0" smtClean="0"/>
              <a:t>, which is calculated based on the loan amount, interest rate, and the repayment period. If a borrower anticipates a future increase in income, the instalments can potentially be adjusted.</a:t>
            </a:r>
            <a:endParaRPr lang="en-IN" sz="3200" dirty="0" smtClean="0"/>
          </a:p>
          <a:p>
            <a:pPr lvl="0"/>
            <a:r>
              <a:rPr lang="en-IN" sz="2400" b="1" dirty="0" smtClean="0"/>
              <a:t>Regulatory Control via Loan-to-Value (LTV) Ratios:</a:t>
            </a:r>
            <a:r>
              <a:rPr lang="en-IN" sz="2400" dirty="0" smtClean="0"/>
              <a:t> Competition led some banks to offer imprudent LTVs, sometimes exceeding 100%, which increased </a:t>
            </a:r>
            <a:r>
              <a:rPr lang="en-IN" sz="2400" b="1" dirty="0" smtClean="0"/>
              <a:t>non-performing assets</a:t>
            </a:r>
            <a:r>
              <a:rPr lang="en-IN" sz="2400" dirty="0" smtClean="0"/>
              <a:t>. Regulators intervened to curb these practices. </a:t>
            </a:r>
            <a:endParaRPr lang="en-IN" sz="3200" dirty="0" smtClean="0"/>
          </a:p>
          <a:p>
            <a:pPr lvl="1"/>
            <a:r>
              <a:rPr lang="en-US" dirty="0"/>
              <a:t>Some banks, due to competition, gave risky loans where the loan amount was equal to or even more than the property’s value (over 100%). This led to more bad loans (non-performing assets). To stop this, regulators stepped in and set limits.</a:t>
            </a:r>
          </a:p>
          <a:p>
            <a:pPr lvl="1"/>
            <a:r>
              <a:rPr lang="en-US" b="1" dirty="0" smtClean="0"/>
              <a:t>Example: </a:t>
            </a:r>
            <a:r>
              <a:rPr lang="en-US" dirty="0" smtClean="0"/>
              <a:t>HDFC</a:t>
            </a:r>
            <a:r>
              <a:rPr lang="en-US" dirty="0"/>
              <a:t>, known for being careful, does not give loans more than 85% of the property’s value. On average, its loans are usually around 65%–68% of the property value.</a:t>
            </a:r>
          </a:p>
        </p:txBody>
      </p:sp>
    </p:spTree>
    <p:extLst>
      <p:ext uri="{BB962C8B-B14F-4D97-AF65-F5344CB8AC3E}">
        <p14:creationId xmlns:p14="http://schemas.microsoft.com/office/powerpoint/2010/main" xmlns="" val="4165314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Interest Rate Structures: Fixed vs. Floating</a:t>
            </a:r>
            <a:endParaRPr lang="en-IN" dirty="0"/>
          </a:p>
        </p:txBody>
      </p:sp>
      <p:sp>
        <p:nvSpPr>
          <p:cNvPr id="3" name="Content Placeholder 2"/>
          <p:cNvSpPr>
            <a:spLocks noGrp="1"/>
          </p:cNvSpPr>
          <p:nvPr>
            <p:ph idx="1"/>
          </p:nvPr>
        </p:nvSpPr>
        <p:spPr/>
        <p:txBody>
          <a:bodyPr>
            <a:normAutofit/>
          </a:bodyPr>
          <a:lstStyle/>
          <a:p>
            <a:r>
              <a:rPr lang="en-IN" dirty="0" smtClean="0"/>
              <a:t>The </a:t>
            </a:r>
            <a:r>
              <a:rPr lang="en-IN" dirty="0"/>
              <a:t>choice between fixed and floating rates heavily influences the borrower's long-term financial stability and risk exposure.</a:t>
            </a:r>
            <a:endParaRPr lang="en-IN" sz="2400" dirty="0"/>
          </a:p>
          <a:p>
            <a:pPr marL="0" indent="0">
              <a:buNone/>
            </a:pPr>
            <a:endParaRPr lang="en-IN" dirty="0"/>
          </a:p>
        </p:txBody>
      </p:sp>
    </p:spTree>
    <p:extLst>
      <p:ext uri="{BB962C8B-B14F-4D97-AF65-F5344CB8AC3E}">
        <p14:creationId xmlns:p14="http://schemas.microsoft.com/office/powerpoint/2010/main" xmlns="" val="29904594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5724"/>
            <a:ext cx="10515600" cy="5441239"/>
          </a:xfrm>
        </p:spPr>
        <p:style>
          <a:lnRef idx="2">
            <a:schemeClr val="accent1"/>
          </a:lnRef>
          <a:fillRef idx="1">
            <a:schemeClr val="lt1"/>
          </a:fillRef>
          <a:effectRef idx="0">
            <a:schemeClr val="accent1"/>
          </a:effectRef>
          <a:fontRef idx="minor">
            <a:schemeClr val="dk1"/>
          </a:fontRef>
        </p:style>
        <p:txBody>
          <a:bodyPr>
            <a:normAutofit/>
          </a:bodyPr>
          <a:lstStyle/>
          <a:p>
            <a:pPr lvl="0"/>
            <a:r>
              <a:rPr lang="en-IN" sz="2800" b="1" dirty="0" smtClean="0"/>
              <a:t>Fixed Interest Rate (Certainty):</a:t>
            </a:r>
            <a:r>
              <a:rPr lang="en-IN" sz="2800" dirty="0" smtClean="0"/>
              <a:t> In a fixed-rate loan, repayment occurs in equal instalments, and the interest rate remains constant regardless of market fluctuations throughout the entire loan period. </a:t>
            </a:r>
            <a:endParaRPr lang="en-IN" sz="3600" dirty="0" smtClean="0"/>
          </a:p>
          <a:p>
            <a:pPr lvl="1"/>
            <a:r>
              <a:rPr lang="en-IN" sz="2400" b="1" dirty="0" smtClean="0"/>
              <a:t>Benefit:</a:t>
            </a:r>
            <a:r>
              <a:rPr lang="en-IN" sz="2400" dirty="0" smtClean="0"/>
              <a:t> This provides a sense of security and certainty, making it excellent for </a:t>
            </a:r>
            <a:r>
              <a:rPr lang="en-IN" sz="2400" b="1" dirty="0" smtClean="0"/>
              <a:t>budgeting and predictable repayment</a:t>
            </a:r>
            <a:r>
              <a:rPr lang="en-IN" sz="2400" dirty="0" smtClean="0"/>
              <a:t>.</a:t>
            </a:r>
            <a:endParaRPr lang="en-IN" sz="3200" dirty="0" smtClean="0"/>
          </a:p>
          <a:p>
            <a:pPr lvl="1"/>
            <a:r>
              <a:rPr lang="en-IN" sz="2400" b="1" dirty="0" smtClean="0"/>
              <a:t>Drawback/Example:</a:t>
            </a:r>
            <a:r>
              <a:rPr lang="en-IN" sz="2400" dirty="0" smtClean="0"/>
              <a:t> Fixed rates are typically </a:t>
            </a:r>
            <a:r>
              <a:rPr lang="en-IN" sz="2400" b="1" dirty="0" smtClean="0"/>
              <a:t>1 to 2.5 percentage points higher than floating rates</a:t>
            </a:r>
            <a:r>
              <a:rPr lang="en-IN" sz="2400" dirty="0" smtClean="0"/>
              <a:t>. Furthermore, the borrower does not benefit if overall market interest rates decrease. Fixed rates are generally advised if economic conditions suggest interest rates are likely to rise.</a:t>
            </a:r>
            <a:endParaRPr lang="en-IN" sz="3200" dirty="0" smtClean="0"/>
          </a:p>
        </p:txBody>
      </p:sp>
    </p:spTree>
    <p:extLst>
      <p:ext uri="{BB962C8B-B14F-4D97-AF65-F5344CB8AC3E}">
        <p14:creationId xmlns:p14="http://schemas.microsoft.com/office/powerpoint/2010/main" xmlns="" val="12024051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703" y="803186"/>
            <a:ext cx="10685617" cy="5248622"/>
          </a:xfrm>
        </p:spPr>
        <p:style>
          <a:lnRef idx="2">
            <a:schemeClr val="accent1"/>
          </a:lnRef>
          <a:fillRef idx="1">
            <a:schemeClr val="lt1"/>
          </a:fillRef>
          <a:effectRef idx="0">
            <a:schemeClr val="accent1"/>
          </a:effectRef>
          <a:fontRef idx="minor">
            <a:schemeClr val="dk1"/>
          </a:fontRef>
        </p:style>
        <p:txBody>
          <a:bodyPr/>
          <a:lstStyle/>
          <a:p>
            <a:pPr lvl="0"/>
            <a:r>
              <a:rPr lang="en-IN" sz="2800" b="1" dirty="0"/>
              <a:t>Floating Interest Rate (Flexibility):</a:t>
            </a:r>
            <a:r>
              <a:rPr lang="en-IN" sz="2800" dirty="0"/>
              <a:t> This rate varies with market conditions, being tied to a base rate plus a floating element. </a:t>
            </a:r>
            <a:endParaRPr lang="en-IN" sz="3600" dirty="0"/>
          </a:p>
          <a:p>
            <a:pPr lvl="1"/>
            <a:r>
              <a:rPr lang="en-IN" sz="2400" b="1" dirty="0"/>
              <a:t>Benefit:</a:t>
            </a:r>
            <a:r>
              <a:rPr lang="en-IN" sz="2400" dirty="0"/>
              <a:t> Floating rates are generally cheaper than fixed rates and offer potential savings if market interest rates decline.</a:t>
            </a:r>
            <a:endParaRPr lang="en-IN" sz="3200" dirty="0"/>
          </a:p>
          <a:p>
            <a:pPr lvl="1"/>
            <a:r>
              <a:rPr lang="en-IN" sz="2400" b="1" dirty="0"/>
              <a:t>Drawback/Example:</a:t>
            </a:r>
            <a:r>
              <a:rPr lang="en-IN" sz="2400" dirty="0"/>
              <a:t> The major drawback is that </a:t>
            </a:r>
            <a:r>
              <a:rPr lang="en-IN" sz="2400" b="1" dirty="0"/>
              <a:t>uneven monthly instalments make budgeting difficult</a:t>
            </a:r>
            <a:r>
              <a:rPr lang="en-IN" sz="2400" dirty="0"/>
              <a:t>. Hikes in floating rates can significantly increase EMIs. Despite the risks, most home loan borrowers in India opt for floating rates.</a:t>
            </a:r>
            <a:endParaRPr lang="en-IN" sz="3200" dirty="0"/>
          </a:p>
          <a:p>
            <a:endParaRPr lang="en-IN" dirty="0"/>
          </a:p>
        </p:txBody>
      </p:sp>
    </p:spTree>
    <p:extLst>
      <p:ext uri="{BB962C8B-B14F-4D97-AF65-F5344CB8AC3E}">
        <p14:creationId xmlns:p14="http://schemas.microsoft.com/office/powerpoint/2010/main" xmlns="" val="25737914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3AD9955-7BD2-33A2-B6C1-4E827004DADE}"/>
              </a:ext>
            </a:extLst>
          </p:cNvPr>
          <p:cNvSpPr>
            <a:spLocks noGrp="1"/>
          </p:cNvSpPr>
          <p:nvPr>
            <p:ph type="title"/>
          </p:nvPr>
        </p:nvSpPr>
        <p:spPr>
          <a:xfrm>
            <a:off x="1156851" y="637762"/>
            <a:ext cx="9888496" cy="900131"/>
          </a:xfrm>
        </p:spPr>
        <p:txBody>
          <a:bodyPr anchor="t">
            <a:normAutofit/>
          </a:bodyPr>
          <a:lstStyle/>
          <a:p>
            <a:r>
              <a:rPr lang="en-US" sz="4000" b="1">
                <a:solidFill>
                  <a:schemeClr val="bg1"/>
                </a:solidFill>
              </a:rPr>
              <a:t>Practical Problems on Housing Finance</a:t>
            </a:r>
            <a:endParaRPr lang="en-GB" sz="4000">
              <a:solidFill>
                <a:schemeClr val="bg1"/>
              </a:solidFill>
            </a:endParaRPr>
          </a:p>
        </p:txBody>
      </p:sp>
      <p:sp>
        <p:nvSpPr>
          <p:cNvPr id="10" name="Rectangle 9">
            <a:extLst>
              <a:ext uri="{FF2B5EF4-FFF2-40B4-BE49-F238E27FC236}">
                <a16:creationId xmlns:a16="http://schemas.microsoft.com/office/drawing/2014/main" xmlns=""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B3655B9B-236C-B13C-6D3A-D36C40D360F0}"/>
              </a:ext>
            </a:extLst>
          </p:cNvPr>
          <p:cNvSpPr>
            <a:spLocks noGrp="1"/>
          </p:cNvSpPr>
          <p:nvPr>
            <p:ph idx="1"/>
          </p:nvPr>
        </p:nvSpPr>
        <p:spPr>
          <a:xfrm>
            <a:off x="1155548" y="2217343"/>
            <a:ext cx="9880893" cy="3959619"/>
          </a:xfrm>
        </p:spPr>
        <p:txBody>
          <a:bodyPr>
            <a:normAutofit/>
          </a:bodyPr>
          <a:lstStyle/>
          <a:p>
            <a:pPr lvl="0"/>
            <a:r>
              <a:rPr lang="en-US" b="1" dirty="0"/>
              <a:t>Housing Shortage and Urbanization:</a:t>
            </a:r>
            <a:r>
              <a:rPr lang="en-US" dirty="0"/>
              <a:t> Severe shortage due to population growth, urbanization, and poverty. Official estimate (1991 Census) of shortage was 19.4 million units; current unofficial estimates exceed 40 million units. Housing completions are below UN-recommended levels.</a:t>
            </a:r>
            <a:endParaRPr lang="en-GB" dirty="0"/>
          </a:p>
          <a:p>
            <a:pPr lvl="0"/>
            <a:r>
              <a:rPr lang="en-US" b="1" dirty="0"/>
              <a:t>Reluctance to Lend to Low-Income Households:</a:t>
            </a:r>
            <a:r>
              <a:rPr lang="en-US" dirty="0"/>
              <a:t> High servicing costs, irregular income, and lack of collateral discourage HFIs.</a:t>
            </a:r>
            <a:endParaRPr lang="en-GB" dirty="0"/>
          </a:p>
        </p:txBody>
      </p:sp>
    </p:spTree>
    <p:extLst>
      <p:ext uri="{BB962C8B-B14F-4D97-AF65-F5344CB8AC3E}">
        <p14:creationId xmlns:p14="http://schemas.microsoft.com/office/powerpoint/2010/main" xmlns="" val="2832738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FA8C2D4-70E2-4CB0-EF4F-5015D17BFB39}"/>
              </a:ext>
            </a:extLst>
          </p:cNvPr>
          <p:cNvSpPr>
            <a:spLocks noGrp="1"/>
          </p:cNvSpPr>
          <p:nvPr>
            <p:ph type="title"/>
          </p:nvPr>
        </p:nvSpPr>
        <p:spPr>
          <a:xfrm>
            <a:off x="1156851" y="637762"/>
            <a:ext cx="9888496" cy="900131"/>
          </a:xfrm>
        </p:spPr>
        <p:txBody>
          <a:bodyPr anchor="t">
            <a:normAutofit/>
          </a:bodyPr>
          <a:lstStyle/>
          <a:p>
            <a:endParaRPr lang="en-GB" sz="4000">
              <a:solidFill>
                <a:schemeClr val="bg1"/>
              </a:solidFill>
            </a:endParaRPr>
          </a:p>
        </p:txBody>
      </p:sp>
      <p:sp>
        <p:nvSpPr>
          <p:cNvPr id="10" name="Rectangle 9">
            <a:extLst>
              <a:ext uri="{FF2B5EF4-FFF2-40B4-BE49-F238E27FC236}">
                <a16:creationId xmlns:a16="http://schemas.microsoft.com/office/drawing/2014/main" xmlns=""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FAB49247-378C-8658-FF49-F6C487C9B637}"/>
              </a:ext>
            </a:extLst>
          </p:cNvPr>
          <p:cNvSpPr>
            <a:spLocks noGrp="1"/>
          </p:cNvSpPr>
          <p:nvPr>
            <p:ph idx="1"/>
          </p:nvPr>
        </p:nvSpPr>
        <p:spPr>
          <a:xfrm>
            <a:off x="1155548" y="2217343"/>
            <a:ext cx="9880893" cy="3959619"/>
          </a:xfrm>
        </p:spPr>
        <p:txBody>
          <a:bodyPr>
            <a:normAutofit/>
          </a:bodyPr>
          <a:lstStyle/>
          <a:p>
            <a:pPr lvl="0"/>
            <a:r>
              <a:rPr lang="en-US" sz="2400" b="1" dirty="0"/>
              <a:t>Archaic Legal Framework and Restrictive Laws:</a:t>
            </a:r>
            <a:r>
              <a:rPr lang="en-US" sz="2400" dirty="0"/>
              <a:t> Over 100 laws govern real estate, many outdated.</a:t>
            </a:r>
            <a:endParaRPr lang="en-GB" sz="2400" dirty="0"/>
          </a:p>
          <a:p>
            <a:pPr lvl="1"/>
            <a:r>
              <a:rPr lang="en-US" b="1" dirty="0"/>
              <a:t>Urban Land (Ceiling and Regulation) Act 1976:</a:t>
            </a:r>
            <a:r>
              <a:rPr lang="en-US" dirty="0"/>
              <a:t> Intended equitable land distribution but failed and led to inefficiency.</a:t>
            </a:r>
            <a:endParaRPr lang="en-GB" dirty="0"/>
          </a:p>
          <a:p>
            <a:pPr lvl="1"/>
            <a:r>
              <a:rPr lang="en-US" b="1" dirty="0"/>
              <a:t>Rent Control:</a:t>
            </a:r>
            <a:r>
              <a:rPr lang="en-US" dirty="0"/>
              <a:t> Led to withdrawal of rental housing, dilapidated buildings, and reduced municipal revenue.</a:t>
            </a:r>
            <a:endParaRPr lang="en-GB" dirty="0"/>
          </a:p>
          <a:p>
            <a:pPr lvl="1"/>
            <a:r>
              <a:rPr lang="en-US" b="1" dirty="0"/>
              <a:t>Planning and Development Control Regulations:</a:t>
            </a:r>
            <a:r>
              <a:rPr lang="en-US" dirty="0"/>
              <a:t> Limited and uncoordinated planning, restrictive FSI.</a:t>
            </a:r>
            <a:endParaRPr lang="en-GB" dirty="0"/>
          </a:p>
          <a:p>
            <a:pPr lvl="1"/>
            <a:r>
              <a:rPr lang="en-US" b="1" dirty="0"/>
              <a:t>Agricultural Land Restrictions:</a:t>
            </a:r>
            <a:r>
              <a:rPr lang="en-US" dirty="0"/>
              <a:t> Conversion restrictions hinder urban expansion.</a:t>
            </a:r>
            <a:endParaRPr lang="en-GB" dirty="0"/>
          </a:p>
          <a:p>
            <a:pPr marL="0" indent="0">
              <a:buNone/>
            </a:pPr>
            <a:endParaRPr lang="en-GB" sz="2400"/>
          </a:p>
        </p:txBody>
      </p:sp>
    </p:spTree>
    <p:extLst>
      <p:ext uri="{BB962C8B-B14F-4D97-AF65-F5344CB8AC3E}">
        <p14:creationId xmlns:p14="http://schemas.microsoft.com/office/powerpoint/2010/main" xmlns="" val="3412292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3370E282-E9F3-F9C5-DA67-EEF73EEBE7C3}"/>
              </a:ext>
            </a:extLst>
          </p:cNvPr>
          <p:cNvSpPr>
            <a:spLocks noGrp="1"/>
          </p:cNvSpPr>
          <p:nvPr>
            <p:ph idx="1"/>
          </p:nvPr>
        </p:nvSpPr>
        <p:spPr>
          <a:xfrm>
            <a:off x="1155548" y="2217343"/>
            <a:ext cx="9880893" cy="3959619"/>
          </a:xfrm>
        </p:spPr>
        <p:txBody>
          <a:bodyPr>
            <a:normAutofit/>
          </a:bodyPr>
          <a:lstStyle/>
          <a:p>
            <a:pPr lvl="0"/>
            <a:r>
              <a:rPr lang="en-US" sz="2400" b="1"/>
              <a:t>High Transaction Costs:</a:t>
            </a:r>
            <a:r>
              <a:rPr lang="en-US" sz="2400"/>
              <a:t> Stamp duties up to 15% increase grey markets and reduce transparency.</a:t>
            </a:r>
            <a:endParaRPr lang="en-GB" sz="2400" dirty="0"/>
          </a:p>
          <a:p>
            <a:pPr lvl="0"/>
            <a:r>
              <a:rPr lang="en-US" sz="2400" b="1"/>
              <a:t>Lack of Clear Land Titles:</a:t>
            </a:r>
            <a:r>
              <a:rPr lang="en-US" sz="2400"/>
              <a:t> Causes disputes, litigation, and delays; computerization of records recommended but not implemented.</a:t>
            </a:r>
            <a:endParaRPr lang="en-GB" sz="2400" dirty="0"/>
          </a:p>
          <a:p>
            <a:pPr lvl="0"/>
            <a:r>
              <a:rPr lang="en-US" sz="2400" b="1"/>
              <a:t>Fragmented Market and Tedious Approvals:</a:t>
            </a:r>
            <a:r>
              <a:rPr lang="en-US" sz="2400"/>
              <a:t> Over 70% of units constructed by informal sector; multiple approvals required.</a:t>
            </a:r>
            <a:endParaRPr lang="en-GB" sz="2400" dirty="0"/>
          </a:p>
          <a:p>
            <a:pPr lvl="0"/>
            <a:r>
              <a:rPr lang="en-US" sz="2400" b="1"/>
              <a:t>Lack of Reliable Data:</a:t>
            </a:r>
            <a:r>
              <a:rPr lang="en-US" sz="2400"/>
              <a:t> Hinders economic analysis; RESIDEX developed by NHB to track prices.</a:t>
            </a:r>
            <a:endParaRPr lang="en-GB" sz="2400" dirty="0"/>
          </a:p>
        </p:txBody>
      </p:sp>
    </p:spTree>
    <p:extLst>
      <p:ext uri="{BB962C8B-B14F-4D97-AF65-F5344CB8AC3E}">
        <p14:creationId xmlns:p14="http://schemas.microsoft.com/office/powerpoint/2010/main" xmlns="" val="4131271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363243E2-7D48-4CEE-C682-DEAA4036ED0E}"/>
              </a:ext>
            </a:extLst>
          </p:cNvPr>
          <p:cNvSpPr>
            <a:spLocks noGrp="1"/>
          </p:cNvSpPr>
          <p:nvPr>
            <p:ph idx="1"/>
          </p:nvPr>
        </p:nvSpPr>
        <p:spPr>
          <a:xfrm>
            <a:off x="1155548" y="2217343"/>
            <a:ext cx="9880893" cy="3959619"/>
          </a:xfrm>
        </p:spPr>
        <p:txBody>
          <a:bodyPr>
            <a:normAutofit/>
          </a:bodyPr>
          <a:lstStyle/>
          <a:p>
            <a:pPr lvl="0"/>
            <a:r>
              <a:rPr lang="en-US" sz="2400" b="1"/>
              <a:t>Low Mortgage Penetration:</a:t>
            </a:r>
            <a:r>
              <a:rPr lang="en-US" sz="2400"/>
              <a:t> Only 4% of GDP; formal sector covers 25% of total capital expenditure.</a:t>
            </a:r>
            <a:endParaRPr lang="en-GB" sz="2400" dirty="0"/>
          </a:p>
          <a:p>
            <a:pPr lvl="0"/>
            <a:r>
              <a:rPr lang="en-US" sz="2400" b="1"/>
              <a:t>Asset Quality and Foreclosure:</a:t>
            </a:r>
            <a:r>
              <a:rPr lang="en-US" sz="2400"/>
              <a:t> SARFAESI Act 2002 improved recovery and reduced litigation.</a:t>
            </a:r>
            <a:endParaRPr lang="en-GB" sz="2400" dirty="0"/>
          </a:p>
          <a:p>
            <a:pPr lvl="0"/>
            <a:r>
              <a:rPr lang="en-US" sz="2400" b="1"/>
              <a:t>Regulatory Duality and Arbitrage:</a:t>
            </a:r>
            <a:r>
              <a:rPr lang="en-US" sz="2400"/>
              <a:t> Dual regulation by RBI and NHB creates conflicts.</a:t>
            </a:r>
            <a:endParaRPr lang="en-GB" sz="2400" dirty="0"/>
          </a:p>
          <a:p>
            <a:pPr lvl="0"/>
            <a:r>
              <a:rPr lang="en-US" sz="2400" b="1"/>
              <a:t>Funding Issues:</a:t>
            </a:r>
            <a:r>
              <a:rPr lang="en-US" sz="2400"/>
              <a:t> Difficult to raise low-cost long-term funds; pension funds largely inaccessible.</a:t>
            </a:r>
            <a:endParaRPr lang="en-GB" sz="2400" dirty="0"/>
          </a:p>
          <a:p>
            <a:pPr lvl="0"/>
            <a:r>
              <a:rPr lang="en-US" sz="2400" b="1"/>
              <a:t>Frauds in Housing Finance:</a:t>
            </a:r>
            <a:r>
              <a:rPr lang="en-US" sz="2400"/>
              <a:t> Various fraudulent practices; NHB set up 'Fraud Management Cell'.</a:t>
            </a:r>
            <a:endParaRPr lang="en-GB" sz="2400" dirty="0"/>
          </a:p>
          <a:p>
            <a:endParaRPr lang="en-GB" sz="2400"/>
          </a:p>
        </p:txBody>
      </p:sp>
    </p:spTree>
    <p:extLst>
      <p:ext uri="{BB962C8B-B14F-4D97-AF65-F5344CB8AC3E}">
        <p14:creationId xmlns:p14="http://schemas.microsoft.com/office/powerpoint/2010/main" xmlns="" val="1567365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3677BAFB-3BD3-41BB-9107-FAE224AE21C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xmlns="" id="{E6823A9B-C188-42D4-847C-3AD928DB145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xmlns="" id="{34B557F3-1A0C-4749-A6DB-EAC082DF39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xmlns="" id="{55D55AA6-3751-494F-868A-DCEDC5CE82B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F50547BC-2AC7-7055-CE8C-71929C71701C}"/>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b="1" kern="1200">
                <a:solidFill>
                  <a:schemeClr val="bg1"/>
                </a:solidFill>
                <a:latin typeface="+mj-lt"/>
                <a:ea typeface="+mj-ea"/>
                <a:cs typeface="+mj-cs"/>
              </a:rPr>
              <a:t>Mortgage Finance</a:t>
            </a:r>
            <a:endParaRPr lang="en-US" sz="5400" kern="1200">
              <a:solidFill>
                <a:schemeClr val="bg1"/>
              </a:solidFill>
              <a:latin typeface="+mj-lt"/>
              <a:ea typeface="+mj-ea"/>
              <a:cs typeface="+mj-cs"/>
            </a:endParaRPr>
          </a:p>
        </p:txBody>
      </p:sp>
      <p:sp>
        <p:nvSpPr>
          <p:cNvPr id="16" name="Graphic 212">
            <a:extLst>
              <a:ext uri="{FF2B5EF4-FFF2-40B4-BE49-F238E27FC236}">
                <a16:creationId xmlns:a16="http://schemas.microsoft.com/office/drawing/2014/main" xmlns="" id="{4D4C00DC-4DC6-4CD2-9E31-F17E6CEBC5A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xmlns="" id="{D82AB1B2-7970-42CF-8BF5-567C69E9FF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xmlns="" id="{66FB5A75-BDE2-4F12-A95B-C48788A7685C}"/>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xmlns="" id="{DC86CBC8-A814-4C0C-A287-7C549693D2E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xmlns="" id="{6AA52F4F-14E6-402F-A196-668B9CA9BC6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xmlns="" id="{C10FB9CA-E7FA-462C-B537-F1224ED1ACF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xmlns="" id="{D8469AE7-A75B-4F37-850B-EF5974ABED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xmlns="" id="{63301095-70B2-49AA-8DA9-A35629AD621C}"/>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xmlns="" id="{D218E08C-0BEA-45C2-8C09-4141DDDA001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xmlns="" id="{232F6090-14E0-44C6-B9FC-C91047BCDC4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xmlns="" id="{FDB9402B-335C-4892-9E7C-C400E95BE05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xmlns="" id="{E7A4371D-4448-409A-93F3-0C92E3EBDCF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xmlns="" id="{780149CB-4B8F-4FD1-AC5E-25670C9EA0A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xmlns="" id="{92D49A1A-35B0-4620-9D1E-A782A0E9780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xmlns="" id="{AFF46F08-B1E4-44C1-BD4A-4191D6EAD90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xmlns="" id="{8DB16610-3D81-4E5C-850D-5D1245C0DCA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xmlns="" id="{E05501B2-83AC-4299-BE5A-8CA16B4089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xmlns="" id="{07CF1B90-3B3A-403E-A94F-8B82945D073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xmlns="" id="{56A1CBA9-4AC1-4C42-9429-3FF31DF282A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xmlns="" id="{21318D9B-FD39-402A-ADFA-0E6CC789A76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xmlns="" id="{333FB08F-B346-47C0-A7CD-1DE53E6C0D2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xmlns="" id="{893AD6F2-6408-4A8E-9749-CB7388EF3D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xmlns="" id="{715D9D2F-1568-4BE3-A54A-69F52492B0E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xmlns="" id="{9AB547A7-0D80-491F-98B4-C6B7CC4FC4A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xmlns="" id="{7E2693CD-DAF5-4B26-9A2F-17673BF3183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xmlns="" id="{A96EEE12-952A-4693-B161-D7071D6010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xmlns="" id="{F4228DCC-1611-4BDC-90AA-231F67EB11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xmlns="" id="{DA163C3C-D3DF-461F-B6A8-90C7C227D12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xmlns="" id="{4D021D29-2980-41C3-AB83-DA93C105BCE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xmlns="" id="{AC09C1FA-1A9D-49A7-9D73-8B777140A30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xmlns="" id="{0B8D8CD4-7B9B-48A5-BC59-0CB859354F7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xmlns="" id="{224D0A27-A8B0-4020-9399-24127726E65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xmlns="" id="{168E8EBA-9F8C-4650-B9BE-38A0A56BCF2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xmlns="" id="{6A460BB3-2605-4AA2-AE1D-B9FB61EBF2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xmlns="" id="{1E2E38EE-DBBE-4CC1-9498-E7193E1B28B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xmlns="" id="{BF191D5C-7D2A-4408-A8F2-389D2360F9A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xmlns="" id="{08F7193B-B379-4921-9F17-1841D50611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xmlns="" id="{B4C5E53C-6003-4F74-B1CA-C7EA1E49930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xmlns="" id="{CB97B2B1-1CF5-46A5-940D-AB8F57F5909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xmlns="" id="{0783F4F1-D8CE-4453-B79B-AD976E272C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xmlns="" id="{06A7A4C9-F24F-4F00-A2FA-29E788A091D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xmlns="" id="{EB694A32-59D6-46E3-8CE4-E4C485C2CB0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xmlns="" id="{983EBB4C-28FF-41C6-90D6-5F30FC0868E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xmlns="" id="{0707659D-8AE9-49B5-AB29-ECC099F495A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xmlns="" id="{5C987ECC-9573-46EA-9C4A-7C3CAE39380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xmlns="" id="{4DAF6708-18C2-4082-B024-6CEA32AE019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xmlns="" id="{72CBB5AE-39E2-4D9B-A834-64D31B00327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xmlns="" id="{4592DE98-77BF-4E8E-AEB4-1934207BAE7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xmlns="" id="{5AF5D9A0-BA94-4D2B-8479-26C55355B6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xmlns="" id="{2CAA6A8E-7ACF-4EF7-AAD6-734A009DCFB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xmlns="" id="{D3DD3695-F212-4BAD-BBB3-EC1F624740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xmlns="" id="{AB1B3ECB-7594-4C5C-B62B-E686C0A89EA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xmlns="" id="{5EE54C3C-D9E5-4782-B8F6-058EB2D63E8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xmlns="" id="{EAE78EEE-DC43-44E1-AB47-ACB80F94B12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xmlns="" id="{847D67EF-1141-4582-866E-FE02FB2360D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xmlns="" id="{99ECC931-60A1-4628-A34B-4B68DA3CC26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xmlns="" id="{A587D2BE-3417-44AE-BEEF-57F88CECB4D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xmlns="" id="{FCEB2ED3-A08D-4286-B75D-893289F3F3D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xmlns="" id="{7C7DB7BB-8173-4377-85B0-032B7BDAB6D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xmlns="" id="{93EF69B4-3F48-4509-8BF8-926E23BC1D5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xmlns="" id="{C1A86650-1EF5-46E3-885D-96985105A8B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xmlns="" id="{47EBBDE2-BD90-481F-A671-34E2186FB0E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xmlns="" id="{87DAF1CB-838D-4C5C-8FB7-76BF677FEB0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xmlns="" id="{64573DA8-D2F3-4644-AC79-83843615C43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xmlns="" id="{41AB53B8-0D5C-44BD-A2A9-ABBF659E1F9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xmlns="" id="{29B7FA60-B453-4877-8D47-CA1209DF91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xmlns="" id="{7A6D2414-BCCC-40E8-B990-47642EFE96E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xmlns="" id="{B0F37C2B-B7E6-420D-AD39-3AE4A2FBE9B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xmlns="" id="{F6417E45-D7FC-40B8-AD49-941B28D18CA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xmlns="" id="{2A8D1963-0C59-476C-AAFA-A7AF4FF508F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xmlns="" id="{6BE777A9-EC29-46FC-AD21-AC7FD89B135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xmlns="" id="{C63BA1CE-93FB-42C7-8381-765E5002322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xmlns="" id="{7F30F275-ADC8-4FD1-8B4B-673B37517B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xmlns="" id="{DB20529C-F2DD-4607-8DEE-19A9329686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xmlns="" id="{B8029A9A-DFF9-49CE-8CEE-95A6695F396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xmlns="" id="{6822C2EC-B05D-4CE6-9D59-164769D0ED1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xmlns="" id="{53A0760F-F576-4A97-94AF-8BBE590844E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xmlns="" id="{CA76721C-646A-4910-AD1A-BE6B67767C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xmlns="" id="{065D4766-CAEC-4074-A9E2-6110A123896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xmlns="" id="{4F1A0AC6-319D-49D8-A4FB-17A70E8E898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xmlns="" id="{79502B48-2B92-45BF-B9AC-1102B380782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xmlns="" id="{6363AFA7-321F-431C-B2FD-ADCB4D24BDD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xmlns="" id="{33EDDE1B-7379-4973-8CFD-F3C737104D1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xmlns="" id="{1F20B58A-2DB8-46B2-9E93-9C8C817DCD6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xmlns="" id="{A5A3EF12-3DA1-4505-A44B-1B963488736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xmlns="" id="{5B08812B-9264-47E7-8EC8-1233869F6BA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xmlns="" id="{2A29F226-A243-410B-BEE4-EBA9DD76F8D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xmlns="" id="{9DF57348-F837-475C-A7AA-3C7210041E3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xmlns="" id="{1E41B89A-9A45-4947-ADB0-9400400498B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xmlns="" id="{6C1F1525-32BC-46E1-84E6-C2BB88730B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xmlns="" id="{C73A8972-BA44-40C6-B045-83E78C4D4A6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xmlns="" id="{C196E956-03D1-4F79-826A-A2F5E3DEF18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xmlns="" id="{ADA7B07B-EAC8-4FA5-B14F-3ABF8BA7A27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xmlns="" id="{93C28672-FF9E-4FE0-AC47-2FDD26CD756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xmlns="" id="{E347BAB3-EA9C-4ADD-AE5E-28F2E3C538A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xmlns="" id="{321920C4-EE31-4F03-A0D5-A280D3F4B10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xmlns="" id="{6EBB3D05-4C78-4F10-8D03-8909DBCFB32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xmlns="" id="{FC65F531-84E4-463F-8791-EB6EDFA639A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xmlns="" id="{A63BB6A3-D482-43F2-9F5F-20E163CC441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xmlns="" id="{ABDCCD34-EB5D-4194-8A28-1424E98AE4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xmlns="" id="{F058544E-163D-4FFF-9A69-0B3A3F2D66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xmlns="" id="{11041486-0577-4F0E-8DD5-5E20E26729C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xmlns="" id="{71D11099-C84E-43AC-9F20-92460E1708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xmlns="" id="{E598FB87-8AFF-4C56-9E2C-776F4641E9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xmlns="" id="{7701E761-16DE-4350-9718-DD81B37FB9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xmlns="" id="{552E747F-E415-4348-A11A-4CABCB64B5F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xmlns="" id="{C6472F13-E6DE-4469-9563-F478261B6E6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xmlns="" id="{5C72FE15-910B-4622-A14C-AFA2DFCC028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xmlns="" id="{BAB8F759-DEFA-4D35-B76E-6D3034FB77D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xmlns="" id="{A1BBCEBD-DCE2-4354-B878-49ABEC3679A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xmlns="" id="{2CBB3A18-0021-403F-8E24-8805829B429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xmlns="" id="{8FDF7AAC-1EC6-4409-90AB-DBB984883D0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xmlns="" id="{5B9999E8-7D25-4049-8328-685B556DC65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xmlns="" id="{E77FC8A9-DEAE-424D-B460-12E0F3268D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xmlns="" id="{54F9C69A-0DCF-444A-B970-32B4120483D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xmlns="" id="{8BD94DDA-54FF-48EE-9DAC-C0EA6F91D4A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xmlns="" id="{E18A6989-0132-4CB7-BB68-EEBC4E0806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xmlns="" id="{A1357332-D19F-4C2B-B474-21D5539B908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xmlns="" id="{295C7590-8B80-428C-95A9-638B2654257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xmlns="" id="{CA0E8A31-7520-4726-9D96-43BA87407E0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xmlns="" id="{9407EEE0-5D8E-4CCC-A91B-0CB523227CF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xmlns="" id="{3799DFCC-868B-4257-B530-8E8D616CC5F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xmlns="" id="{F7F5EEB5-FE82-45A8-97C4-88460ABAFB3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xmlns="" id="{CD76E4C7-EB07-499D-9BC3-FF39C8B613F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xmlns="" id="{86EFDF8D-E5F7-4EB8-B8DA-3CC7E21D88A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xmlns="" id="{2CA6506B-EACA-4FB2-81AB-E028F44786F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xmlns="" id="{193E4771-2787-4901-93D8-7E90F3F479A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xmlns="" id="{0EA31773-15F1-4605-8787-6891ABB2118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xmlns="" id="{1302C213-2CD5-4168-9534-111E6E81A8C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xmlns="" id="{B9B36C24-2336-41FD-BAC4-6CD69DFD551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xmlns="" id="{CA3AFAFE-D376-4A7B-928B-833531472DD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xmlns="" id="{7C685A00-A4F7-4250-BAAA-70978DADE4E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xmlns="" id="{E52682F3-EDD5-4BDC-BB19-A4540873A83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xmlns="" id="{2C5E1880-CFBA-4547-9C23-6D2C433048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xmlns="" id="{439AAF4F-2AAD-4A02-A7FA-FE28D52869A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xmlns="" id="{05614144-9309-41ED-8E05-839A6EEFF89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xmlns="" id="{24324D6F-A81D-45F2-BA36-C53F1AB0C67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xmlns="" id="{6B00668D-07BC-47CF-9D1E-F94EC7C56F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xmlns="" id="{BCF78A89-29F2-4973-8463-DF3C57EFB4F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xmlns="" id="{F5BCB645-FB02-40FC-99A4-06CA3F1B287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xmlns="" id="{F6115A3A-2FBE-4633-A426-37D05BC0712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xmlns="" id="{AEFD8D2F-B95A-4C0A-AE85-53171B29F5F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xmlns="" id="{4DD4F397-1F35-4E06-8EC1-8F58C51912A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xmlns="" id="{B031E5E0-C77D-49F7-ADF2-258D23052D9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xmlns="" id="{3F044DE9-FE64-4C30-8191-7E1547880C4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xmlns="" id="{9B18BCEB-85ED-4077-ACB7-FEB2F64432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xmlns="" id="{00C0927E-2CCF-4F8E-8A54-22B8A93C979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xmlns="" id="{D0C3350E-04F5-4FED-9991-4DD964E099D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xmlns="" id="{F43D0338-A6C9-4866-8D0C-072664518ED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xmlns="" id="{40EA171B-27E2-4100-9D5F-123CF6E7F9E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xmlns="" id="{22FD540C-F3DF-40F5-B2BE-BBD113EF43C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xmlns="" id="{57768D93-FAD4-4236-969B-B8EE8E88F3F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xmlns="" id="{0F5E0490-21C2-4EF6-950D-38814F32C26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xmlns="" id="{8E981C9B-710F-4034-AE82-28B1B07245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xmlns="" id="{CC62C2CC-DBAE-4877-8F55-02FE00AE811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xmlns="" id="{D8F57D8B-1988-441F-9DAE-A525DA5E9D9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xmlns="" id="{6715F028-3A13-4D5F-86C4-74C0AD81D6A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xmlns="" id="{DC6C9B50-47B3-44E7-B897-43D010A189C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xmlns="" id="{F3F602F0-702E-4D5F-A4FC-0E602C02B98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xmlns="" id="{9F379870-B34C-4DFC-9F0A-BDAB8C89FE3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xmlns="" id="{641092AC-FED1-4D1D-B57C-0AC883CA958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xmlns="" id="{EA8A0B5E-5BB1-46AF-AC31-7D3756F354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xmlns="" id="{1C519384-2192-432B-B768-64B4BC2DA98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xmlns="" id="{13C77A9D-44F0-4289-A611-D8AF813570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xmlns="" id="{0A54AEDC-E418-4E02-A713-6CE30C0CDD5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xmlns="" id="{24FECFE3-9F31-47B0-B17F-CF2A1CEE85A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xmlns="" id="{68167DF4-8B16-419B-B7BA-2FD5FF6CC81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xmlns="" id="{A543D24F-44C0-4DDF-A30E-8C8407548F0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xmlns="" id="{63DEAE3C-3931-41EE-B4A1-F9385602BE1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xmlns="" id="{B11945CD-32F6-4C09-82AF-5510512312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xmlns="" id="{9109F44F-512F-4792-AED2-ECA80DDE16C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xmlns="" id="{29B9E19B-BC56-46F2-BFFF-1688CEA55A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xmlns="" id="{F573BDDE-4AED-43FB-B8D1-B5F37089313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xmlns="" id="{EFFDA684-6DFF-4629-830E-6F2ACAB8C30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xmlns="" id="{92E23250-6349-4726-AF61-08A57B3A2E1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xmlns="" id="{8536AAE6-5497-4B0A-9C9F-4EAA1BB322B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xmlns="" id="{52B72898-B9DE-4574-BB20-0C317954D4C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xmlns="" val="2993479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04812C46-200A-4DEB-A05E-3ED6C68C2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gures of houses in different position and sizes">
            <a:extLst>
              <a:ext uri="{FF2B5EF4-FFF2-40B4-BE49-F238E27FC236}">
                <a16:creationId xmlns:a16="http://schemas.microsoft.com/office/drawing/2014/main" xmlns="" id="{38178B3F-0A94-8106-E430-C01269E9442F}"/>
              </a:ext>
            </a:extLst>
          </p:cNvPr>
          <p:cNvPicPr>
            <a:picLocks noChangeAspect="1"/>
          </p:cNvPicPr>
          <p:nvPr/>
        </p:nvPicPr>
        <p:blipFill>
          <a:blip r:embed="rId3"/>
          <a:srcRect l="1597" r="19091"/>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xmlns="" id="{D1EA859B-E555-4109-94F3-6700E046E0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ntent Placeholder 2">
            <a:extLst>
              <a:ext uri="{FF2B5EF4-FFF2-40B4-BE49-F238E27FC236}">
                <a16:creationId xmlns:a16="http://schemas.microsoft.com/office/drawing/2014/main" xmlns="" id="{110AA794-4A79-DECA-1948-35164C1328FF}"/>
              </a:ext>
            </a:extLst>
          </p:cNvPr>
          <p:cNvSpPr>
            <a:spLocks noGrp="1"/>
          </p:cNvSpPr>
          <p:nvPr>
            <p:ph idx="1"/>
          </p:nvPr>
        </p:nvSpPr>
        <p:spPr>
          <a:xfrm>
            <a:off x="4286822" y="704335"/>
            <a:ext cx="7066978" cy="5472628"/>
          </a:xfrm>
        </p:spPr>
        <p:style>
          <a:lnRef idx="2">
            <a:schemeClr val="accent1"/>
          </a:lnRef>
          <a:fillRef idx="1">
            <a:schemeClr val="lt1"/>
          </a:fillRef>
          <a:effectRef idx="0">
            <a:schemeClr val="accent1"/>
          </a:effectRef>
          <a:fontRef idx="minor">
            <a:schemeClr val="dk1"/>
          </a:fontRef>
        </p:style>
        <p:txBody>
          <a:bodyPr>
            <a:normAutofit/>
          </a:bodyPr>
          <a:lstStyle/>
          <a:p>
            <a:r>
              <a:rPr lang="en-US" sz="4000" dirty="0"/>
              <a:t>What is Mortgage Finance?</a:t>
            </a:r>
          </a:p>
          <a:p>
            <a:pPr lvl="1"/>
            <a:r>
              <a:rPr lang="en-US" sz="4000" dirty="0"/>
              <a:t>Loan secured by property (usually real estate)</a:t>
            </a:r>
          </a:p>
          <a:p>
            <a:pPr lvl="1"/>
            <a:r>
              <a:rPr lang="en-US" sz="4000" dirty="0"/>
              <a:t>Enables long-term funding for housing</a:t>
            </a:r>
          </a:p>
          <a:p>
            <a:r>
              <a:rPr lang="en-US" sz="4000" dirty="0"/>
              <a:t>Importance in economic and social development</a:t>
            </a:r>
            <a:br>
              <a:rPr lang="en-US" sz="4000" dirty="0"/>
            </a:br>
            <a:endParaRPr lang="en-GB" sz="4000" dirty="0"/>
          </a:p>
        </p:txBody>
      </p:sp>
    </p:spTree>
    <p:extLst>
      <p:ext uri="{BB962C8B-B14F-4D97-AF65-F5344CB8AC3E}">
        <p14:creationId xmlns:p14="http://schemas.microsoft.com/office/powerpoint/2010/main" xmlns="" val="204627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4E1BEB12-92AF-4445-98AD-4C7756E7C9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D0522C2C-7B5C-48A7-A969-03941E5D2E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xmlns="" id="{9C682A1A-5B2D-4111-BBD6-620165633E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xmlns="" id="{D6EE29F2-D77F-4BD0-A20B-334D316A1C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xmlns="" id="{22D09ED2-868F-42C6-866E-F92E0CEF314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3145650A-1AEA-6F30-B143-378F78B028B8}"/>
              </a:ext>
            </a:extLst>
          </p:cNvPr>
          <p:cNvSpPr>
            <a:spLocks noGrp="1"/>
          </p:cNvSpPr>
          <p:nvPr>
            <p:ph type="title"/>
          </p:nvPr>
        </p:nvSpPr>
        <p:spPr>
          <a:xfrm>
            <a:off x="4038600" y="1939159"/>
            <a:ext cx="7644627" cy="2751086"/>
          </a:xfrm>
        </p:spPr>
        <p:txBody>
          <a:bodyPr vert="horz" lIns="91440" tIns="45720" rIns="91440" bIns="45720" rtlCol="0" anchor="b">
            <a:normAutofit fontScale="90000"/>
          </a:bodyPr>
          <a:lstStyle/>
          <a:p>
            <a:pPr lvl="1" algn="r" rtl="0">
              <a:lnSpc>
                <a:spcPct val="90000"/>
              </a:lnSpc>
              <a:spcBef>
                <a:spcPct val="0"/>
              </a:spcBef>
            </a:pPr>
            <a:r>
              <a:rPr lang="en-US" sz="4700" kern="1200" dirty="0">
                <a:solidFill>
                  <a:schemeClr val="tx1"/>
                </a:solidFill>
                <a:latin typeface="+mj-lt"/>
                <a:ea typeface="+mj-ea"/>
                <a:cs typeface="+mj-cs"/>
              </a:rPr>
              <a:t>Difference from Housing Finance</a:t>
            </a:r>
            <a:br>
              <a:rPr lang="en-US" sz="4700" kern="1200" dirty="0">
                <a:solidFill>
                  <a:schemeClr val="tx1"/>
                </a:solidFill>
                <a:latin typeface="+mj-lt"/>
                <a:ea typeface="+mj-ea"/>
                <a:cs typeface="+mj-cs"/>
              </a:rPr>
            </a:br>
            <a:r>
              <a:rPr lang="en-US" sz="4700" kern="1200" dirty="0">
                <a:solidFill>
                  <a:schemeClr val="tx1"/>
                </a:solidFill>
                <a:latin typeface="+mj-lt"/>
                <a:ea typeface="+mj-ea"/>
                <a:cs typeface="+mj-cs"/>
              </a:rPr>
              <a:t>Historical evolution</a:t>
            </a:r>
            <a:br>
              <a:rPr lang="en-US" sz="4700" kern="1200" dirty="0">
                <a:solidFill>
                  <a:schemeClr val="tx1"/>
                </a:solidFill>
                <a:latin typeface="+mj-lt"/>
                <a:ea typeface="+mj-ea"/>
                <a:cs typeface="+mj-cs"/>
              </a:rPr>
            </a:br>
            <a:r>
              <a:rPr lang="en-US" sz="4700" kern="1200" dirty="0">
                <a:solidFill>
                  <a:schemeClr val="tx1"/>
                </a:solidFill>
                <a:latin typeface="+mj-lt"/>
                <a:ea typeface="+mj-ea"/>
                <a:cs typeface="+mj-cs"/>
              </a:rPr>
              <a:t>Institutional development</a:t>
            </a:r>
            <a:br>
              <a:rPr lang="en-US" sz="4700" kern="1200" dirty="0">
                <a:solidFill>
                  <a:schemeClr val="tx1"/>
                </a:solidFill>
                <a:latin typeface="+mj-lt"/>
                <a:ea typeface="+mj-ea"/>
                <a:cs typeface="+mj-cs"/>
              </a:rPr>
            </a:br>
            <a:r>
              <a:rPr lang="en-US" sz="4700" kern="1200" dirty="0">
                <a:solidFill>
                  <a:schemeClr val="tx1"/>
                </a:solidFill>
                <a:latin typeface="+mj-lt"/>
                <a:ea typeface="+mj-ea"/>
                <a:cs typeface="+mj-cs"/>
              </a:rPr>
              <a:t>Market reforms and tax incentives</a:t>
            </a:r>
          </a:p>
        </p:txBody>
      </p:sp>
      <p:sp>
        <p:nvSpPr>
          <p:cNvPr id="3" name="Text Placeholder 2">
            <a:extLst>
              <a:ext uri="{FF2B5EF4-FFF2-40B4-BE49-F238E27FC236}">
                <a16:creationId xmlns:a16="http://schemas.microsoft.com/office/drawing/2014/main" xmlns="" id="{C03DBD11-F6E1-C4D6-C13A-AACF59E90F05}"/>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r>
              <a:rPr lang="en-US" kern="1200">
                <a:solidFill>
                  <a:schemeClr val="tx1"/>
                </a:solidFill>
                <a:latin typeface="+mn-lt"/>
                <a:ea typeface="+mn-ea"/>
                <a:cs typeface="+mn-cs"/>
              </a:rPr>
              <a:t>Sub sections</a:t>
            </a:r>
          </a:p>
        </p:txBody>
      </p:sp>
    </p:spTree>
    <p:extLst>
      <p:ext uri="{BB962C8B-B14F-4D97-AF65-F5344CB8AC3E}">
        <p14:creationId xmlns:p14="http://schemas.microsoft.com/office/powerpoint/2010/main" xmlns="" val="4019568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Isosceles Triangle 2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12">
            <a:extLst>
              <a:ext uri="{FF2B5EF4-FFF2-40B4-BE49-F238E27FC236}">
                <a16:creationId xmlns:a16="http://schemas.microsoft.com/office/drawing/2014/main" xmlns="" id="{490F410C-28E2-6DC2-7007-202E60715EB4}"/>
              </a:ext>
            </a:extLst>
          </p:cNvPr>
          <p:cNvGraphicFramePr>
            <a:graphicFrameLocks noGrp="1"/>
          </p:cNvGraphicFramePr>
          <p:nvPr>
            <p:ph idx="1"/>
            <p:extLst>
              <p:ext uri="{D42A27DB-BD31-4B8C-83A1-F6EECF244321}">
                <p14:modId xmlns:p14="http://schemas.microsoft.com/office/powerpoint/2010/main" xmlns="" val="1911404428"/>
              </p:ext>
            </p:extLst>
          </p:nvPr>
        </p:nvGraphicFramePr>
        <p:xfrm>
          <a:off x="700616" y="453434"/>
          <a:ext cx="10905067" cy="6057364"/>
        </p:xfrm>
        <a:graphic>
          <a:graphicData uri="http://schemas.openxmlformats.org/drawingml/2006/table">
            <a:tbl>
              <a:tblPr firstRow="1" bandRow="1">
                <a:noFill/>
                <a:tableStyleId>{5C22544A-7EE6-4342-B048-85BDC9FD1C3A}</a:tableStyleId>
              </a:tblPr>
              <a:tblGrid>
                <a:gridCol w="1959206">
                  <a:extLst>
                    <a:ext uri="{9D8B030D-6E8A-4147-A177-3AD203B41FA5}">
                      <a16:colId xmlns:a16="http://schemas.microsoft.com/office/drawing/2014/main" xmlns="" val="1761666169"/>
                    </a:ext>
                  </a:extLst>
                </a:gridCol>
                <a:gridCol w="5382749">
                  <a:extLst>
                    <a:ext uri="{9D8B030D-6E8A-4147-A177-3AD203B41FA5}">
                      <a16:colId xmlns:a16="http://schemas.microsoft.com/office/drawing/2014/main" xmlns="" val="4250341947"/>
                    </a:ext>
                  </a:extLst>
                </a:gridCol>
                <a:gridCol w="3563112">
                  <a:extLst>
                    <a:ext uri="{9D8B030D-6E8A-4147-A177-3AD203B41FA5}">
                      <a16:colId xmlns:a16="http://schemas.microsoft.com/office/drawing/2014/main" xmlns="" val="1479065638"/>
                    </a:ext>
                  </a:extLst>
                </a:gridCol>
              </a:tblGrid>
              <a:tr h="643814">
                <a:tc>
                  <a:txBody>
                    <a:bodyPr/>
                    <a:lstStyle/>
                    <a:p>
                      <a:pPr algn="ctr" fontAlgn="ctr">
                        <a:buNone/>
                      </a:pPr>
                      <a:r>
                        <a:rPr lang="en-GB" sz="2800" b="1" i="0" u="sng" strike="noStrike" cap="none" spc="0" dirty="0">
                          <a:solidFill>
                            <a:schemeClr val="tx1"/>
                          </a:solidFill>
                          <a:effectLst/>
                          <a:latin typeface="Aptos Narrow" panose="020B0004020202020204" pitchFamily="34" charset="0"/>
                        </a:rPr>
                        <a:t>Feature</a:t>
                      </a:r>
                    </a:p>
                  </a:txBody>
                  <a:tcPr marL="94546" marR="9380" marT="27013" marB="202599"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2800" b="1" i="0" u="sng" strike="noStrike" cap="none" spc="0" dirty="0">
                          <a:solidFill>
                            <a:schemeClr val="tx1"/>
                          </a:solidFill>
                          <a:effectLst/>
                          <a:latin typeface="Aptos Narrow" panose="020B0004020202020204" pitchFamily="34" charset="0"/>
                        </a:rPr>
                        <a:t>Housing Finance</a:t>
                      </a:r>
                    </a:p>
                  </a:txBody>
                  <a:tcPr marL="94546" marR="9380" marT="27013" marB="202599"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GB" sz="2800" b="1" i="0" u="sng" strike="noStrike" cap="none" spc="0" dirty="0">
                          <a:solidFill>
                            <a:schemeClr val="tx1"/>
                          </a:solidFill>
                          <a:effectLst/>
                          <a:latin typeface="Aptos Narrow" panose="020B0004020202020204" pitchFamily="34" charset="0"/>
                        </a:rPr>
                        <a:t>Mortgage Finance</a:t>
                      </a:r>
                    </a:p>
                  </a:txBody>
                  <a:tcPr marL="94546" marR="9380" marT="27013" marB="202599"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60289790"/>
                  </a:ext>
                </a:extLst>
              </a:tr>
              <a:tr h="823902">
                <a:tc>
                  <a:txBody>
                    <a:bodyPr/>
                    <a:lstStyle/>
                    <a:p>
                      <a:pPr algn="l" fontAlgn="ctr">
                        <a:buNone/>
                      </a:pPr>
                      <a:r>
                        <a:rPr lang="en-GB" sz="2200" b="1" i="0" u="none" strike="noStrike" cap="none" spc="0" dirty="0">
                          <a:solidFill>
                            <a:schemeClr val="tx1"/>
                          </a:solidFill>
                          <a:effectLst/>
                          <a:latin typeface="Aptos Narrow" panose="020B0004020202020204" pitchFamily="34" charset="0"/>
                        </a:rPr>
                        <a:t>Scope</a:t>
                      </a:r>
                    </a:p>
                  </a:txBody>
                  <a:tcPr marL="94546" marR="9380" marT="27013" marB="202599" anchor="ctr">
                    <a:lnL w="9525" cap="flat" cmpd="sng" algn="ctr">
                      <a:no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US" sz="2200" b="0" i="0" u="none" strike="noStrike" cap="none" spc="0">
                          <a:solidFill>
                            <a:schemeClr val="tx1"/>
                          </a:solidFill>
                          <a:effectLst/>
                          <a:latin typeface="Aptos Narrow" panose="020B0004020202020204" pitchFamily="34" charset="0"/>
                        </a:rPr>
                        <a:t>Broad – includes all housing-related financing</a:t>
                      </a:r>
                    </a:p>
                  </a:txBody>
                  <a:tcPr marL="94546" marR="9380" marT="27013" marB="202599" anchor="ctr">
                    <a:lnL w="12700" cmpd="sng">
                      <a:no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US" sz="2200" b="0" i="0" u="none" strike="noStrike" cap="none" spc="0">
                          <a:solidFill>
                            <a:schemeClr val="tx1"/>
                          </a:solidFill>
                          <a:effectLst/>
                          <a:latin typeface="Aptos Narrow" panose="020B0004020202020204" pitchFamily="34" charset="0"/>
                        </a:rPr>
                        <a:t>Narrow – limited to loans secured by property</a:t>
                      </a:r>
                    </a:p>
                  </a:txBody>
                  <a:tcPr marL="94546" marR="9380" marT="27013" marB="202599" anchor="ctr">
                    <a:lnL w="12700" cmpd="sng">
                      <a:no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xmlns="" val="2147037738"/>
                  </a:ext>
                </a:extLst>
              </a:tr>
              <a:tr h="823902">
                <a:tc>
                  <a:txBody>
                    <a:bodyPr/>
                    <a:lstStyle/>
                    <a:p>
                      <a:pPr algn="l" fontAlgn="ctr">
                        <a:buNone/>
                      </a:pPr>
                      <a:r>
                        <a:rPr lang="en-GB" sz="2200" b="1" i="0" u="none" strike="noStrike" cap="none" spc="0" dirty="0">
                          <a:solidFill>
                            <a:schemeClr val="tx1"/>
                          </a:solidFill>
                          <a:effectLst/>
                          <a:latin typeface="Aptos Narrow" panose="020B0004020202020204" pitchFamily="34" charset="0"/>
                        </a:rPr>
                        <a:t>Includes</a:t>
                      </a:r>
                    </a:p>
                  </a:txBody>
                  <a:tcPr marL="94546" marR="9380" marT="27013" marB="202599" anchor="ctr">
                    <a:lnL w="9525" cap="flat" cmpd="sng" algn="ctr">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GB" sz="2200" b="0" i="0" u="none" strike="noStrike" cap="none" spc="0">
                          <a:solidFill>
                            <a:schemeClr val="tx1"/>
                          </a:solidFill>
                          <a:effectLst/>
                          <a:latin typeface="Aptos Narrow" panose="020B0004020202020204" pitchFamily="34" charset="0"/>
                        </a:rPr>
                        <a:t>Home purchase, renovation, construction, developer finance</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2200" b="0" i="0" u="none" strike="noStrike" cap="none" spc="0">
                          <a:solidFill>
                            <a:schemeClr val="tx1"/>
                          </a:solidFill>
                          <a:effectLst/>
                          <a:latin typeface="Aptos Narrow" panose="020B0004020202020204" pitchFamily="34" charset="0"/>
                        </a:rPr>
                        <a:t>Home loans, loans against property</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xmlns="" val="3575522450"/>
                  </a:ext>
                </a:extLst>
              </a:tr>
              <a:tr h="553770">
                <a:tc>
                  <a:txBody>
                    <a:bodyPr/>
                    <a:lstStyle/>
                    <a:p>
                      <a:pPr algn="l" fontAlgn="ctr">
                        <a:buNone/>
                      </a:pPr>
                      <a:r>
                        <a:rPr lang="en-GB" sz="2200" b="1" i="0" u="none" strike="noStrike" cap="none" spc="0">
                          <a:solidFill>
                            <a:schemeClr val="tx1"/>
                          </a:solidFill>
                          <a:effectLst/>
                          <a:latin typeface="Aptos Narrow" panose="020B0004020202020204" pitchFamily="34" charset="0"/>
                        </a:rPr>
                        <a:t>Security Required</a:t>
                      </a:r>
                    </a:p>
                  </a:txBody>
                  <a:tcPr marL="94546" marR="9380" marT="27013" marB="202599" anchor="ctr">
                    <a:lnL w="9525" cap="flat" cmpd="sng" algn="ctr">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US" sz="2200" b="0" i="0" u="none" strike="noStrike" cap="none" spc="0">
                          <a:solidFill>
                            <a:schemeClr val="tx1"/>
                          </a:solidFill>
                          <a:effectLst/>
                          <a:latin typeface="Aptos Narrow" panose="020B0004020202020204" pitchFamily="34" charset="0"/>
                        </a:rPr>
                        <a:t>Not always (e.g., builder loans may be unsecured initially)</a:t>
                      </a:r>
                    </a:p>
                  </a:txBody>
                  <a:tcPr marL="94546" marR="9380" marT="27013" marB="202599" anchor="ctr">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GB" sz="2200" b="0" i="0" u="none" strike="noStrike" cap="none" spc="0">
                          <a:solidFill>
                            <a:schemeClr val="tx1"/>
                          </a:solidFill>
                          <a:effectLst/>
                          <a:latin typeface="Aptos Narrow" panose="020B0004020202020204" pitchFamily="34" charset="0"/>
                        </a:rPr>
                        <a:t>Always involves collateral (mortgage)</a:t>
                      </a:r>
                    </a:p>
                  </a:txBody>
                  <a:tcPr marL="94546" marR="9380" marT="27013" marB="202599" anchor="ctr">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xmlns="" val="3105478426"/>
                  </a:ext>
                </a:extLst>
              </a:tr>
              <a:tr h="553770">
                <a:tc>
                  <a:txBody>
                    <a:bodyPr/>
                    <a:lstStyle/>
                    <a:p>
                      <a:pPr algn="l" fontAlgn="ctr">
                        <a:buNone/>
                      </a:pPr>
                      <a:r>
                        <a:rPr lang="en-GB" sz="2200" b="1" i="0" u="none" strike="noStrike" cap="none" spc="0">
                          <a:solidFill>
                            <a:schemeClr val="tx1"/>
                          </a:solidFill>
                          <a:effectLst/>
                          <a:latin typeface="Aptos Narrow" panose="020B0004020202020204" pitchFamily="34" charset="0"/>
                        </a:rPr>
                        <a:t>Borrowers</a:t>
                      </a:r>
                    </a:p>
                  </a:txBody>
                  <a:tcPr marL="94546" marR="9380" marT="27013" marB="202599" anchor="ctr">
                    <a:lnL w="9525" cap="flat" cmpd="sng" algn="ctr">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GB" sz="2200" b="0" i="0" u="none" strike="noStrike" cap="none" spc="0" dirty="0">
                          <a:solidFill>
                            <a:schemeClr val="tx1"/>
                          </a:solidFill>
                          <a:effectLst/>
                          <a:latin typeface="Aptos Narrow" panose="020B0004020202020204" pitchFamily="34" charset="0"/>
                        </a:rPr>
                        <a:t>Individuals, builders, institutions, government</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GB" sz="2200" b="0" i="0" u="none" strike="noStrike" cap="none" spc="0">
                          <a:solidFill>
                            <a:schemeClr val="tx1"/>
                          </a:solidFill>
                          <a:effectLst/>
                          <a:latin typeface="Aptos Narrow" panose="020B0004020202020204" pitchFamily="34" charset="0"/>
                        </a:rPr>
                        <a:t>Mostly individuals</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xmlns="" val="4021899011"/>
                  </a:ext>
                </a:extLst>
              </a:tr>
              <a:tr h="553770">
                <a:tc>
                  <a:txBody>
                    <a:bodyPr/>
                    <a:lstStyle/>
                    <a:p>
                      <a:pPr algn="l" fontAlgn="ctr">
                        <a:buNone/>
                      </a:pPr>
                      <a:r>
                        <a:rPr lang="en-GB" sz="2200" b="1" i="0" u="none" strike="noStrike" cap="none" spc="0">
                          <a:solidFill>
                            <a:schemeClr val="tx1"/>
                          </a:solidFill>
                          <a:effectLst/>
                          <a:latin typeface="Aptos Narrow" panose="020B0004020202020204" pitchFamily="34" charset="0"/>
                        </a:rPr>
                        <a:t>Collateral</a:t>
                      </a:r>
                    </a:p>
                  </a:txBody>
                  <a:tcPr marL="94546" marR="9380" marT="27013" marB="202599" anchor="ctr">
                    <a:lnL w="9525" cap="flat" cmpd="sng" algn="ctr">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US" sz="2200" b="0" i="0" u="none" strike="noStrike" cap="none" spc="0" dirty="0">
                          <a:solidFill>
                            <a:schemeClr val="tx1"/>
                          </a:solidFill>
                          <a:effectLst/>
                          <a:latin typeface="Aptos Narrow" panose="020B0004020202020204" pitchFamily="34" charset="0"/>
                        </a:rPr>
                        <a:t>May or may not involve property</a:t>
                      </a:r>
                    </a:p>
                  </a:txBody>
                  <a:tcPr marL="94546" marR="9380" marT="27013" marB="202599" anchor="ctr">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gn="l" fontAlgn="ctr">
                        <a:buNone/>
                      </a:pPr>
                      <a:r>
                        <a:rPr lang="en-US" sz="2200" b="0" i="0" u="none" strike="noStrike" cap="none" spc="0">
                          <a:solidFill>
                            <a:schemeClr val="tx1"/>
                          </a:solidFill>
                          <a:effectLst/>
                          <a:latin typeface="Aptos Narrow" panose="020B0004020202020204" pitchFamily="34" charset="0"/>
                        </a:rPr>
                        <a:t>Always involves property as security</a:t>
                      </a:r>
                    </a:p>
                  </a:txBody>
                  <a:tcPr marL="94546" marR="9380" marT="27013" marB="202599" anchor="ctr">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xmlns="" val="1773875574"/>
                  </a:ext>
                </a:extLst>
              </a:tr>
              <a:tr h="823902">
                <a:tc>
                  <a:txBody>
                    <a:bodyPr/>
                    <a:lstStyle/>
                    <a:p>
                      <a:pPr algn="l" fontAlgn="ctr">
                        <a:buNone/>
                      </a:pPr>
                      <a:r>
                        <a:rPr lang="en-GB" sz="2200" b="1" i="0" u="none" strike="noStrike" cap="none" spc="0">
                          <a:solidFill>
                            <a:schemeClr val="tx1"/>
                          </a:solidFill>
                          <a:effectLst/>
                          <a:latin typeface="Aptos Narrow" panose="020B0004020202020204" pitchFamily="34" charset="0"/>
                        </a:rPr>
                        <a:t>Use Case Example</a:t>
                      </a:r>
                    </a:p>
                  </a:txBody>
                  <a:tcPr marL="94546" marR="9380" marT="27013" marB="202599" anchor="ctr">
                    <a:lnL w="9525" cap="flat" cmpd="sng" algn="ctr">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2200" b="0" i="0" u="none" strike="noStrike" cap="none" spc="0" dirty="0">
                          <a:solidFill>
                            <a:schemeClr val="tx1"/>
                          </a:solidFill>
                          <a:effectLst/>
                          <a:latin typeface="Aptos Narrow" panose="020B0004020202020204" pitchFamily="34" charset="0"/>
                        </a:rPr>
                        <a:t>Loan to build a housing project</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2200" b="0" i="0" u="none" strike="noStrike" cap="none" spc="0" dirty="0">
                          <a:solidFill>
                            <a:schemeClr val="tx1"/>
                          </a:solidFill>
                          <a:effectLst/>
                          <a:latin typeface="Aptos Narrow" panose="020B0004020202020204" pitchFamily="34" charset="0"/>
                        </a:rPr>
                        <a:t>Loan to buy a flat using the flat as collateral</a:t>
                      </a:r>
                    </a:p>
                  </a:txBody>
                  <a:tcPr marL="94546" marR="9380" marT="27013" marB="202599" anchor="ctr">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xmlns="" val="2826457430"/>
                  </a:ext>
                </a:extLst>
              </a:tr>
            </a:tbl>
          </a:graphicData>
        </a:graphic>
      </p:graphicFrame>
    </p:spTree>
    <p:extLst>
      <p:ext uri="{BB962C8B-B14F-4D97-AF65-F5344CB8AC3E}">
        <p14:creationId xmlns:p14="http://schemas.microsoft.com/office/powerpoint/2010/main" xmlns="" val="1907362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70DFC902-7D23-471A-B557-B6B6917D7A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2E781CF-8C8B-970A-EE54-980B5E3ADF2E}"/>
              </a:ext>
            </a:extLst>
          </p:cNvPr>
          <p:cNvSpPr>
            <a:spLocks noGrp="1"/>
          </p:cNvSpPr>
          <p:nvPr>
            <p:ph type="title"/>
          </p:nvPr>
        </p:nvSpPr>
        <p:spPr>
          <a:xfrm>
            <a:off x="1156851" y="637762"/>
            <a:ext cx="9888496" cy="900131"/>
          </a:xfrm>
        </p:spPr>
        <p:txBody>
          <a:bodyPr anchor="t">
            <a:normAutofit/>
          </a:bodyPr>
          <a:lstStyle/>
          <a:p>
            <a:r>
              <a:rPr lang="en-US" sz="4000" dirty="0">
                <a:solidFill>
                  <a:schemeClr val="bg1"/>
                </a:solidFill>
              </a:rPr>
              <a:t>Early Development (1950s–1970s)</a:t>
            </a:r>
            <a:endParaRPr lang="en-GB" sz="4000" dirty="0">
              <a:solidFill>
                <a:schemeClr val="bg1"/>
              </a:solidFill>
            </a:endParaRPr>
          </a:p>
        </p:txBody>
      </p:sp>
      <p:sp>
        <p:nvSpPr>
          <p:cNvPr id="10" name="Rectangle 9">
            <a:extLst>
              <a:ext uri="{FF2B5EF4-FFF2-40B4-BE49-F238E27FC236}">
                <a16:creationId xmlns:a16="http://schemas.microsoft.com/office/drawing/2014/main" xmlns="" id="{A55D5633-D557-4DCA-982C-FF36EB7A1C0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450D3AD2-FA80-415F-A9CE-54D884561C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7650D56E-141D-9915-AF6C-51C4D3B355EE}"/>
              </a:ext>
            </a:extLst>
          </p:cNvPr>
          <p:cNvSpPr>
            <a:spLocks noGrp="1"/>
          </p:cNvSpPr>
          <p:nvPr>
            <p:ph idx="1"/>
          </p:nvPr>
        </p:nvSpPr>
        <p:spPr>
          <a:xfrm>
            <a:off x="1155548" y="2217343"/>
            <a:ext cx="9880893" cy="3959619"/>
          </a:xfrm>
        </p:spPr>
        <p:txBody>
          <a:bodyPr>
            <a:normAutofit/>
          </a:bodyPr>
          <a:lstStyle/>
          <a:p>
            <a:r>
              <a:rPr lang="en-US" sz="2400" dirty="0"/>
              <a:t>Housing seen as a </a:t>
            </a:r>
            <a:r>
              <a:rPr lang="en-US" sz="2400" b="1" dirty="0"/>
              <a:t>social need</a:t>
            </a:r>
            <a:r>
              <a:rPr lang="en-US" sz="2400" dirty="0"/>
              <a:t>, not an economic driver</a:t>
            </a:r>
          </a:p>
          <a:p>
            <a:r>
              <a:rPr lang="en-US" sz="2400" dirty="0"/>
              <a:t>Focus on </a:t>
            </a:r>
            <a:r>
              <a:rPr lang="en-US" sz="2400" b="1" dirty="0"/>
              <a:t>public sector</a:t>
            </a:r>
            <a:r>
              <a:rPr lang="en-US" sz="2400" dirty="0"/>
              <a:t> and </a:t>
            </a:r>
            <a:r>
              <a:rPr lang="en-US" sz="2400" b="1" dirty="0"/>
              <a:t>welfare housing</a:t>
            </a:r>
            <a:endParaRPr lang="en-US" sz="2400" dirty="0"/>
          </a:p>
          <a:p>
            <a:r>
              <a:rPr lang="en-US" sz="2400" b="1" dirty="0"/>
              <a:t>Fourth Five-Year Plan (1969–1974)</a:t>
            </a:r>
            <a:r>
              <a:rPr lang="en-US" sz="2400" dirty="0"/>
              <a:t>: Shift towards encouraging private and cooperative housing</a:t>
            </a:r>
          </a:p>
          <a:p>
            <a:r>
              <a:rPr lang="en-US" sz="2400" dirty="0"/>
              <a:t>Rise of </a:t>
            </a:r>
            <a:r>
              <a:rPr lang="en-US" sz="2400" b="1" dirty="0"/>
              <a:t>cooperative housing societies</a:t>
            </a:r>
            <a:endParaRPr lang="en-US" sz="2400" dirty="0"/>
          </a:p>
          <a:p>
            <a:pPr marL="0" indent="0">
              <a:buNone/>
            </a:pPr>
            <a:r>
              <a:rPr lang="en-US" sz="2400" b="1" dirty="0"/>
              <a:t>Example</a:t>
            </a:r>
            <a:r>
              <a:rPr lang="en-US" sz="2400" dirty="0"/>
              <a:t>:</a:t>
            </a:r>
            <a:br>
              <a:rPr lang="en-US" sz="2400" dirty="0"/>
            </a:br>
            <a:r>
              <a:rPr lang="en-US" sz="2400" dirty="0"/>
              <a:t>Maharashtra and Gujarat — middle-class families pooled savings to build apartments under cooperative housing societies</a:t>
            </a:r>
          </a:p>
        </p:txBody>
      </p:sp>
    </p:spTree>
    <p:extLst>
      <p:ext uri="{BB962C8B-B14F-4D97-AF65-F5344CB8AC3E}">
        <p14:creationId xmlns:p14="http://schemas.microsoft.com/office/powerpoint/2010/main" xmlns="" val="4239804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xmlns="" id="{23E547B5-89CF-4EC0-96DE-25771AED07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3F0B8CEB-8279-4E5E-A0CE-1FC9F71736F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BA77353-43BE-44D8-054F-9A422E2A4821}"/>
              </a:ext>
            </a:extLst>
          </p:cNvPr>
          <p:cNvSpPr>
            <a:spLocks noGrp="1"/>
          </p:cNvSpPr>
          <p:nvPr>
            <p:ph type="title"/>
          </p:nvPr>
        </p:nvSpPr>
        <p:spPr>
          <a:xfrm>
            <a:off x="7320466" y="609600"/>
            <a:ext cx="4140014" cy="1330839"/>
          </a:xfrm>
        </p:spPr>
        <p:txBody>
          <a:bodyPr>
            <a:normAutofit/>
          </a:bodyPr>
          <a:lstStyle/>
          <a:p>
            <a:r>
              <a:rPr lang="en-US" sz="2800" b="1"/>
              <a:t>Growth of Formal Housing Finance (1970s–1980s)</a:t>
            </a:r>
            <a:endParaRPr lang="en-GB" sz="2800"/>
          </a:p>
        </p:txBody>
      </p:sp>
      <p:pic>
        <p:nvPicPr>
          <p:cNvPr id="5" name="Picture 4" descr="House line vector icons">
            <a:extLst>
              <a:ext uri="{FF2B5EF4-FFF2-40B4-BE49-F238E27FC236}">
                <a16:creationId xmlns:a16="http://schemas.microsoft.com/office/drawing/2014/main" xmlns="" id="{A0F94516-B8C5-2020-E242-2A54969D98C5}"/>
              </a:ext>
            </a:extLst>
          </p:cNvPr>
          <p:cNvPicPr>
            <a:picLocks noChangeAspect="1"/>
          </p:cNvPicPr>
          <p:nvPr/>
        </p:nvPicPr>
        <p:blipFill>
          <a:blip r:embed="rId2"/>
          <a:srcRect l="10877" r="10875" b="-2"/>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xmlns="" id="{E41F2E53-ECD2-2079-AF3C-FB5AEDCD572E}"/>
              </a:ext>
            </a:extLst>
          </p:cNvPr>
          <p:cNvSpPr>
            <a:spLocks noGrp="1"/>
          </p:cNvSpPr>
          <p:nvPr>
            <p:ph idx="1"/>
          </p:nvPr>
        </p:nvSpPr>
        <p:spPr>
          <a:xfrm>
            <a:off x="6901731" y="1940439"/>
            <a:ext cx="5059610" cy="4162249"/>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sz="1800" b="1" dirty="0"/>
              <a:t>HUDCO (1970)</a:t>
            </a:r>
            <a:r>
              <a:rPr lang="en-US" sz="1800" dirty="0"/>
              <a:t>:</a:t>
            </a:r>
          </a:p>
          <a:p>
            <a:pPr lvl="1"/>
            <a:r>
              <a:rPr lang="en-US" sz="1800" dirty="0"/>
              <a:t>Bulk loans to housing boards and low-income housing</a:t>
            </a:r>
          </a:p>
          <a:p>
            <a:r>
              <a:rPr lang="en-US" sz="1800" b="1" dirty="0"/>
              <a:t>HDFC (1977)</a:t>
            </a:r>
            <a:r>
              <a:rPr lang="en-US" sz="1800" dirty="0"/>
              <a:t>:</a:t>
            </a:r>
          </a:p>
          <a:p>
            <a:pPr lvl="1"/>
            <a:r>
              <a:rPr lang="en-US" sz="1800" dirty="0"/>
              <a:t>First retail housing finance company</a:t>
            </a:r>
          </a:p>
          <a:p>
            <a:pPr lvl="1"/>
            <a:r>
              <a:rPr lang="en-US" sz="1800" dirty="0"/>
              <a:t>Introduced systematic loan appraisal and repayment</a:t>
            </a:r>
          </a:p>
          <a:p>
            <a:r>
              <a:rPr lang="en-US" sz="1800" b="1" dirty="0"/>
              <a:t>NHB (1988)</a:t>
            </a:r>
            <a:r>
              <a:rPr lang="en-US" sz="1800" dirty="0"/>
              <a:t>:</a:t>
            </a:r>
          </a:p>
          <a:p>
            <a:pPr lvl="1"/>
            <a:r>
              <a:rPr lang="en-US" sz="1800" dirty="0"/>
              <a:t>Apex institution for refinance, promotion, and regulation</a:t>
            </a:r>
          </a:p>
          <a:p>
            <a:pPr marL="0" indent="0">
              <a:buNone/>
            </a:pPr>
            <a:r>
              <a:rPr lang="en-US" sz="1800" b="1" dirty="0"/>
              <a:t>Example</a:t>
            </a:r>
            <a:r>
              <a:rPr lang="en-US" sz="1800" dirty="0"/>
              <a:t>:</a:t>
            </a:r>
            <a:br>
              <a:rPr lang="en-US" sz="1800" dirty="0"/>
            </a:br>
            <a:r>
              <a:rPr lang="en-US" sz="1800" dirty="0"/>
              <a:t>A salaried employee in 1980s Delhi could finally access long-term home loans from HDFC — a game-changer for the middle class.</a:t>
            </a:r>
          </a:p>
        </p:txBody>
      </p:sp>
    </p:spTree>
    <p:extLst>
      <p:ext uri="{BB962C8B-B14F-4D97-AF65-F5344CB8AC3E}">
        <p14:creationId xmlns:p14="http://schemas.microsoft.com/office/powerpoint/2010/main" xmlns="" val="2548279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xmlns="" id="{3ECBE1F1-D69B-4AFA-ABD5-8E41720EF6D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midsection of a person holding a miniature house">
            <a:extLst>
              <a:ext uri="{FF2B5EF4-FFF2-40B4-BE49-F238E27FC236}">
                <a16:creationId xmlns:a16="http://schemas.microsoft.com/office/drawing/2014/main" xmlns="" id="{FEBE74B1-1624-695F-A149-271939252120}"/>
              </a:ext>
            </a:extLst>
          </p:cNvPr>
          <p:cNvPicPr>
            <a:picLocks noChangeAspect="1"/>
          </p:cNvPicPr>
          <p:nvPr/>
        </p:nvPicPr>
        <p:blipFill>
          <a:blip r:embed="rId2"/>
          <a:srcRect l="25985" r="24314" b="-1"/>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xmlns="" id="{603A6265-E10C-4B85-9C20-E75FCAF9CC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FAFF22C-2F4A-77D5-579F-BBD17DB30A8B}"/>
              </a:ext>
            </a:extLst>
          </p:cNvPr>
          <p:cNvSpPr>
            <a:spLocks noGrp="1"/>
          </p:cNvSpPr>
          <p:nvPr>
            <p:ph type="title"/>
          </p:nvPr>
        </p:nvSpPr>
        <p:spPr>
          <a:xfrm>
            <a:off x="6115317" y="405685"/>
            <a:ext cx="5464968" cy="1559301"/>
          </a:xfrm>
        </p:spPr>
        <p:txBody>
          <a:bodyPr>
            <a:normAutofit/>
          </a:bodyPr>
          <a:lstStyle/>
          <a:p>
            <a:r>
              <a:rPr lang="en-US" sz="4000" b="1"/>
              <a:t>Role of Banks in Housing Finance</a:t>
            </a:r>
            <a:endParaRPr lang="en-GB" sz="4000"/>
          </a:p>
        </p:txBody>
      </p:sp>
      <p:sp>
        <p:nvSpPr>
          <p:cNvPr id="3" name="Content Placeholder 2">
            <a:extLst>
              <a:ext uri="{FF2B5EF4-FFF2-40B4-BE49-F238E27FC236}">
                <a16:creationId xmlns:a16="http://schemas.microsoft.com/office/drawing/2014/main" xmlns="" id="{BB309953-7334-E39F-E082-A5D332708774}"/>
              </a:ext>
            </a:extLst>
          </p:cNvPr>
          <p:cNvSpPr>
            <a:spLocks noGrp="1"/>
          </p:cNvSpPr>
          <p:nvPr>
            <p:ph idx="1"/>
          </p:nvPr>
        </p:nvSpPr>
        <p:spPr>
          <a:xfrm>
            <a:off x="5807676" y="1964986"/>
            <a:ext cx="5554981" cy="4275092"/>
          </a:xfrm>
        </p:spPr>
        <p:style>
          <a:lnRef idx="2">
            <a:schemeClr val="dk1"/>
          </a:lnRef>
          <a:fillRef idx="1">
            <a:schemeClr val="lt1"/>
          </a:fillRef>
          <a:effectRef idx="0">
            <a:schemeClr val="dk1"/>
          </a:effectRef>
          <a:fontRef idx="minor">
            <a:schemeClr val="dk1"/>
          </a:fontRef>
        </p:style>
        <p:txBody>
          <a:bodyPr anchor="ctr">
            <a:normAutofit/>
          </a:bodyPr>
          <a:lstStyle/>
          <a:p>
            <a:r>
              <a:rPr lang="en-US" sz="2000" dirty="0"/>
              <a:t>Until 1980s, banks had little exposure to housing</a:t>
            </a:r>
          </a:p>
          <a:p>
            <a:r>
              <a:rPr lang="en-US" sz="2000" b="1" dirty="0"/>
              <a:t>RBI interventions</a:t>
            </a:r>
            <a:r>
              <a:rPr lang="en-US" sz="2000" dirty="0"/>
              <a:t> pushed banks into housing finance</a:t>
            </a:r>
          </a:p>
          <a:p>
            <a:r>
              <a:rPr lang="en-US" sz="2000" b="1" dirty="0"/>
              <a:t>Priority Sector Lending (PSL)</a:t>
            </a:r>
            <a:r>
              <a:rPr lang="en-US" sz="2000" dirty="0"/>
              <a:t>: Housing loans included in PSL by 1990s</a:t>
            </a:r>
          </a:p>
          <a:p>
            <a:r>
              <a:rPr lang="en-US" sz="2000" dirty="0"/>
              <a:t>Enabled loans for purchase, construction, and renovation</a:t>
            </a:r>
          </a:p>
          <a:p>
            <a:pPr marL="0" indent="0">
              <a:buNone/>
            </a:pPr>
            <a:r>
              <a:rPr lang="en-US" sz="2000" b="1" dirty="0"/>
              <a:t>Example</a:t>
            </a:r>
            <a:r>
              <a:rPr lang="en-US" sz="2000" dirty="0"/>
              <a:t>:</a:t>
            </a:r>
            <a:br>
              <a:rPr lang="en-US" sz="2000" dirty="0"/>
            </a:br>
            <a:r>
              <a:rPr lang="en-US" sz="2000" dirty="0"/>
              <a:t>In 1990s Chennai, families could approach public sector banks like Indian Bank or SBI under PSL for low-cost housing loans.</a:t>
            </a:r>
          </a:p>
          <a:p>
            <a:endParaRPr lang="en-GB" sz="1800" dirty="0"/>
          </a:p>
        </p:txBody>
      </p:sp>
    </p:spTree>
    <p:extLst>
      <p:ext uri="{BB962C8B-B14F-4D97-AF65-F5344CB8AC3E}">
        <p14:creationId xmlns:p14="http://schemas.microsoft.com/office/powerpoint/2010/main" xmlns="" val="291538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907EF6B7-1338-4443-8C46-6A318D952D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DAAE4CDD-124C-4DCF-9584-B6033B545DD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3A5318D-90A5-187A-FBED-B2706A33B237}"/>
              </a:ext>
            </a:extLst>
          </p:cNvPr>
          <p:cNvSpPr>
            <a:spLocks noGrp="1"/>
          </p:cNvSpPr>
          <p:nvPr>
            <p:ph type="title"/>
          </p:nvPr>
        </p:nvSpPr>
        <p:spPr>
          <a:xfrm>
            <a:off x="686834" y="1153572"/>
            <a:ext cx="3200400" cy="4461163"/>
          </a:xfrm>
        </p:spPr>
        <p:txBody>
          <a:bodyPr>
            <a:normAutofit/>
          </a:bodyPr>
          <a:lstStyle/>
          <a:p>
            <a:r>
              <a:rPr lang="en-US" sz="3400" b="1">
                <a:solidFill>
                  <a:srgbClr val="FFFFFF"/>
                </a:solidFill>
              </a:rPr>
              <a:t>Market Transformation – Post Liberalization</a:t>
            </a:r>
            <a:endParaRPr lang="en-GB" sz="3400">
              <a:solidFill>
                <a:srgbClr val="FFFFFF"/>
              </a:solidFill>
            </a:endParaRPr>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CC3309CC-38B2-B503-F5D0-31B0D9EC9F41}"/>
              </a:ext>
            </a:extLst>
          </p:cNvPr>
          <p:cNvSpPr>
            <a:spLocks noGrp="1"/>
          </p:cNvSpPr>
          <p:nvPr>
            <p:ph idx="1"/>
          </p:nvPr>
        </p:nvSpPr>
        <p:spPr>
          <a:xfrm>
            <a:off x="4447308" y="591344"/>
            <a:ext cx="6906491" cy="5585619"/>
          </a:xfrm>
        </p:spPr>
        <p:txBody>
          <a:bodyPr anchor="ctr">
            <a:normAutofit/>
          </a:bodyPr>
          <a:lstStyle/>
          <a:p>
            <a:r>
              <a:rPr lang="en-US" b="1" dirty="0"/>
              <a:t>1990s onward</a:t>
            </a:r>
            <a:r>
              <a:rPr lang="en-US" dirty="0"/>
              <a:t>: Economic reforms opened financial markets</a:t>
            </a:r>
          </a:p>
          <a:p>
            <a:r>
              <a:rPr lang="en-US" dirty="0"/>
              <a:t>Entry of </a:t>
            </a:r>
            <a:r>
              <a:rPr lang="en-US" b="1" dirty="0"/>
              <a:t>private banks</a:t>
            </a:r>
            <a:r>
              <a:rPr lang="en-US" dirty="0"/>
              <a:t> and competition</a:t>
            </a:r>
          </a:p>
          <a:p>
            <a:r>
              <a:rPr lang="en-US" dirty="0"/>
              <a:t>Shift from </a:t>
            </a:r>
            <a:r>
              <a:rPr lang="en-US" b="1" dirty="0"/>
              <a:t>seller’s market</a:t>
            </a:r>
            <a:r>
              <a:rPr lang="en-US" dirty="0"/>
              <a:t> to </a:t>
            </a:r>
            <a:r>
              <a:rPr lang="en-US" b="1" dirty="0"/>
              <a:t>buyer’s market</a:t>
            </a:r>
            <a:endParaRPr lang="en-US" dirty="0"/>
          </a:p>
          <a:p>
            <a:r>
              <a:rPr lang="en-US" dirty="0"/>
              <a:t>Interest rates reduced, loan options increased</a:t>
            </a:r>
          </a:p>
          <a:p>
            <a:pPr marL="0" indent="0">
              <a:buNone/>
            </a:pPr>
            <a:r>
              <a:rPr lang="en-US" b="1" dirty="0"/>
              <a:t>Example</a:t>
            </a:r>
            <a:r>
              <a:rPr lang="en-US" dirty="0"/>
              <a:t>:</a:t>
            </a:r>
            <a:br>
              <a:rPr lang="en-US" dirty="0"/>
            </a:br>
            <a:r>
              <a:rPr lang="en-US" dirty="0"/>
              <a:t>Early 2000s, homebuyers in Bangalore could choose from multiple lenders — HDFC, ICICI, SBI, LIC HFL — with competitive offers.</a:t>
            </a:r>
          </a:p>
          <a:p>
            <a:endParaRPr lang="en-GB" dirty="0"/>
          </a:p>
        </p:txBody>
      </p:sp>
    </p:spTree>
    <p:extLst>
      <p:ext uri="{BB962C8B-B14F-4D97-AF65-F5344CB8AC3E}">
        <p14:creationId xmlns:p14="http://schemas.microsoft.com/office/powerpoint/2010/main" xmlns="" val="1444915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xmlns="" id="{C0763A76-9F1C-4FC5-82B7-DD475DA461B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xmlns="" id="{E81BF4F6-F2CF-4984-9D14-D6966D92F9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B2A9E3C6-C77C-C902-194B-9E2C876D858C}"/>
              </a:ext>
            </a:extLst>
          </p:cNvPr>
          <p:cNvSpPr>
            <a:spLocks noGrp="1"/>
          </p:cNvSpPr>
          <p:nvPr>
            <p:ph type="title"/>
          </p:nvPr>
        </p:nvSpPr>
        <p:spPr>
          <a:xfrm>
            <a:off x="761803" y="350196"/>
            <a:ext cx="4646904" cy="1624520"/>
          </a:xfrm>
        </p:spPr>
        <p:txBody>
          <a:bodyPr anchor="ctr">
            <a:normAutofit/>
          </a:bodyPr>
          <a:lstStyle/>
          <a:p>
            <a:r>
              <a:rPr lang="en-US" sz="4000" b="1"/>
              <a:t>Loan Structures and Affordability</a:t>
            </a:r>
            <a:endParaRPr lang="en-GB" sz="4000"/>
          </a:p>
        </p:txBody>
      </p:sp>
      <p:sp>
        <p:nvSpPr>
          <p:cNvPr id="3" name="Content Placeholder 2">
            <a:extLst>
              <a:ext uri="{FF2B5EF4-FFF2-40B4-BE49-F238E27FC236}">
                <a16:creationId xmlns:a16="http://schemas.microsoft.com/office/drawing/2014/main" xmlns="" id="{B37E69C7-E1C3-4C92-27C5-9AD6218C2362}"/>
              </a:ext>
            </a:extLst>
          </p:cNvPr>
          <p:cNvSpPr>
            <a:spLocks noGrp="1"/>
          </p:cNvSpPr>
          <p:nvPr>
            <p:ph idx="1"/>
          </p:nvPr>
        </p:nvSpPr>
        <p:spPr>
          <a:xfrm>
            <a:off x="761802" y="1974717"/>
            <a:ext cx="5120014" cy="4403860"/>
          </a:xfrm>
        </p:spPr>
        <p:style>
          <a:lnRef idx="2">
            <a:schemeClr val="dk1"/>
          </a:lnRef>
          <a:fillRef idx="1">
            <a:schemeClr val="lt1"/>
          </a:fillRef>
          <a:effectRef idx="0">
            <a:schemeClr val="dk1"/>
          </a:effectRef>
          <a:fontRef idx="minor">
            <a:schemeClr val="dk1"/>
          </a:fontRef>
        </p:style>
        <p:txBody>
          <a:bodyPr anchor="ctr">
            <a:normAutofit/>
          </a:bodyPr>
          <a:lstStyle/>
          <a:p>
            <a:r>
              <a:rPr lang="en-US" sz="1900" dirty="0"/>
              <a:t>Loan tenures increased: 10 → 20 years</a:t>
            </a:r>
          </a:p>
          <a:p>
            <a:r>
              <a:rPr lang="en-US" sz="1900" dirty="0"/>
              <a:t>Lower EMIs via longer terms</a:t>
            </a:r>
          </a:p>
          <a:p>
            <a:r>
              <a:rPr lang="en-US" sz="1900" dirty="0"/>
              <a:t>New repayment models:</a:t>
            </a:r>
          </a:p>
          <a:p>
            <a:pPr lvl="1"/>
            <a:r>
              <a:rPr lang="en-US" sz="1900" b="1" dirty="0"/>
              <a:t>Step-up EMIs</a:t>
            </a:r>
            <a:r>
              <a:rPr lang="en-US" sz="1900" dirty="0"/>
              <a:t>: Increase with income growth</a:t>
            </a:r>
          </a:p>
          <a:p>
            <a:pPr lvl="1"/>
            <a:r>
              <a:rPr lang="en-US" sz="1900" b="1" dirty="0"/>
              <a:t>Prepayment flexibility</a:t>
            </a:r>
            <a:endParaRPr lang="en-US" sz="1900" dirty="0"/>
          </a:p>
          <a:p>
            <a:r>
              <a:rPr lang="en-US" sz="1900" dirty="0"/>
              <a:t>Loans now available for:</a:t>
            </a:r>
          </a:p>
          <a:p>
            <a:pPr lvl="1"/>
            <a:r>
              <a:rPr lang="en-US" sz="1900" dirty="0"/>
              <a:t>Purchase, improvement, extension, repair</a:t>
            </a:r>
          </a:p>
          <a:p>
            <a:pPr marL="0" indent="0">
              <a:buNone/>
            </a:pPr>
            <a:r>
              <a:rPr lang="en-US" sz="1900" b="1" dirty="0"/>
              <a:t>Example</a:t>
            </a:r>
            <a:r>
              <a:rPr lang="en-US" sz="1900" dirty="0"/>
              <a:t>:</a:t>
            </a:r>
            <a:br>
              <a:rPr lang="en-US" sz="1900" dirty="0"/>
            </a:br>
            <a:r>
              <a:rPr lang="en-US" sz="1900" dirty="0"/>
              <a:t>Young IT professionals in cities like Pune could take a 20-year loan early in their career, boosting early home ownership.</a:t>
            </a:r>
          </a:p>
          <a:p>
            <a:endParaRPr lang="en-GB" sz="1600" dirty="0"/>
          </a:p>
        </p:txBody>
      </p:sp>
      <p:pic>
        <p:nvPicPr>
          <p:cNvPr id="5" name="Picture 4" descr="3D design of a city in white">
            <a:extLst>
              <a:ext uri="{FF2B5EF4-FFF2-40B4-BE49-F238E27FC236}">
                <a16:creationId xmlns:a16="http://schemas.microsoft.com/office/drawing/2014/main" xmlns="" id="{1441580C-8351-01AD-3D97-2C115617AD25}"/>
              </a:ext>
            </a:extLst>
          </p:cNvPr>
          <p:cNvPicPr>
            <a:picLocks noChangeAspect="1"/>
          </p:cNvPicPr>
          <p:nvPr/>
        </p:nvPicPr>
        <p:blipFill>
          <a:blip r:embed="rId2"/>
          <a:srcRect l="23143" r="26356" b="-2"/>
          <a:stretch>
            <a:fillRect/>
          </a:stretch>
        </p:blipFill>
        <p:spPr>
          <a:xfrm>
            <a:off x="6096000" y="1"/>
            <a:ext cx="6102825" cy="6858000"/>
          </a:xfrm>
          <a:prstGeom prst="rect">
            <a:avLst/>
          </a:prstGeom>
        </p:spPr>
      </p:pic>
    </p:spTree>
    <p:extLst>
      <p:ext uri="{BB962C8B-B14F-4D97-AF65-F5344CB8AC3E}">
        <p14:creationId xmlns:p14="http://schemas.microsoft.com/office/powerpoint/2010/main" xmlns="" val="11995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C799903-48D5-4A31-A1A2-541072D9771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xmlns="" id="{8EFFF109-FC58-4FD3-BE05-9775A1310F5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6E6E6"/>
            </a:solidFill>
          </a:ln>
          <a:effectLst>
            <a:outerShdw blurRad="508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xmlns="" id="{E1B96AD6-92A9-4273-A62B-96A1C3E0BA9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C38A69C7-D92C-0BB3-1242-BDBFA7272989}"/>
              </a:ext>
            </a:extLst>
          </p:cNvPr>
          <p:cNvSpPr>
            <a:spLocks noGrp="1"/>
          </p:cNvSpPr>
          <p:nvPr>
            <p:ph type="title"/>
          </p:nvPr>
        </p:nvSpPr>
        <p:spPr>
          <a:xfrm>
            <a:off x="621792" y="1161288"/>
            <a:ext cx="3602736" cy="4526280"/>
          </a:xfrm>
        </p:spPr>
        <p:txBody>
          <a:bodyPr>
            <a:normAutofit/>
          </a:bodyPr>
          <a:lstStyle/>
          <a:p>
            <a:r>
              <a:rPr lang="en-US" sz="4000" b="1"/>
              <a:t>Tax Incentives and Home Loans</a:t>
            </a:r>
            <a:endParaRPr lang="en-GB" sz="4000"/>
          </a:p>
        </p:txBody>
      </p:sp>
      <p:sp>
        <p:nvSpPr>
          <p:cNvPr id="14" name="Rectangle 13">
            <a:extLst>
              <a:ext uri="{FF2B5EF4-FFF2-40B4-BE49-F238E27FC236}">
                <a16:creationId xmlns:a16="http://schemas.microsoft.com/office/drawing/2014/main" xmlns="" id="{463EEC44-1BA3-44ED-81FC-A644B04B2A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3102049"/>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xmlns="" id="{769B4260-2A86-9B07-038D-0A106A9591A5}"/>
              </a:ext>
            </a:extLst>
          </p:cNvPr>
          <p:cNvSpPr>
            <a:spLocks noGrp="1"/>
          </p:cNvSpPr>
          <p:nvPr>
            <p:ph idx="1"/>
          </p:nvPr>
        </p:nvSpPr>
        <p:spPr>
          <a:xfrm>
            <a:off x="5434149" y="932688"/>
            <a:ext cx="5916603" cy="4992624"/>
          </a:xfrm>
        </p:spPr>
        <p:txBody>
          <a:bodyPr anchor="ctr">
            <a:normAutofit lnSpcReduction="10000"/>
          </a:bodyPr>
          <a:lstStyle/>
          <a:p>
            <a:r>
              <a:rPr lang="en-US" dirty="0"/>
              <a:t>Major driver of mortgage demand:</a:t>
            </a:r>
          </a:p>
          <a:p>
            <a:pPr lvl="1"/>
            <a:r>
              <a:rPr lang="en-US" sz="2800" b="1" dirty="0"/>
              <a:t>Section 24(b)</a:t>
            </a:r>
            <a:r>
              <a:rPr lang="en-US" sz="2800" dirty="0"/>
              <a:t>: Interest deduction (₹2 lakh/year)</a:t>
            </a:r>
          </a:p>
          <a:p>
            <a:pPr lvl="1"/>
            <a:r>
              <a:rPr lang="en-US" sz="2800" b="1" dirty="0"/>
              <a:t>Section 80C</a:t>
            </a:r>
            <a:r>
              <a:rPr lang="en-US" sz="2800" dirty="0"/>
              <a:t>: Principal repayment deduction (₹1.5 lakh/year)</a:t>
            </a:r>
          </a:p>
          <a:p>
            <a:r>
              <a:rPr lang="en-US" dirty="0"/>
              <a:t>Lowers effective cost of borrowing</a:t>
            </a:r>
          </a:p>
          <a:p>
            <a:pPr marL="0" indent="0">
              <a:buNone/>
            </a:pPr>
            <a:r>
              <a:rPr lang="en-US" b="1" dirty="0"/>
              <a:t>Example</a:t>
            </a:r>
            <a:r>
              <a:rPr lang="en-US" dirty="0"/>
              <a:t>:</a:t>
            </a:r>
            <a:br>
              <a:rPr lang="en-US" dirty="0"/>
            </a:br>
            <a:r>
              <a:rPr lang="en-US" dirty="0"/>
              <a:t>A borrower paying ₹25,000/month could save ₹60,000–₹70,000 annually through tax benefits — making EMI more affordable.</a:t>
            </a:r>
          </a:p>
          <a:p>
            <a:endParaRPr lang="en-GB" sz="2000" dirty="0"/>
          </a:p>
        </p:txBody>
      </p:sp>
    </p:spTree>
    <p:extLst>
      <p:ext uri="{BB962C8B-B14F-4D97-AF65-F5344CB8AC3E}">
        <p14:creationId xmlns:p14="http://schemas.microsoft.com/office/powerpoint/2010/main" xmlns="" val="611304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3116F3A2-321B-9ACD-D0DE-30E1D2B1101E}"/>
              </a:ext>
            </a:extLst>
          </p:cNvPr>
          <p:cNvSpPr>
            <a:spLocks noGrp="1"/>
          </p:cNvSpPr>
          <p:nvPr>
            <p:ph type="title"/>
          </p:nvPr>
        </p:nvSpPr>
        <p:spPr>
          <a:xfrm>
            <a:off x="1383564" y="348865"/>
            <a:ext cx="9718111" cy="1576446"/>
          </a:xfrm>
        </p:spPr>
        <p:txBody>
          <a:bodyPr anchor="ctr">
            <a:normAutofit/>
          </a:bodyPr>
          <a:lstStyle/>
          <a:p>
            <a:r>
              <a:rPr lang="en-US" altLang="en-US" sz="4000" b="1">
                <a:solidFill>
                  <a:srgbClr val="FFFFFF"/>
                </a:solidFill>
                <a:latin typeface="Arial" panose="020B0604020202020204" pitchFamily="34" charset="0"/>
              </a:rPr>
              <a:t>Summary – Key Milestones</a:t>
            </a:r>
            <a:endParaRPr lang="en-GB" sz="4000">
              <a:solidFill>
                <a:srgbClr val="FFFFFF"/>
              </a:solidFill>
            </a:endParaRPr>
          </a:p>
        </p:txBody>
      </p:sp>
      <p:graphicFrame>
        <p:nvGraphicFramePr>
          <p:cNvPr id="4" name="Content Placeholder 3">
            <a:extLst>
              <a:ext uri="{FF2B5EF4-FFF2-40B4-BE49-F238E27FC236}">
                <a16:creationId xmlns:a16="http://schemas.microsoft.com/office/drawing/2014/main" xmlns="" id="{9BBDB889-8525-A565-1C3C-D66B9DA04AC9}"/>
              </a:ext>
            </a:extLst>
          </p:cNvPr>
          <p:cNvGraphicFramePr>
            <a:graphicFrameLocks noGrp="1"/>
          </p:cNvGraphicFramePr>
          <p:nvPr>
            <p:ph idx="1"/>
            <p:extLst>
              <p:ext uri="{D42A27DB-BD31-4B8C-83A1-F6EECF244321}">
                <p14:modId xmlns:p14="http://schemas.microsoft.com/office/powerpoint/2010/main" xmlns="" val="300562725"/>
              </p:ext>
            </p:extLst>
          </p:nvPr>
        </p:nvGraphicFramePr>
        <p:xfrm>
          <a:off x="644056" y="2691393"/>
          <a:ext cx="10927830" cy="3538578"/>
        </p:xfrm>
        <a:graphic>
          <a:graphicData uri="http://schemas.openxmlformats.org/drawingml/2006/table">
            <a:tbl>
              <a:tblPr/>
              <a:tblGrid>
                <a:gridCol w="3220700">
                  <a:extLst>
                    <a:ext uri="{9D8B030D-6E8A-4147-A177-3AD203B41FA5}">
                      <a16:colId xmlns:a16="http://schemas.microsoft.com/office/drawing/2014/main" xmlns="" val="20410636"/>
                    </a:ext>
                  </a:extLst>
                </a:gridCol>
                <a:gridCol w="7707130">
                  <a:extLst>
                    <a:ext uri="{9D8B030D-6E8A-4147-A177-3AD203B41FA5}">
                      <a16:colId xmlns:a16="http://schemas.microsoft.com/office/drawing/2014/main" xmlns="" val="3186489616"/>
                    </a:ext>
                  </a:extLst>
                </a:gridCol>
              </a:tblGrid>
              <a:tr h="589763">
                <a:tc>
                  <a:txBody>
                    <a:bodyPr/>
                    <a:lstStyle/>
                    <a:p>
                      <a:pPr>
                        <a:buNone/>
                      </a:pPr>
                      <a:r>
                        <a:rPr lang="en-GB" sz="2600"/>
                        <a:t>Period</a:t>
                      </a:r>
                    </a:p>
                  </a:txBody>
                  <a:tcPr marL="134037" marR="134037" marT="67019" marB="67019" anchor="ctr">
                    <a:lnL>
                      <a:noFill/>
                    </a:lnL>
                    <a:lnR>
                      <a:noFill/>
                    </a:lnR>
                    <a:lnT>
                      <a:noFill/>
                    </a:lnT>
                    <a:lnB>
                      <a:noFill/>
                    </a:lnB>
                    <a:noFill/>
                  </a:tcPr>
                </a:tc>
                <a:tc>
                  <a:txBody>
                    <a:bodyPr/>
                    <a:lstStyle/>
                    <a:p>
                      <a:pPr>
                        <a:buNone/>
                      </a:pPr>
                      <a:r>
                        <a:rPr lang="en-GB" sz="2600"/>
                        <a:t>Key Development</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449642793"/>
                  </a:ext>
                </a:extLst>
              </a:tr>
              <a:tr h="589763">
                <a:tc>
                  <a:txBody>
                    <a:bodyPr/>
                    <a:lstStyle/>
                    <a:p>
                      <a:pPr>
                        <a:buNone/>
                      </a:pPr>
                      <a:r>
                        <a:rPr lang="en-GB" sz="2600"/>
                        <a:t>1950s–60s</a:t>
                      </a:r>
                    </a:p>
                  </a:txBody>
                  <a:tcPr marL="134037" marR="134037" marT="67019" marB="67019" anchor="ctr">
                    <a:lnL>
                      <a:noFill/>
                    </a:lnL>
                    <a:lnR>
                      <a:noFill/>
                    </a:lnR>
                    <a:lnT>
                      <a:noFill/>
                    </a:lnT>
                    <a:lnB>
                      <a:noFill/>
                    </a:lnB>
                    <a:noFill/>
                  </a:tcPr>
                </a:tc>
                <a:tc>
                  <a:txBody>
                    <a:bodyPr/>
                    <a:lstStyle/>
                    <a:p>
                      <a:pPr>
                        <a:buNone/>
                      </a:pPr>
                      <a:r>
                        <a:rPr lang="en-GB" sz="2600"/>
                        <a:t>Housing as welfare, public-led</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2313645967"/>
                  </a:ext>
                </a:extLst>
              </a:tr>
              <a:tr h="589763">
                <a:tc>
                  <a:txBody>
                    <a:bodyPr/>
                    <a:lstStyle/>
                    <a:p>
                      <a:pPr>
                        <a:buNone/>
                      </a:pPr>
                      <a:r>
                        <a:rPr lang="en-GB" sz="2600"/>
                        <a:t>1970s–80s</a:t>
                      </a:r>
                    </a:p>
                  </a:txBody>
                  <a:tcPr marL="134037" marR="134037" marT="67019" marB="67019" anchor="ctr">
                    <a:lnL>
                      <a:noFill/>
                    </a:lnL>
                    <a:lnR>
                      <a:noFill/>
                    </a:lnR>
                    <a:lnT>
                      <a:noFill/>
                    </a:lnT>
                    <a:lnB>
                      <a:noFill/>
                    </a:lnB>
                    <a:noFill/>
                  </a:tcPr>
                </a:tc>
                <a:tc>
                  <a:txBody>
                    <a:bodyPr/>
                    <a:lstStyle/>
                    <a:p>
                      <a:pPr>
                        <a:buNone/>
                      </a:pPr>
                      <a:r>
                        <a:rPr lang="en-GB" sz="2600"/>
                        <a:t>HUDCO, HDFC, NHB established</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1760248795"/>
                  </a:ext>
                </a:extLst>
              </a:tr>
              <a:tr h="589763">
                <a:tc>
                  <a:txBody>
                    <a:bodyPr/>
                    <a:lstStyle/>
                    <a:p>
                      <a:pPr>
                        <a:buNone/>
                      </a:pPr>
                      <a:r>
                        <a:rPr lang="en-GB" sz="2600"/>
                        <a:t>1990s</a:t>
                      </a:r>
                    </a:p>
                  </a:txBody>
                  <a:tcPr marL="134037" marR="134037" marT="67019" marB="67019" anchor="ctr">
                    <a:lnL>
                      <a:noFill/>
                    </a:lnL>
                    <a:lnR>
                      <a:noFill/>
                    </a:lnR>
                    <a:lnT>
                      <a:noFill/>
                    </a:lnT>
                    <a:lnB>
                      <a:noFill/>
                    </a:lnB>
                    <a:noFill/>
                  </a:tcPr>
                </a:tc>
                <a:tc>
                  <a:txBody>
                    <a:bodyPr/>
                    <a:lstStyle/>
                    <a:p>
                      <a:pPr>
                        <a:buNone/>
                      </a:pPr>
                      <a:r>
                        <a:rPr lang="en-US" sz="2600"/>
                        <a:t>Banks enter housing finance, PSL inclusion</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1049682922"/>
                  </a:ext>
                </a:extLst>
              </a:tr>
              <a:tr h="589763">
                <a:tc>
                  <a:txBody>
                    <a:bodyPr/>
                    <a:lstStyle/>
                    <a:p>
                      <a:pPr>
                        <a:buNone/>
                      </a:pPr>
                      <a:r>
                        <a:rPr lang="en-GB" sz="2600"/>
                        <a:t>2000s</a:t>
                      </a:r>
                    </a:p>
                  </a:txBody>
                  <a:tcPr marL="134037" marR="134037" marT="67019" marB="67019" anchor="ctr">
                    <a:lnL>
                      <a:noFill/>
                    </a:lnL>
                    <a:lnR>
                      <a:noFill/>
                    </a:lnR>
                    <a:lnT>
                      <a:noFill/>
                    </a:lnT>
                    <a:lnB>
                      <a:noFill/>
                    </a:lnB>
                    <a:noFill/>
                  </a:tcPr>
                </a:tc>
                <a:tc>
                  <a:txBody>
                    <a:bodyPr/>
                    <a:lstStyle/>
                    <a:p>
                      <a:pPr>
                        <a:buNone/>
                      </a:pPr>
                      <a:r>
                        <a:rPr lang="en-GB" sz="2600"/>
                        <a:t>Private sector competition, product innovation</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232629936"/>
                  </a:ext>
                </a:extLst>
              </a:tr>
              <a:tr h="589763">
                <a:tc>
                  <a:txBody>
                    <a:bodyPr/>
                    <a:lstStyle/>
                    <a:p>
                      <a:pPr>
                        <a:buNone/>
                      </a:pPr>
                      <a:r>
                        <a:rPr lang="en-GB" sz="2600"/>
                        <a:t>Ongoing</a:t>
                      </a:r>
                    </a:p>
                  </a:txBody>
                  <a:tcPr marL="134037" marR="134037" marT="67019" marB="67019" anchor="ctr">
                    <a:lnL>
                      <a:noFill/>
                    </a:lnL>
                    <a:lnR>
                      <a:noFill/>
                    </a:lnR>
                    <a:lnT>
                      <a:noFill/>
                    </a:lnT>
                    <a:lnB>
                      <a:noFill/>
                    </a:lnB>
                    <a:noFill/>
                  </a:tcPr>
                </a:tc>
                <a:tc>
                  <a:txBody>
                    <a:bodyPr/>
                    <a:lstStyle/>
                    <a:p>
                      <a:pPr>
                        <a:buNone/>
                      </a:pPr>
                      <a:r>
                        <a:rPr lang="en-US" sz="2600" dirty="0"/>
                        <a:t>Tech-driven services, affordable housing focus</a:t>
                      </a:r>
                    </a:p>
                  </a:txBody>
                  <a:tcPr marL="134037" marR="134037" marT="67019" marB="67019" anchor="ctr">
                    <a:lnL>
                      <a:noFill/>
                    </a:lnL>
                    <a:lnR>
                      <a:noFill/>
                    </a:lnR>
                    <a:lnT>
                      <a:noFill/>
                    </a:lnT>
                    <a:lnB>
                      <a:noFill/>
                    </a:lnB>
                    <a:noFill/>
                  </a:tcPr>
                </a:tc>
                <a:extLst>
                  <a:ext uri="{0D108BD9-81ED-4DB2-BD59-A6C34878D82A}">
                    <a16:rowId xmlns:a16="http://schemas.microsoft.com/office/drawing/2014/main" xmlns="" val="3518660616"/>
                  </a:ext>
                </a:extLst>
              </a:tr>
            </a:tbl>
          </a:graphicData>
        </a:graphic>
      </p:graphicFrame>
    </p:spTree>
    <p:extLst>
      <p:ext uri="{BB962C8B-B14F-4D97-AF65-F5344CB8AC3E}">
        <p14:creationId xmlns:p14="http://schemas.microsoft.com/office/powerpoint/2010/main" xmlns="" val="2510484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Hand holding keys">
            <a:extLst>
              <a:ext uri="{FF2B5EF4-FFF2-40B4-BE49-F238E27FC236}">
                <a16:creationId xmlns:a16="http://schemas.microsoft.com/office/drawing/2014/main" xmlns="" id="{171B129A-DBAE-043F-6605-B5BD26F6B1E4}"/>
              </a:ext>
            </a:extLst>
          </p:cNvPr>
          <p:cNvPicPr>
            <a:picLocks noChangeAspect="1"/>
          </p:cNvPicPr>
          <p:nvPr/>
        </p:nvPicPr>
        <p:blipFill>
          <a:blip r:embed="rId2"/>
          <a:srcRect t="13129" b="2241"/>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xmlns="" id="{4D60F200-5EB0-B223-2439-C96C67F0FEE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74067CD3-146F-6228-E362-39AA720C25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xmlns="" id="{271C7E5C-A0F8-E9FA-56DB-31A257FD4ED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33F70A3C-4474-2A39-470C-FD55A883750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xmlns="" id="{BAC3F7D4-9613-0E1F-901C-98FE831DEBC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AFD5167C-AF48-26F0-7A9F-3F764337487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xmlns="" id="{87B30A01-FCA8-86A5-A840-C32A3BE2ED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E3D0315-9B8F-A2A4-7B40-55CF2EF78886}"/>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a:solidFill>
                  <a:srgbClr val="FFFFFF"/>
                </a:solidFill>
              </a:rPr>
              <a:t>Institutions and Mechanisms in Housing Finance</a:t>
            </a:r>
          </a:p>
        </p:txBody>
      </p:sp>
      <p:sp>
        <p:nvSpPr>
          <p:cNvPr id="3" name="Text Placeholder 2">
            <a:extLst>
              <a:ext uri="{FF2B5EF4-FFF2-40B4-BE49-F238E27FC236}">
                <a16:creationId xmlns:a16="http://schemas.microsoft.com/office/drawing/2014/main" xmlns="" id="{1B9FF929-6516-0A9F-A25D-E79C8F9DE905}"/>
              </a:ext>
            </a:extLst>
          </p:cNvPr>
          <p:cNvSpPr>
            <a:spLocks noGrp="1"/>
          </p:cNvSpPr>
          <p:nvPr>
            <p:ph type="body" idx="1"/>
          </p:nvPr>
        </p:nvSpPr>
        <p:spPr>
          <a:xfrm>
            <a:off x="859028" y="5166367"/>
            <a:ext cx="4160233" cy="850998"/>
          </a:xfrm>
        </p:spPr>
        <p:txBody>
          <a:bodyPr vert="horz" lIns="91440" tIns="45720" rIns="91440" bIns="45720" rtlCol="0">
            <a:normAutofit/>
          </a:bodyPr>
          <a:lstStyle/>
          <a:p>
            <a:r>
              <a:rPr lang="en-US" sz="2000" dirty="0">
                <a:solidFill>
                  <a:srgbClr val="FFFFFF"/>
                </a:solidFill>
              </a:rPr>
              <a:t>Key Players in the Indian Housing Finance Ecosystem</a:t>
            </a:r>
          </a:p>
        </p:txBody>
      </p:sp>
    </p:spTree>
    <p:extLst>
      <p:ext uri="{BB962C8B-B14F-4D97-AF65-F5344CB8AC3E}">
        <p14:creationId xmlns:p14="http://schemas.microsoft.com/office/powerpoint/2010/main" xmlns="" val="3840068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A2679492-7988-4050-9056-5424444524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091B163-7D61-4891-ABCF-5C13D9C418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itle 3">
            <a:extLst>
              <a:ext uri="{FF2B5EF4-FFF2-40B4-BE49-F238E27FC236}">
                <a16:creationId xmlns:a16="http://schemas.microsoft.com/office/drawing/2014/main" xmlns="" id="{AF9D93F8-9BD1-EEED-7619-3F60517D1276}"/>
              </a:ext>
            </a:extLst>
          </p:cNvPr>
          <p:cNvSpPr>
            <a:spLocks noGrp="1"/>
          </p:cNvSpPr>
          <p:nvPr>
            <p:ph type="title"/>
          </p:nvPr>
        </p:nvSpPr>
        <p:spPr>
          <a:xfrm>
            <a:off x="1188069" y="381935"/>
            <a:ext cx="4008583" cy="5974414"/>
          </a:xfrm>
        </p:spPr>
        <p:txBody>
          <a:bodyPr anchor="ctr">
            <a:normAutofit/>
          </a:bodyPr>
          <a:lstStyle/>
          <a:p>
            <a:r>
              <a:rPr lang="en-US" sz="8000" b="1">
                <a:solidFill>
                  <a:srgbClr val="FFFFFF"/>
                </a:solidFill>
              </a:rPr>
              <a:t>National Housing Bank (NHB) </a:t>
            </a:r>
            <a:endParaRPr lang="en-GB" sz="8000">
              <a:solidFill>
                <a:srgbClr val="FFFFFF"/>
              </a:solidFill>
            </a:endParaRPr>
          </a:p>
        </p:txBody>
      </p:sp>
      <p:grpSp>
        <p:nvGrpSpPr>
          <p:cNvPr id="14" name="Group 13">
            <a:extLst>
              <a:ext uri="{FF2B5EF4-FFF2-40B4-BE49-F238E27FC236}">
                <a16:creationId xmlns:a16="http://schemas.microsoft.com/office/drawing/2014/main" xmlns="" id="{0474DF76-993E-44DE-AFB0-C416182ACECF}"/>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13892" y="554152"/>
            <a:ext cx="574177" cy="1075866"/>
            <a:chOff x="613892" y="554152"/>
            <a:chExt cx="574177" cy="1075866"/>
          </a:xfrm>
          <a:solidFill>
            <a:srgbClr val="FFFFFF"/>
          </a:solidFill>
        </p:grpSpPr>
        <p:sp>
          <p:nvSpPr>
            <p:cNvPr id="15" name="Graphic 11">
              <a:extLst>
                <a:ext uri="{FF2B5EF4-FFF2-40B4-BE49-F238E27FC236}">
                  <a16:creationId xmlns:a16="http://schemas.microsoft.com/office/drawing/2014/main" xmlns="" id="{6CB927A4-E432-4310-9CD5-E89FF506317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6" name="Graphic 10">
              <a:extLst>
                <a:ext uri="{FF2B5EF4-FFF2-40B4-BE49-F238E27FC236}">
                  <a16:creationId xmlns:a16="http://schemas.microsoft.com/office/drawing/2014/main" xmlns="" id="{E3020543-B24B-4EC4-8FFC-8DD88EEA91A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xmlns="" id="{1453BF6C-B012-48B7-B4E8-6D7AC7C27D0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5" name="Content Placeholder 4">
            <a:extLst>
              <a:ext uri="{FF2B5EF4-FFF2-40B4-BE49-F238E27FC236}">
                <a16:creationId xmlns:a16="http://schemas.microsoft.com/office/drawing/2014/main" xmlns="" id="{4C4FB417-C46C-40FA-E36A-7DD0B39B99DD}"/>
              </a:ext>
            </a:extLst>
          </p:cNvPr>
          <p:cNvSpPr>
            <a:spLocks noGrp="1"/>
          </p:cNvSpPr>
          <p:nvPr>
            <p:ph idx="1"/>
          </p:nvPr>
        </p:nvSpPr>
        <p:spPr>
          <a:xfrm>
            <a:off x="6297233" y="518400"/>
            <a:ext cx="5261706" cy="5837949"/>
          </a:xfrm>
        </p:spPr>
        <p:txBody>
          <a:bodyPr anchor="ctr">
            <a:noAutofit/>
          </a:bodyPr>
          <a:lstStyle/>
          <a:p>
            <a:r>
              <a:rPr lang="en-US" sz="2200" b="1" dirty="0">
                <a:solidFill>
                  <a:schemeClr val="tx1">
                    <a:alpha val="80000"/>
                  </a:schemeClr>
                </a:solidFill>
              </a:rPr>
              <a:t>Established:</a:t>
            </a:r>
            <a:r>
              <a:rPr lang="en-US" sz="2200" dirty="0">
                <a:solidFill>
                  <a:schemeClr val="tx1">
                    <a:alpha val="80000"/>
                  </a:schemeClr>
                </a:solidFill>
              </a:rPr>
              <a:t> 1988 (via NHB Act, 1987)</a:t>
            </a:r>
          </a:p>
          <a:p>
            <a:r>
              <a:rPr lang="en-US" sz="2200" b="1" dirty="0">
                <a:solidFill>
                  <a:schemeClr val="tx1">
                    <a:alpha val="80000"/>
                  </a:schemeClr>
                </a:solidFill>
              </a:rPr>
              <a:t>Owned by:</a:t>
            </a:r>
            <a:r>
              <a:rPr lang="en-US" sz="2200" dirty="0">
                <a:solidFill>
                  <a:schemeClr val="tx1">
                    <a:alpha val="80000"/>
                  </a:schemeClr>
                </a:solidFill>
              </a:rPr>
              <a:t> Reserve Bank of India (initially)</a:t>
            </a:r>
          </a:p>
          <a:p>
            <a:r>
              <a:rPr lang="en-US" sz="2200" b="1" dirty="0">
                <a:solidFill>
                  <a:schemeClr val="tx1">
                    <a:alpha val="80000"/>
                  </a:schemeClr>
                </a:solidFill>
              </a:rPr>
              <a:t>Purpose:</a:t>
            </a:r>
            <a:r>
              <a:rPr lang="en-US" sz="2200" dirty="0">
                <a:solidFill>
                  <a:schemeClr val="tx1">
                    <a:alpha val="80000"/>
                  </a:schemeClr>
                </a:solidFill>
              </a:rPr>
              <a:t> Apex financial institution for housing finance</a:t>
            </a:r>
          </a:p>
          <a:p>
            <a:r>
              <a:rPr lang="en-US" sz="2200" b="1" dirty="0">
                <a:solidFill>
                  <a:schemeClr val="tx1">
                    <a:alpha val="80000"/>
                  </a:schemeClr>
                </a:solidFill>
              </a:rPr>
              <a:t>Initial Role:</a:t>
            </a:r>
            <a:endParaRPr lang="en-US" sz="2200" dirty="0">
              <a:solidFill>
                <a:schemeClr val="tx1">
                  <a:alpha val="80000"/>
                </a:schemeClr>
              </a:solidFill>
            </a:endParaRPr>
          </a:p>
          <a:p>
            <a:pPr lvl="1"/>
            <a:r>
              <a:rPr lang="en-US" sz="2200" dirty="0">
                <a:solidFill>
                  <a:schemeClr val="tx1">
                    <a:alpha val="80000"/>
                  </a:schemeClr>
                </a:solidFill>
              </a:rPr>
              <a:t>Promote housing finance institutions</a:t>
            </a:r>
          </a:p>
          <a:p>
            <a:pPr lvl="1"/>
            <a:r>
              <a:rPr lang="en-US" sz="2200" dirty="0">
                <a:solidFill>
                  <a:schemeClr val="tx1">
                    <a:alpha val="80000"/>
                  </a:schemeClr>
                </a:solidFill>
              </a:rPr>
              <a:t>Provide refinance to HFCs</a:t>
            </a:r>
          </a:p>
          <a:p>
            <a:pPr lvl="1"/>
            <a:r>
              <a:rPr lang="en-US" sz="2200" dirty="0">
                <a:solidFill>
                  <a:schemeClr val="tx1">
                    <a:alpha val="80000"/>
                  </a:schemeClr>
                </a:solidFill>
              </a:rPr>
              <a:t>Regulate HFCs</a:t>
            </a:r>
          </a:p>
          <a:p>
            <a:r>
              <a:rPr lang="en-US" sz="2200" b="1" dirty="0">
                <a:solidFill>
                  <a:schemeClr val="tx1">
                    <a:alpha val="80000"/>
                  </a:schemeClr>
                </a:solidFill>
              </a:rPr>
              <a:t>Post-2019:</a:t>
            </a:r>
            <a:endParaRPr lang="en-US" sz="2200" dirty="0">
              <a:solidFill>
                <a:schemeClr val="tx1">
                  <a:alpha val="80000"/>
                </a:schemeClr>
              </a:solidFill>
            </a:endParaRPr>
          </a:p>
          <a:p>
            <a:pPr lvl="1"/>
            <a:r>
              <a:rPr lang="en-US" sz="2200" dirty="0">
                <a:solidFill>
                  <a:schemeClr val="tx1">
                    <a:alpha val="80000"/>
                  </a:schemeClr>
                </a:solidFill>
              </a:rPr>
              <a:t>Regulatory role shifted to RBI</a:t>
            </a:r>
          </a:p>
          <a:p>
            <a:pPr lvl="1"/>
            <a:r>
              <a:rPr lang="en-US" sz="2200" dirty="0">
                <a:solidFill>
                  <a:schemeClr val="tx1">
                    <a:alpha val="80000"/>
                  </a:schemeClr>
                </a:solidFill>
              </a:rPr>
              <a:t>NHB focuses on:</a:t>
            </a:r>
          </a:p>
          <a:p>
            <a:pPr lvl="2"/>
            <a:r>
              <a:rPr lang="en-US" sz="2200" dirty="0">
                <a:solidFill>
                  <a:schemeClr val="tx1">
                    <a:alpha val="80000"/>
                  </a:schemeClr>
                </a:solidFill>
              </a:rPr>
              <a:t>Refinance</a:t>
            </a:r>
          </a:p>
          <a:p>
            <a:pPr lvl="2"/>
            <a:r>
              <a:rPr lang="en-US" sz="2200" dirty="0">
                <a:solidFill>
                  <a:schemeClr val="tx1">
                    <a:alpha val="80000"/>
                  </a:schemeClr>
                </a:solidFill>
              </a:rPr>
              <a:t>Development finance</a:t>
            </a:r>
          </a:p>
          <a:p>
            <a:pPr lvl="2"/>
            <a:r>
              <a:rPr lang="en-US" sz="2200" dirty="0">
                <a:solidFill>
                  <a:schemeClr val="tx1">
                    <a:alpha val="80000"/>
                  </a:schemeClr>
                </a:solidFill>
              </a:rPr>
              <a:t>Capacity building</a:t>
            </a:r>
          </a:p>
        </p:txBody>
      </p:sp>
      <p:cxnSp>
        <p:nvCxnSpPr>
          <p:cNvPr id="19" name="Straight Connector 18">
            <a:extLst>
              <a:ext uri="{FF2B5EF4-FFF2-40B4-BE49-F238E27FC236}">
                <a16:creationId xmlns:a16="http://schemas.microsoft.com/office/drawing/2014/main" xmlns="" id="{C49DA8F6-BCC1-4447-B54C-57856834B94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731230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09588DA8-065E-4F6F-8EFD-43104AB2E0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xmlns="" id="{C4285719-470E-454C-AF62-8323075F1F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CD9FE4EF-C4D8-49A0-B2FF-81D8DB7D8A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4300840D-0A0B-4512-BACA-B439D5B9C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D2B78728-A580-49A7-84F9-6EF6F583AD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xmlns="" id="{38FAA1A1-D861-433F-88FA-1E9D6FD31D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xmlns="" id="{8D71EDA1-87BF-4D5D-AB79-F346FD1927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F45872F-C525-BA4A-9C2E-956AD2A8D5AF}"/>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Housing Finance Companies (HFCs) </a:t>
            </a:r>
            <a:endParaRPr lang="en-GB" sz="4000">
              <a:solidFill>
                <a:srgbClr val="FFFFFF"/>
              </a:solidFill>
            </a:endParaRPr>
          </a:p>
        </p:txBody>
      </p:sp>
      <p:sp>
        <p:nvSpPr>
          <p:cNvPr id="3" name="Content Placeholder 2">
            <a:extLst>
              <a:ext uri="{FF2B5EF4-FFF2-40B4-BE49-F238E27FC236}">
                <a16:creationId xmlns:a16="http://schemas.microsoft.com/office/drawing/2014/main" xmlns="" id="{362CF039-7F5E-CEE2-1180-13D638FFBF8C}"/>
              </a:ext>
            </a:extLst>
          </p:cNvPr>
          <p:cNvSpPr>
            <a:spLocks noGrp="1"/>
          </p:cNvSpPr>
          <p:nvPr>
            <p:ph idx="1"/>
          </p:nvPr>
        </p:nvSpPr>
        <p:spPr>
          <a:xfrm>
            <a:off x="4810259" y="649480"/>
            <a:ext cx="6780379" cy="5546047"/>
          </a:xfrm>
        </p:spPr>
        <p:txBody>
          <a:bodyPr anchor="ctr">
            <a:normAutofit/>
          </a:bodyPr>
          <a:lstStyle/>
          <a:p>
            <a:r>
              <a:rPr lang="en-US" sz="2400" dirty="0"/>
              <a:t>Emerged in late 1970s–80s</a:t>
            </a:r>
          </a:p>
          <a:p>
            <a:r>
              <a:rPr lang="en-US" sz="2400" dirty="0"/>
              <a:t>Pioneer: HDFC (1977)</a:t>
            </a:r>
          </a:p>
          <a:p>
            <a:r>
              <a:rPr lang="en-US" sz="2400" dirty="0"/>
              <a:t>Growth supported by NHB post-1988</a:t>
            </a:r>
          </a:p>
          <a:p>
            <a:r>
              <a:rPr lang="en-US" sz="2400" dirty="0"/>
              <a:t>Initially targeted urban salaried class</a:t>
            </a:r>
          </a:p>
          <a:p>
            <a:r>
              <a:rPr lang="en-US" sz="2400" dirty="0"/>
              <a:t>Expanded to rural and semi-urban areas</a:t>
            </a:r>
          </a:p>
          <a:p>
            <a:r>
              <a:rPr lang="en-US" sz="2400" dirty="0"/>
              <a:t>Innovations in:</a:t>
            </a:r>
          </a:p>
          <a:p>
            <a:pPr lvl="1"/>
            <a:r>
              <a:rPr lang="en-US" dirty="0"/>
              <a:t>Product design</a:t>
            </a:r>
          </a:p>
          <a:p>
            <a:pPr lvl="1"/>
            <a:r>
              <a:rPr lang="en-US" dirty="0"/>
              <a:t>Repayment structures</a:t>
            </a:r>
          </a:p>
          <a:p>
            <a:pPr lvl="1"/>
            <a:r>
              <a:rPr lang="en-US" dirty="0"/>
              <a:t>Customer outreach</a:t>
            </a:r>
          </a:p>
          <a:p>
            <a:r>
              <a:rPr lang="en-US" sz="2400" dirty="0"/>
              <a:t>Post-2018:</a:t>
            </a:r>
          </a:p>
          <a:p>
            <a:pPr lvl="1"/>
            <a:r>
              <a:rPr lang="en-US" dirty="0"/>
              <a:t>Tighter regulations under RBI</a:t>
            </a:r>
          </a:p>
          <a:p>
            <a:pPr lvl="1"/>
            <a:r>
              <a:rPr lang="en-US" dirty="0"/>
              <a:t>Due to IL&amp;FS crisis and systemic risk concerns</a:t>
            </a:r>
          </a:p>
          <a:p>
            <a:endParaRPr lang="en-GB" sz="2000" dirty="0"/>
          </a:p>
        </p:txBody>
      </p:sp>
    </p:spTree>
    <p:extLst>
      <p:ext uri="{BB962C8B-B14F-4D97-AF65-F5344CB8AC3E}">
        <p14:creationId xmlns:p14="http://schemas.microsoft.com/office/powerpoint/2010/main" xmlns="" val="1156510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xmlns="" id="{C4285719-470E-454C-AF62-8323075F1F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xmlns="" id="{CD9FE4EF-C4D8-49A0-B2FF-81D8DB7D8A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xmlns="" id="{4300840D-0A0B-4512-BACA-B439D5B9C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xmlns="" id="{D2B78728-A580-49A7-84F9-6EF6F583AD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Freeform: Shape 59">
            <a:extLst>
              <a:ext uri="{FF2B5EF4-FFF2-40B4-BE49-F238E27FC236}">
                <a16:creationId xmlns:a16="http://schemas.microsoft.com/office/drawing/2014/main" xmlns="" id="{38FAA1A1-D861-433F-88FA-1E9D6FD31D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2" name="Rectangle 61">
            <a:extLst>
              <a:ext uri="{FF2B5EF4-FFF2-40B4-BE49-F238E27FC236}">
                <a16:creationId xmlns:a16="http://schemas.microsoft.com/office/drawing/2014/main" xmlns="" id="{8D71EDA1-87BF-4D5D-AB79-F346FD1927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5C3FDA2-6876-8BA2-74F3-FFE30B95DFC5}"/>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rPr>
              <a:t>Commercial Banks </a:t>
            </a:r>
            <a:endParaRPr lang="en-GB" sz="4000">
              <a:solidFill>
                <a:srgbClr val="FFFFFF"/>
              </a:solidFill>
            </a:endParaRPr>
          </a:p>
        </p:txBody>
      </p:sp>
      <p:sp>
        <p:nvSpPr>
          <p:cNvPr id="11" name="Content Placeholder 2">
            <a:extLst>
              <a:ext uri="{FF2B5EF4-FFF2-40B4-BE49-F238E27FC236}">
                <a16:creationId xmlns:a16="http://schemas.microsoft.com/office/drawing/2014/main" xmlns="" id="{45682D1E-B2D7-73A7-F86D-95CB5699E7A0}"/>
              </a:ext>
            </a:extLst>
          </p:cNvPr>
          <p:cNvSpPr>
            <a:spLocks noGrp="1"/>
          </p:cNvSpPr>
          <p:nvPr>
            <p:ph idx="1"/>
          </p:nvPr>
        </p:nvSpPr>
        <p:spPr>
          <a:xfrm>
            <a:off x="4134810" y="649480"/>
            <a:ext cx="4786767" cy="5800747"/>
          </a:xfrm>
        </p:spPr>
        <p:txBody>
          <a:bodyPr anchor="ctr">
            <a:normAutofit/>
          </a:bodyPr>
          <a:lstStyle/>
          <a:p>
            <a:r>
              <a:rPr lang="en-US" sz="2200" dirty="0"/>
              <a:t>Major entry during 1990s liberalization</a:t>
            </a:r>
          </a:p>
          <a:p>
            <a:r>
              <a:rPr lang="en-US" sz="2200" dirty="0"/>
              <a:t>Housing loans classified under Priority Sector Lending</a:t>
            </a:r>
          </a:p>
          <a:p>
            <a:r>
              <a:rPr lang="en-US" sz="2200" dirty="0"/>
              <a:t>Competitive edge:</a:t>
            </a:r>
          </a:p>
          <a:p>
            <a:pPr lvl="1"/>
            <a:r>
              <a:rPr lang="en-US" sz="2200" dirty="0"/>
              <a:t>Wide branch networks</a:t>
            </a:r>
          </a:p>
          <a:p>
            <a:pPr lvl="1"/>
            <a:r>
              <a:rPr lang="en-US" sz="2200" dirty="0"/>
              <a:t>Lower cost of funds</a:t>
            </a:r>
          </a:p>
          <a:p>
            <a:r>
              <a:rPr lang="en-US" sz="2200" dirty="0"/>
              <a:t>Dominant in middle- and high-income housing</a:t>
            </a:r>
          </a:p>
          <a:p>
            <a:r>
              <a:rPr lang="en-US" sz="2200" dirty="0"/>
              <a:t>Innovations introduced:</a:t>
            </a:r>
          </a:p>
          <a:p>
            <a:pPr lvl="1"/>
            <a:r>
              <a:rPr lang="en-US" sz="2200" dirty="0"/>
              <a:t>Floating-rate loans</a:t>
            </a:r>
          </a:p>
          <a:p>
            <a:pPr lvl="1"/>
            <a:r>
              <a:rPr lang="en-US" sz="2200" dirty="0"/>
              <a:t>Longer tenures</a:t>
            </a:r>
          </a:p>
          <a:p>
            <a:r>
              <a:rPr lang="en-US" sz="2200" dirty="0"/>
              <a:t>Serve both private and affordable housing segments</a:t>
            </a:r>
          </a:p>
        </p:txBody>
      </p:sp>
      <p:pic>
        <p:nvPicPr>
          <p:cNvPr id="9" name="Graphic 8" descr="House">
            <a:extLst>
              <a:ext uri="{FF2B5EF4-FFF2-40B4-BE49-F238E27FC236}">
                <a16:creationId xmlns:a16="http://schemas.microsoft.com/office/drawing/2014/main" xmlns="" id="{85417B54-B07E-7D1F-D961-AD7A2D2CFC51}"/>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8109502" y="1627051"/>
            <a:ext cx="3615776" cy="3615776"/>
          </a:xfrm>
          <a:prstGeom prst="rect">
            <a:avLst/>
          </a:prstGeom>
        </p:spPr>
      </p:pic>
    </p:spTree>
    <p:extLst>
      <p:ext uri="{BB962C8B-B14F-4D97-AF65-F5344CB8AC3E}">
        <p14:creationId xmlns:p14="http://schemas.microsoft.com/office/powerpoint/2010/main" xmlns="" val="2843861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B14C2221-2B8C-494D-9442-F812DF4E879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D084B83-2A6F-8F3A-9324-A0F7C41FF4D5}"/>
              </a:ext>
            </a:extLst>
          </p:cNvPr>
          <p:cNvSpPr>
            <a:spLocks noGrp="1"/>
          </p:cNvSpPr>
          <p:nvPr>
            <p:ph type="title"/>
          </p:nvPr>
        </p:nvSpPr>
        <p:spPr>
          <a:xfrm>
            <a:off x="838200" y="3513931"/>
            <a:ext cx="3143250" cy="2601119"/>
          </a:xfrm>
        </p:spPr>
        <p:txBody>
          <a:bodyPr anchor="t">
            <a:normAutofit/>
          </a:bodyPr>
          <a:lstStyle/>
          <a:p>
            <a:pPr algn="ctr"/>
            <a:r>
              <a:rPr lang="en-US" sz="4000" b="1"/>
              <a:t>HUDCO </a:t>
            </a:r>
            <a:endParaRPr lang="en-GB" sz="4000"/>
          </a:p>
        </p:txBody>
      </p:sp>
      <p:pic>
        <p:nvPicPr>
          <p:cNvPr id="7" name="Graphic 6" descr="Suburban scene">
            <a:extLst>
              <a:ext uri="{FF2B5EF4-FFF2-40B4-BE49-F238E27FC236}">
                <a16:creationId xmlns:a16="http://schemas.microsoft.com/office/drawing/2014/main" xmlns="" id="{B0679E45-FCFE-F5F9-7D83-485322A56412}"/>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xmlns="" id="{67B19433-9239-3C18-D2EE-1AAB9062D29A}"/>
              </a:ext>
            </a:extLst>
          </p:cNvPr>
          <p:cNvSpPr>
            <a:spLocks noGrp="1"/>
          </p:cNvSpPr>
          <p:nvPr>
            <p:ph idx="1"/>
          </p:nvPr>
        </p:nvSpPr>
        <p:spPr>
          <a:xfrm>
            <a:off x="4200652" y="730249"/>
            <a:ext cx="7153147" cy="5384801"/>
          </a:xfrm>
        </p:spPr>
        <p:txBody>
          <a:bodyPr anchor="ctr">
            <a:normAutofit/>
          </a:bodyPr>
          <a:lstStyle/>
          <a:p>
            <a:r>
              <a:rPr lang="en-US" sz="2400" b="1" dirty="0"/>
              <a:t>Established:</a:t>
            </a:r>
            <a:r>
              <a:rPr lang="en-US" sz="2400" dirty="0"/>
              <a:t> 1970 (Public Sector)</a:t>
            </a:r>
          </a:p>
          <a:p>
            <a:r>
              <a:rPr lang="en-US" sz="2400" b="1" dirty="0"/>
              <a:t>Primary Focus:</a:t>
            </a:r>
            <a:r>
              <a:rPr lang="en-US" sz="2400" dirty="0"/>
              <a:t> Low-cost housing and urban infrastructure</a:t>
            </a:r>
          </a:p>
          <a:p>
            <a:r>
              <a:rPr lang="en-US" sz="2400" dirty="0"/>
              <a:t>Supported programs like:</a:t>
            </a:r>
          </a:p>
          <a:p>
            <a:pPr lvl="1"/>
            <a:r>
              <a:rPr lang="en-US" dirty="0"/>
              <a:t>Urban Basic Services Programme</a:t>
            </a:r>
          </a:p>
          <a:p>
            <a:pPr lvl="1"/>
            <a:r>
              <a:rPr lang="en-US" dirty="0"/>
              <a:t>VAMBAY</a:t>
            </a:r>
          </a:p>
          <a:p>
            <a:r>
              <a:rPr lang="en-US" sz="2400" dirty="0"/>
              <a:t>Expanding role in integrated urban infrastructure prioritizing </a:t>
            </a:r>
          </a:p>
          <a:p>
            <a:pPr lvl="1"/>
            <a:r>
              <a:rPr lang="en-US" dirty="0"/>
              <a:t>Economically Weaker Sections (EWS)</a:t>
            </a:r>
          </a:p>
          <a:p>
            <a:pPr lvl="1"/>
            <a:r>
              <a:rPr lang="en-US" dirty="0"/>
              <a:t>Low-Income Groups (LIG)</a:t>
            </a:r>
          </a:p>
          <a:p>
            <a:r>
              <a:rPr lang="en-US" sz="2400" dirty="0"/>
              <a:t>Also finances:</a:t>
            </a:r>
          </a:p>
          <a:p>
            <a:pPr lvl="1"/>
            <a:r>
              <a:rPr lang="en-US" dirty="0"/>
              <a:t>Slum rehabilitation</a:t>
            </a:r>
          </a:p>
          <a:p>
            <a:pPr lvl="1"/>
            <a:r>
              <a:rPr lang="en-US" dirty="0"/>
              <a:t>Water supply and sanitation</a:t>
            </a:r>
          </a:p>
          <a:p>
            <a:endParaRPr lang="en-GB" sz="1800" dirty="0"/>
          </a:p>
        </p:txBody>
      </p:sp>
    </p:spTree>
    <p:extLst>
      <p:ext uri="{BB962C8B-B14F-4D97-AF65-F5344CB8AC3E}">
        <p14:creationId xmlns:p14="http://schemas.microsoft.com/office/powerpoint/2010/main" xmlns="" val="2956542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3AD318CC-E2A8-4E27-9548-A047A78999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5FE2EA2-7922-713D-3F65-7F77CF16545E}"/>
              </a:ext>
            </a:extLst>
          </p:cNvPr>
          <p:cNvSpPr>
            <a:spLocks noGrp="1"/>
          </p:cNvSpPr>
          <p:nvPr>
            <p:ph type="title"/>
          </p:nvPr>
        </p:nvSpPr>
        <p:spPr>
          <a:xfrm>
            <a:off x="645065" y="1463040"/>
            <a:ext cx="3796306" cy="2690949"/>
          </a:xfrm>
        </p:spPr>
        <p:txBody>
          <a:bodyPr anchor="t">
            <a:normAutofit/>
          </a:bodyPr>
          <a:lstStyle/>
          <a:p>
            <a:r>
              <a:rPr lang="en-US" b="1" dirty="0"/>
              <a:t>LIC &amp; GIC – Insurance-Based Funding</a:t>
            </a:r>
            <a:endParaRPr lang="en-GB" dirty="0"/>
          </a:p>
        </p:txBody>
      </p:sp>
      <p:grpSp>
        <p:nvGrpSpPr>
          <p:cNvPr id="10" name="Group 9">
            <a:extLst>
              <a:ext uri="{FF2B5EF4-FFF2-40B4-BE49-F238E27FC236}">
                <a16:creationId xmlns:a16="http://schemas.microsoft.com/office/drawing/2014/main" xmlns="" id="{B14B560F-9DD7-4302-A60B-EBD3EF59B07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xmlns="" id="{C21D6966-343E-49AC-A026-D2497E0C3CA1}"/>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xmlns=""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xmlns="" id="{2C1BBA94-3F40-40AA-8BB9-E69E25E537C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4206A0A7-DAA1-CBDE-B8AD-7B827F28134D}"/>
              </a:ext>
            </a:extLst>
          </p:cNvPr>
          <p:cNvSpPr>
            <a:spLocks noGrp="1"/>
          </p:cNvSpPr>
          <p:nvPr>
            <p:ph idx="1"/>
          </p:nvPr>
        </p:nvSpPr>
        <p:spPr>
          <a:xfrm>
            <a:off x="5656218" y="1463039"/>
            <a:ext cx="5542387" cy="4300447"/>
          </a:xfrm>
        </p:spPr>
        <p:txBody>
          <a:bodyPr anchor="t">
            <a:normAutofit lnSpcReduction="10000"/>
          </a:bodyPr>
          <a:lstStyle/>
          <a:p>
            <a:r>
              <a:rPr lang="en-US" sz="2400" dirty="0"/>
              <a:t>Large long-term fund sources</a:t>
            </a:r>
          </a:p>
          <a:p>
            <a:r>
              <a:rPr lang="en-US" sz="2400" dirty="0"/>
              <a:t>Entered housing finance in 1980s</a:t>
            </a:r>
          </a:p>
          <a:p>
            <a:r>
              <a:rPr lang="en-US" sz="2400" dirty="0"/>
              <a:t>Subsidiaries:</a:t>
            </a:r>
          </a:p>
          <a:p>
            <a:pPr lvl="1"/>
            <a:r>
              <a:rPr lang="en-US" b="1" dirty="0"/>
              <a:t>LIC Housing Finance Ltd. (1989)</a:t>
            </a:r>
            <a:endParaRPr lang="en-US" dirty="0"/>
          </a:p>
          <a:p>
            <a:pPr lvl="1"/>
            <a:r>
              <a:rPr lang="en-US" b="1" dirty="0"/>
              <a:t>GIC Housing Finance Ltd. (1989)</a:t>
            </a:r>
            <a:endParaRPr lang="en-US" dirty="0"/>
          </a:p>
          <a:p>
            <a:r>
              <a:rPr lang="en-US" sz="2400" dirty="0"/>
              <a:t>Provide stability and long-tenure funds</a:t>
            </a:r>
          </a:p>
          <a:p>
            <a:r>
              <a:rPr lang="en-US" sz="2400" dirty="0"/>
              <a:t>Key role in middle-income housing finance</a:t>
            </a:r>
          </a:p>
          <a:p>
            <a:r>
              <a:rPr lang="en-US" sz="2400" dirty="0"/>
              <a:t>Complementary to banks and HFCs</a:t>
            </a:r>
          </a:p>
        </p:txBody>
      </p:sp>
    </p:spTree>
    <p:extLst>
      <p:ext uri="{BB962C8B-B14F-4D97-AF65-F5344CB8AC3E}">
        <p14:creationId xmlns:p14="http://schemas.microsoft.com/office/powerpoint/2010/main" xmlns="" val="4077497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EDDBB197-D710-4A4F-A9CA-FD2177498B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975D1CFA-2CDB-4B64-BD9F-85744E8DA12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E0DB67A-B97D-E358-1B9F-609196AAF19F}"/>
              </a:ext>
            </a:extLst>
          </p:cNvPr>
          <p:cNvSpPr>
            <a:spLocks noGrp="1"/>
          </p:cNvSpPr>
          <p:nvPr>
            <p:ph type="title"/>
          </p:nvPr>
        </p:nvSpPr>
        <p:spPr>
          <a:xfrm>
            <a:off x="804672" y="802955"/>
            <a:ext cx="4977976" cy="1454051"/>
          </a:xfrm>
        </p:spPr>
        <p:txBody>
          <a:bodyPr>
            <a:normAutofit/>
          </a:bodyPr>
          <a:lstStyle/>
          <a:p>
            <a:r>
              <a:rPr lang="en-US" sz="3600" b="1">
                <a:solidFill>
                  <a:schemeClr val="tx2"/>
                </a:solidFill>
              </a:rPr>
              <a:t>Cooperative Banks – Localized Lending</a:t>
            </a:r>
            <a:endParaRPr lang="en-GB" sz="3600">
              <a:solidFill>
                <a:schemeClr val="tx2"/>
              </a:solidFill>
            </a:endParaRPr>
          </a:p>
        </p:txBody>
      </p:sp>
      <p:sp>
        <p:nvSpPr>
          <p:cNvPr id="3" name="Content Placeholder 2">
            <a:extLst>
              <a:ext uri="{FF2B5EF4-FFF2-40B4-BE49-F238E27FC236}">
                <a16:creationId xmlns:a16="http://schemas.microsoft.com/office/drawing/2014/main" xmlns="" id="{7D6CC39C-DA08-C4CB-E4D0-78A25B7B4071}"/>
              </a:ext>
            </a:extLst>
          </p:cNvPr>
          <p:cNvSpPr>
            <a:spLocks noGrp="1"/>
          </p:cNvSpPr>
          <p:nvPr>
            <p:ph idx="1"/>
          </p:nvPr>
        </p:nvSpPr>
        <p:spPr>
          <a:xfrm>
            <a:off x="804672" y="2421682"/>
            <a:ext cx="7165436" cy="3843194"/>
          </a:xfrm>
        </p:spPr>
        <p:style>
          <a:lnRef idx="2">
            <a:schemeClr val="dk1"/>
          </a:lnRef>
          <a:fillRef idx="1">
            <a:schemeClr val="lt1"/>
          </a:fillRef>
          <a:effectRef idx="0">
            <a:schemeClr val="dk1"/>
          </a:effectRef>
          <a:fontRef idx="minor">
            <a:schemeClr val="dk1"/>
          </a:fontRef>
        </p:style>
        <p:txBody>
          <a:bodyPr anchor="ctr">
            <a:normAutofit fontScale="92500"/>
          </a:bodyPr>
          <a:lstStyle/>
          <a:p>
            <a:r>
              <a:rPr lang="en-US" sz="2400" dirty="0">
                <a:solidFill>
                  <a:schemeClr val="tx2"/>
                </a:solidFill>
              </a:rPr>
              <a:t>Long-standing history, esp. Urban Cooperative Banks</a:t>
            </a:r>
          </a:p>
          <a:p>
            <a:r>
              <a:rPr lang="en-US" sz="2400" dirty="0">
                <a:solidFill>
                  <a:schemeClr val="tx2"/>
                </a:solidFill>
              </a:rPr>
              <a:t>Cater to:</a:t>
            </a:r>
          </a:p>
          <a:p>
            <a:pPr lvl="1"/>
            <a:r>
              <a:rPr lang="en-US" dirty="0">
                <a:solidFill>
                  <a:schemeClr val="tx2"/>
                </a:solidFill>
              </a:rPr>
              <a:t>Local communities</a:t>
            </a:r>
          </a:p>
          <a:p>
            <a:pPr lvl="1"/>
            <a:r>
              <a:rPr lang="en-US" dirty="0">
                <a:solidFill>
                  <a:schemeClr val="tx2"/>
                </a:solidFill>
              </a:rPr>
              <a:t>Small borrowers</a:t>
            </a:r>
          </a:p>
          <a:p>
            <a:r>
              <a:rPr lang="en-US" sz="2400" dirty="0">
                <a:solidFill>
                  <a:schemeClr val="tx2"/>
                </a:solidFill>
              </a:rPr>
              <a:t>Serve semi-urban and rural areas</a:t>
            </a:r>
          </a:p>
          <a:p>
            <a:r>
              <a:rPr lang="en-US" sz="2400" dirty="0">
                <a:solidFill>
                  <a:schemeClr val="tx2"/>
                </a:solidFill>
              </a:rPr>
              <a:t>Smaller ticket loans</a:t>
            </a:r>
          </a:p>
          <a:p>
            <a:r>
              <a:rPr lang="en-US" sz="2400" dirty="0">
                <a:solidFill>
                  <a:schemeClr val="tx2"/>
                </a:solidFill>
              </a:rPr>
              <a:t>Strong community trust</a:t>
            </a:r>
          </a:p>
          <a:p>
            <a:r>
              <a:rPr lang="en-US" sz="2400" dirty="0">
                <a:solidFill>
                  <a:schemeClr val="tx2"/>
                </a:solidFill>
              </a:rPr>
              <a:t>Declined in national share post-1990s</a:t>
            </a:r>
          </a:p>
          <a:p>
            <a:r>
              <a:rPr lang="en-US" sz="2400" dirty="0">
                <a:solidFill>
                  <a:schemeClr val="tx2"/>
                </a:solidFill>
              </a:rPr>
              <a:t>Still vital in niche, localized markets</a:t>
            </a:r>
          </a:p>
        </p:txBody>
      </p:sp>
      <p:grpSp>
        <p:nvGrpSpPr>
          <p:cNvPr id="14" name="Group 13">
            <a:extLst>
              <a:ext uri="{FF2B5EF4-FFF2-40B4-BE49-F238E27FC236}">
                <a16:creationId xmlns:a16="http://schemas.microsoft.com/office/drawing/2014/main" xmlns="" id="{25EE5136-01F1-466C-962D-BA9B4C6757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xmlns="" id="{E11D3AD4-AF9B-4EB5-8C7B-C45D173B4B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15102EBE-A80F-4CFF-B1DD-941EF9728B5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18CE1F-9DF1-47AF-9E66-6CE348AC233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5BD26A8C-8D1D-41E6-A71E-FE9AC75F3F8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City">
            <a:extLst>
              <a:ext uri="{FF2B5EF4-FFF2-40B4-BE49-F238E27FC236}">
                <a16:creationId xmlns:a16="http://schemas.microsoft.com/office/drawing/2014/main" xmlns="" id="{F9C53CED-3FEC-21AA-53AB-D6567DE7784D}"/>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xmlns="" val="1644435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xmlns="" id="{31293F9B-599E-4871-A414-757225FA346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xmlns="" id="{E5F17139-31EE-46AC-B04F-DBBD852DD6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2000" cy="2175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xmlns="" id="{14424B15-A8AA-F89F-571A-EA097C486D48}"/>
              </a:ext>
            </a:extLst>
          </p:cNvPr>
          <p:cNvSpPr>
            <a:spLocks noGrp="1"/>
          </p:cNvSpPr>
          <p:nvPr>
            <p:ph type="title"/>
          </p:nvPr>
        </p:nvSpPr>
        <p:spPr>
          <a:xfrm>
            <a:off x="838200" y="565739"/>
            <a:ext cx="10515600" cy="1124949"/>
          </a:xfrm>
        </p:spPr>
        <p:txBody>
          <a:bodyPr vert="horz" lIns="91440" tIns="45720" rIns="91440" bIns="45720" rtlCol="0" anchor="ctr">
            <a:normAutofit/>
          </a:bodyPr>
          <a:lstStyle/>
          <a:p>
            <a:r>
              <a:rPr lang="en-US" kern="1200">
                <a:solidFill>
                  <a:schemeClr val="bg1"/>
                </a:solidFill>
                <a:latin typeface="+mj-lt"/>
                <a:ea typeface="+mj-ea"/>
                <a:cs typeface="+mj-cs"/>
              </a:rPr>
              <a:t>Summary </a:t>
            </a:r>
          </a:p>
        </p:txBody>
      </p:sp>
      <p:grpSp>
        <p:nvGrpSpPr>
          <p:cNvPr id="14" name="Graphic 190">
            <a:extLst>
              <a:ext uri="{FF2B5EF4-FFF2-40B4-BE49-F238E27FC236}">
                <a16:creationId xmlns:a16="http://schemas.microsoft.com/office/drawing/2014/main" xmlns="" id="{53883AA7-7F86-41F8-A1D8-06E9886E7632}"/>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 y="136528"/>
            <a:ext cx="1291642" cy="429215"/>
            <a:chOff x="2504802" y="1755501"/>
            <a:chExt cx="1598829" cy="531293"/>
          </a:xfrm>
          <a:solidFill>
            <a:schemeClr val="bg1"/>
          </a:solidFill>
        </p:grpSpPr>
        <p:sp>
          <p:nvSpPr>
            <p:cNvPr id="15" name="Freeform: Shape 14">
              <a:extLst>
                <a:ext uri="{FF2B5EF4-FFF2-40B4-BE49-F238E27FC236}">
                  <a16:creationId xmlns:a16="http://schemas.microsoft.com/office/drawing/2014/main" xmlns="" id="{FC80ACB6-0FE0-4F10-998D-2E8D463750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xmlns="" id="{1C2903D5-FF18-4A00-8E9F-9335FCF1E48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xmlns="" id="{71A8B53C-ED2D-4081-AC0C-F87A9D4B3AF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0210480" y="681042"/>
            <a:ext cx="1562428" cy="1493465"/>
            <a:chOff x="3121343" y="4864099"/>
            <a:chExt cx="2085971" cy="1993901"/>
          </a:xfrm>
          <a:solidFill>
            <a:schemeClr val="bg1"/>
          </a:solidFill>
        </p:grpSpPr>
        <p:sp>
          <p:nvSpPr>
            <p:cNvPr id="35" name="Freeform: Shape 34">
              <a:extLst>
                <a:ext uri="{FF2B5EF4-FFF2-40B4-BE49-F238E27FC236}">
                  <a16:creationId xmlns:a16="http://schemas.microsoft.com/office/drawing/2014/main" xmlns="" id="{E2C7D52B-9C2A-4BDB-89DC-A89BDB9F8CB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238556" y="4981312"/>
              <a:ext cx="442726" cy="44272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6" name="Freeform: Shape 35">
              <a:extLst>
                <a:ext uri="{FF2B5EF4-FFF2-40B4-BE49-F238E27FC236}">
                  <a16:creationId xmlns:a16="http://schemas.microsoft.com/office/drawing/2014/main" xmlns="" id="{C4B951A6-4FAF-4CBA-B55F-3AAD557581D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128809" y="4871565"/>
              <a:ext cx="902626" cy="902626"/>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7" name="Freeform: Shape 36">
              <a:extLst>
                <a:ext uri="{FF2B5EF4-FFF2-40B4-BE49-F238E27FC236}">
                  <a16:creationId xmlns:a16="http://schemas.microsoft.com/office/drawing/2014/main" xmlns="" id="{FC4DABFE-3395-46F4-95C0-CA58332AAFB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121343" y="4864099"/>
              <a:ext cx="1152732" cy="1152732"/>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 name="Freeform: Shape 37">
              <a:extLst>
                <a:ext uri="{FF2B5EF4-FFF2-40B4-BE49-F238E27FC236}">
                  <a16:creationId xmlns:a16="http://schemas.microsoft.com/office/drawing/2014/main" xmlns="" id="{782225D9-CC2C-4D45-B90F-5EC7DD2652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152324" y="4894707"/>
              <a:ext cx="1321462" cy="1321838"/>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9" name="Freeform: Shape 38">
              <a:extLst>
                <a:ext uri="{FF2B5EF4-FFF2-40B4-BE49-F238E27FC236}">
                  <a16:creationId xmlns:a16="http://schemas.microsoft.com/office/drawing/2014/main" xmlns="" id="{DDC31B28-21ED-494B-BA30-31CD8F9CD90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215037" y="4957793"/>
              <a:ext cx="1428975" cy="1428975"/>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Freeform: Shape 23">
              <a:extLst>
                <a:ext uri="{FF2B5EF4-FFF2-40B4-BE49-F238E27FC236}">
                  <a16:creationId xmlns:a16="http://schemas.microsoft.com/office/drawing/2014/main" xmlns="" id="{9BD8A01F-C2B9-47B6-977F-15E31A8C1D6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301642" y="5044398"/>
              <a:ext cx="1490195" cy="1490195"/>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5" name="Freeform: Shape 24">
              <a:extLst>
                <a:ext uri="{FF2B5EF4-FFF2-40B4-BE49-F238E27FC236}">
                  <a16:creationId xmlns:a16="http://schemas.microsoft.com/office/drawing/2014/main" xmlns="" id="{5D562CCF-082E-4E33-BC25-3C2F3CB261F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409523" y="5152279"/>
              <a:ext cx="1509607" cy="1509607"/>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6" name="Freeform: Shape 25">
              <a:extLst>
                <a:ext uri="{FF2B5EF4-FFF2-40B4-BE49-F238E27FC236}">
                  <a16:creationId xmlns:a16="http://schemas.microsoft.com/office/drawing/2014/main" xmlns="" id="{A91A36DF-6DC9-4C5F-A16E-BC6DC84292F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538685" y="5279576"/>
              <a:ext cx="1488326" cy="1490192"/>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7" name="Freeform: Shape 26">
              <a:extLst>
                <a:ext uri="{FF2B5EF4-FFF2-40B4-BE49-F238E27FC236}">
                  <a16:creationId xmlns:a16="http://schemas.microsoft.com/office/drawing/2014/main" xmlns="" id="{0DEF31D0-A584-489A-B972-966367742EE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683896" y="5426652"/>
              <a:ext cx="1429720" cy="1429720"/>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8" name="Freeform: Shape 27">
              <a:extLst>
                <a:ext uri="{FF2B5EF4-FFF2-40B4-BE49-F238E27FC236}">
                  <a16:creationId xmlns:a16="http://schemas.microsoft.com/office/drawing/2014/main" xmlns="" id="{2706B7B1-0776-4349-9782-39E4AD4ED0D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901021" y="5597624"/>
              <a:ext cx="1275308" cy="1260376"/>
            </a:xfrm>
            <a:custGeom>
              <a:avLst/>
              <a:gdLst>
                <a:gd name="connsiteX0" fmla="*/ 1260376 w 1275308"/>
                <a:gd name="connsiteY0" fmla="*/ 0 h 1260376"/>
                <a:gd name="connsiteX1" fmla="*/ 1275308 w 1275308"/>
                <a:gd name="connsiteY1" fmla="*/ 52634 h 1260376"/>
                <a:gd name="connsiteX2" fmla="*/ 67566 w 1275308"/>
                <a:gd name="connsiteY2" fmla="*/ 1260376 h 1260376"/>
                <a:gd name="connsiteX3" fmla="*/ 0 w 1275308"/>
                <a:gd name="connsiteY3" fmla="*/ 1260376 h 1260376"/>
              </a:gdLst>
              <a:ahLst/>
              <a:cxnLst>
                <a:cxn ang="0">
                  <a:pos x="connsiteX0" y="connsiteY0"/>
                </a:cxn>
                <a:cxn ang="0">
                  <a:pos x="connsiteX1" y="connsiteY1"/>
                </a:cxn>
                <a:cxn ang="0">
                  <a:pos x="connsiteX2" y="connsiteY2"/>
                </a:cxn>
                <a:cxn ang="0">
                  <a:pos x="connsiteX3" y="connsiteY3"/>
                </a:cxn>
              </a:cxnLst>
              <a:rect l="l" t="t" r="r" b="b"/>
              <a:pathLst>
                <a:path w="1275308" h="1260376">
                  <a:moveTo>
                    <a:pt x="1260376" y="0"/>
                  </a:moveTo>
                  <a:cubicBezTo>
                    <a:pt x="1265977" y="17174"/>
                    <a:pt x="1270829" y="34716"/>
                    <a:pt x="1275308" y="52634"/>
                  </a:cubicBezTo>
                  <a:lnTo>
                    <a:pt x="67566" y="1260376"/>
                  </a:lnTo>
                  <a:lnTo>
                    <a:pt x="0" y="1260376"/>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Freeform: Shape 28">
              <a:extLst>
                <a:ext uri="{FF2B5EF4-FFF2-40B4-BE49-F238E27FC236}">
                  <a16:creationId xmlns:a16="http://schemas.microsoft.com/office/drawing/2014/main" xmlns="" id="{7ECC02B0-321C-499C-AB67-2DE74D4DEDE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141456" y="5797338"/>
              <a:ext cx="1065858" cy="1060662"/>
            </a:xfrm>
            <a:custGeom>
              <a:avLst/>
              <a:gdLst>
                <a:gd name="connsiteX0" fmla="*/ 1061006 w 1065858"/>
                <a:gd name="connsiteY0" fmla="*/ 0 h 1060662"/>
                <a:gd name="connsiteX1" fmla="*/ 1065858 w 1065858"/>
                <a:gd name="connsiteY1" fmla="*/ 62342 h 1060662"/>
                <a:gd name="connsiteX2" fmla="*/ 67196 w 1065858"/>
                <a:gd name="connsiteY2" fmla="*/ 1060662 h 1060662"/>
                <a:gd name="connsiteX3" fmla="*/ 0 w 1065858"/>
                <a:gd name="connsiteY3" fmla="*/ 1060662 h 1060662"/>
              </a:gdLst>
              <a:ahLst/>
              <a:cxnLst>
                <a:cxn ang="0">
                  <a:pos x="connsiteX0" y="connsiteY0"/>
                </a:cxn>
                <a:cxn ang="0">
                  <a:pos x="connsiteX1" y="connsiteY1"/>
                </a:cxn>
                <a:cxn ang="0">
                  <a:pos x="connsiteX2" y="connsiteY2"/>
                </a:cxn>
                <a:cxn ang="0">
                  <a:pos x="connsiteX3" y="connsiteY3"/>
                </a:cxn>
              </a:cxnLst>
              <a:rect l="l" t="t" r="r" b="b"/>
              <a:pathLst>
                <a:path w="1065858" h="1060662">
                  <a:moveTo>
                    <a:pt x="1061006" y="0"/>
                  </a:moveTo>
                  <a:cubicBezTo>
                    <a:pt x="1063248" y="20905"/>
                    <a:pt x="1064741" y="41809"/>
                    <a:pt x="1065858" y="62342"/>
                  </a:cubicBezTo>
                  <a:lnTo>
                    <a:pt x="67196" y="1060662"/>
                  </a:lnTo>
                  <a:lnTo>
                    <a:pt x="0" y="106066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0" name="Freeform: Shape 29">
              <a:extLst>
                <a:ext uri="{FF2B5EF4-FFF2-40B4-BE49-F238E27FC236}">
                  <a16:creationId xmlns:a16="http://schemas.microsoft.com/office/drawing/2014/main" xmlns="" id="{F5B3F392-AC23-49B8-A36A-D93B0BD76D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381830" y="6039978"/>
              <a:ext cx="818022" cy="818022"/>
            </a:xfrm>
            <a:custGeom>
              <a:avLst/>
              <a:gdLst>
                <a:gd name="connsiteX0" fmla="*/ 818022 w 818022"/>
                <a:gd name="connsiteY0" fmla="*/ 0 h 818022"/>
                <a:gd name="connsiteX1" fmla="*/ 804584 w 818022"/>
                <a:gd name="connsiteY1" fmla="*/ 80632 h 818022"/>
                <a:gd name="connsiteX2" fmla="*/ 67190 w 818022"/>
                <a:gd name="connsiteY2" fmla="*/ 818022 h 818022"/>
                <a:gd name="connsiteX3" fmla="*/ 0 w 818022"/>
                <a:gd name="connsiteY3" fmla="*/ 818022 h 818022"/>
              </a:gdLst>
              <a:ahLst/>
              <a:cxnLst>
                <a:cxn ang="0">
                  <a:pos x="connsiteX0" y="connsiteY0"/>
                </a:cxn>
                <a:cxn ang="0">
                  <a:pos x="connsiteX1" y="connsiteY1"/>
                </a:cxn>
                <a:cxn ang="0">
                  <a:pos x="connsiteX2" y="connsiteY2"/>
                </a:cxn>
                <a:cxn ang="0">
                  <a:pos x="connsiteX3" y="connsiteY3"/>
                </a:cxn>
              </a:cxnLst>
              <a:rect l="l" t="t" r="r" b="b"/>
              <a:pathLst>
                <a:path w="818022" h="818022">
                  <a:moveTo>
                    <a:pt x="818022" y="0"/>
                  </a:moveTo>
                  <a:cubicBezTo>
                    <a:pt x="814660" y="27250"/>
                    <a:pt x="810180" y="53755"/>
                    <a:pt x="804584" y="80632"/>
                  </a:cubicBezTo>
                  <a:lnTo>
                    <a:pt x="67190" y="818022"/>
                  </a:lnTo>
                  <a:lnTo>
                    <a:pt x="0" y="818022"/>
                  </a:ln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1" name="Freeform: Shape 30">
              <a:extLst>
                <a:ext uri="{FF2B5EF4-FFF2-40B4-BE49-F238E27FC236}">
                  <a16:creationId xmlns:a16="http://schemas.microsoft.com/office/drawing/2014/main" xmlns="" id="{1A72EA58-66EE-4BA2-923C-2B66CFC42D4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647375" y="6390131"/>
              <a:ext cx="442354" cy="442354"/>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aphicFrame>
        <p:nvGraphicFramePr>
          <p:cNvPr id="4" name="Content Placeholder 3">
            <a:extLst>
              <a:ext uri="{FF2B5EF4-FFF2-40B4-BE49-F238E27FC236}">
                <a16:creationId xmlns:a16="http://schemas.microsoft.com/office/drawing/2014/main" xmlns="" id="{FD4B901E-F4AE-28A1-ABEE-DE421FB03844}"/>
              </a:ext>
            </a:extLst>
          </p:cNvPr>
          <p:cNvGraphicFramePr>
            <a:graphicFrameLocks noGrp="1"/>
          </p:cNvGraphicFramePr>
          <p:nvPr>
            <p:ph idx="4294967295"/>
            <p:extLst>
              <p:ext uri="{D42A27DB-BD31-4B8C-83A1-F6EECF244321}">
                <p14:modId xmlns:p14="http://schemas.microsoft.com/office/powerpoint/2010/main" xmlns="" val="491866671"/>
              </p:ext>
            </p:extLst>
          </p:nvPr>
        </p:nvGraphicFramePr>
        <p:xfrm>
          <a:off x="465441" y="2330908"/>
          <a:ext cx="11532969" cy="4292313"/>
        </p:xfrm>
        <a:graphic>
          <a:graphicData uri="http://schemas.openxmlformats.org/drawingml/2006/table">
            <a:tbl>
              <a:tblPr firstRow="1" bandRow="1">
                <a:noFill/>
                <a:tableStyleId>{5C22544A-7EE6-4342-B048-85BDC9FD1C3A}</a:tableStyleId>
              </a:tblPr>
              <a:tblGrid>
                <a:gridCol w="2310226">
                  <a:extLst>
                    <a:ext uri="{9D8B030D-6E8A-4147-A177-3AD203B41FA5}">
                      <a16:colId xmlns:a16="http://schemas.microsoft.com/office/drawing/2014/main" xmlns="" val="3706530880"/>
                    </a:ext>
                  </a:extLst>
                </a:gridCol>
                <a:gridCol w="3310838">
                  <a:extLst>
                    <a:ext uri="{9D8B030D-6E8A-4147-A177-3AD203B41FA5}">
                      <a16:colId xmlns:a16="http://schemas.microsoft.com/office/drawing/2014/main" xmlns="" val="833272201"/>
                    </a:ext>
                  </a:extLst>
                </a:gridCol>
                <a:gridCol w="2751680">
                  <a:extLst>
                    <a:ext uri="{9D8B030D-6E8A-4147-A177-3AD203B41FA5}">
                      <a16:colId xmlns:a16="http://schemas.microsoft.com/office/drawing/2014/main" xmlns="" val="3940381799"/>
                    </a:ext>
                  </a:extLst>
                </a:gridCol>
                <a:gridCol w="3160225">
                  <a:extLst>
                    <a:ext uri="{9D8B030D-6E8A-4147-A177-3AD203B41FA5}">
                      <a16:colId xmlns:a16="http://schemas.microsoft.com/office/drawing/2014/main" xmlns="" val="2909380100"/>
                    </a:ext>
                  </a:extLst>
                </a:gridCol>
              </a:tblGrid>
              <a:tr h="706573">
                <a:tc>
                  <a:txBody>
                    <a:bodyPr/>
                    <a:lstStyle/>
                    <a:p>
                      <a:pPr algn="ctr" fontAlgn="ctr">
                        <a:buNone/>
                      </a:pPr>
                      <a:r>
                        <a:rPr lang="en-GB" sz="2800" u="none" strike="noStrike" dirty="0">
                          <a:solidFill>
                            <a:schemeClr val="tx1">
                              <a:lumMod val="75000"/>
                              <a:lumOff val="25000"/>
                            </a:schemeClr>
                          </a:solidFill>
                          <a:effectLst/>
                        </a:rPr>
                        <a:t>Institution</a:t>
                      </a:r>
                      <a:endParaRPr lang="en-GB" sz="2800" b="1" i="0" u="none" strike="noStrike" dirty="0">
                        <a:solidFill>
                          <a:schemeClr val="tx1">
                            <a:lumMod val="75000"/>
                            <a:lumOff val="25000"/>
                          </a:schemeClr>
                        </a:solidFill>
                        <a:effectLst/>
                        <a:latin typeface="Aptos Narrow" panose="020B0004020202020204" pitchFamily="34" charset="0"/>
                      </a:endParaRPr>
                    </a:p>
                  </a:txBody>
                  <a:tcPr marL="212626" marR="127575" marT="127575" marB="12757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fontAlgn="ctr">
                        <a:buNone/>
                      </a:pPr>
                      <a:r>
                        <a:rPr lang="en-GB" sz="2800" u="none" strike="noStrike">
                          <a:solidFill>
                            <a:schemeClr val="tx1">
                              <a:lumMod val="75000"/>
                              <a:lumOff val="25000"/>
                            </a:schemeClr>
                          </a:solidFill>
                          <a:effectLst/>
                        </a:rPr>
                        <a:t>Key Focus</a:t>
                      </a:r>
                      <a:endParaRPr lang="en-GB" sz="2800" b="1" i="0" u="none" strike="noStrike">
                        <a:solidFill>
                          <a:schemeClr val="tx1">
                            <a:lumMod val="75000"/>
                            <a:lumOff val="25000"/>
                          </a:schemeClr>
                        </a:solidFill>
                        <a:effectLst/>
                        <a:latin typeface="Aptos Narrow" panose="020B0004020202020204" pitchFamily="34" charset="0"/>
                      </a:endParaRPr>
                    </a:p>
                  </a:txBody>
                  <a:tcPr marL="212626" marR="127575" marT="127575" marB="12757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fontAlgn="ctr">
                        <a:buNone/>
                      </a:pPr>
                      <a:r>
                        <a:rPr lang="en-GB" sz="2800" u="none" strike="noStrike">
                          <a:solidFill>
                            <a:schemeClr val="tx1">
                              <a:lumMod val="75000"/>
                              <a:lumOff val="25000"/>
                            </a:schemeClr>
                          </a:solidFill>
                          <a:effectLst/>
                        </a:rPr>
                        <a:t>Strengths</a:t>
                      </a:r>
                      <a:endParaRPr lang="en-GB" sz="2800" b="1" i="0" u="none" strike="noStrike">
                        <a:solidFill>
                          <a:schemeClr val="tx1">
                            <a:lumMod val="75000"/>
                            <a:lumOff val="25000"/>
                          </a:schemeClr>
                        </a:solidFill>
                        <a:effectLst/>
                        <a:latin typeface="Aptos Narrow" panose="020B0004020202020204" pitchFamily="34" charset="0"/>
                      </a:endParaRPr>
                    </a:p>
                  </a:txBody>
                  <a:tcPr marL="212626" marR="127575" marT="127575" marB="12757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fontAlgn="ctr">
                        <a:buNone/>
                      </a:pPr>
                      <a:r>
                        <a:rPr lang="en-GB" sz="2800" u="none" strike="noStrike">
                          <a:solidFill>
                            <a:schemeClr val="tx1">
                              <a:lumMod val="75000"/>
                              <a:lumOff val="25000"/>
                            </a:schemeClr>
                          </a:solidFill>
                          <a:effectLst/>
                        </a:rPr>
                        <a:t>Challenges</a:t>
                      </a:r>
                      <a:endParaRPr lang="en-GB" sz="2800" b="1" i="0" u="none" strike="noStrike">
                        <a:solidFill>
                          <a:schemeClr val="tx1">
                            <a:lumMod val="75000"/>
                            <a:lumOff val="25000"/>
                          </a:schemeClr>
                        </a:solidFill>
                        <a:effectLst/>
                        <a:latin typeface="Aptos Narrow" panose="020B0004020202020204" pitchFamily="34" charset="0"/>
                      </a:endParaRPr>
                    </a:p>
                  </a:txBody>
                  <a:tcPr marL="212626" marR="127575" marT="127575" marB="127575"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xmlns="" val="558124377"/>
                  </a:ext>
                </a:extLst>
              </a:tr>
              <a:tr h="544983">
                <a:tc>
                  <a:txBody>
                    <a:bodyPr/>
                    <a:lstStyle/>
                    <a:p>
                      <a:pPr algn="l" fontAlgn="ctr">
                        <a:buNone/>
                      </a:pPr>
                      <a:r>
                        <a:rPr lang="en-GB" sz="2000" u="none" strike="noStrike">
                          <a:solidFill>
                            <a:schemeClr val="tx1">
                              <a:lumMod val="75000"/>
                              <a:lumOff val="25000"/>
                            </a:schemeClr>
                          </a:solidFill>
                          <a:effectLst/>
                        </a:rPr>
                        <a:t>NHB</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Refinance, Development</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Apex body</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Limited direct lending</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4208757224"/>
                  </a:ext>
                </a:extLst>
              </a:tr>
              <a:tr h="544983">
                <a:tc>
                  <a:txBody>
                    <a:bodyPr/>
                    <a:lstStyle/>
                    <a:p>
                      <a:pPr algn="l" fontAlgn="ctr">
                        <a:buNone/>
                      </a:pPr>
                      <a:r>
                        <a:rPr lang="en-GB" sz="2000" u="none" strike="noStrike">
                          <a:solidFill>
                            <a:schemeClr val="tx1">
                              <a:lumMod val="75000"/>
                              <a:lumOff val="25000"/>
                            </a:schemeClr>
                          </a:solidFill>
                          <a:effectLst/>
                        </a:rPr>
                        <a:t>HFCs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Retail Housing Loans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Product innovation</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Regulatory compliance</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191780885"/>
                  </a:ext>
                </a:extLst>
              </a:tr>
              <a:tr h="860825">
                <a:tc>
                  <a:txBody>
                    <a:bodyPr/>
                    <a:lstStyle/>
                    <a:p>
                      <a:pPr algn="l" fontAlgn="ctr">
                        <a:buNone/>
                      </a:pPr>
                      <a:r>
                        <a:rPr lang="en-GB" sz="2000" u="none" strike="noStrike">
                          <a:solidFill>
                            <a:schemeClr val="tx1">
                              <a:lumMod val="75000"/>
                              <a:lumOff val="25000"/>
                            </a:schemeClr>
                          </a:solidFill>
                          <a:effectLst/>
                        </a:rPr>
                        <a:t>Banks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Mass-market Lending</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Wide reach, low-cost</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Exposure risks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3037473344"/>
                  </a:ext>
                </a:extLst>
              </a:tr>
              <a:tr h="544983">
                <a:tc>
                  <a:txBody>
                    <a:bodyPr/>
                    <a:lstStyle/>
                    <a:p>
                      <a:pPr algn="l" fontAlgn="ctr">
                        <a:buNone/>
                      </a:pPr>
                      <a:r>
                        <a:rPr lang="en-GB" sz="2000" u="none" strike="noStrike">
                          <a:solidFill>
                            <a:schemeClr val="tx1">
                              <a:lumMod val="75000"/>
                              <a:lumOff val="25000"/>
                            </a:schemeClr>
                          </a:solidFill>
                          <a:effectLst/>
                        </a:rPr>
                        <a:t>HUDCO</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Govt Schemes &amp; Infra</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EWS/LIG support</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Bureaucratic hurdles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2287766964"/>
                  </a:ext>
                </a:extLst>
              </a:tr>
              <a:tr h="544983">
                <a:tc>
                  <a:txBody>
                    <a:bodyPr/>
                    <a:lstStyle/>
                    <a:p>
                      <a:pPr algn="l" fontAlgn="ctr">
                        <a:buNone/>
                      </a:pPr>
                      <a:r>
                        <a:rPr lang="en-GB" sz="2000" u="none" strike="noStrike">
                          <a:solidFill>
                            <a:schemeClr val="tx1">
                              <a:lumMod val="75000"/>
                              <a:lumOff val="25000"/>
                            </a:schemeClr>
                          </a:solidFill>
                          <a:effectLst/>
                        </a:rPr>
                        <a:t>LIC/GIC</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Long-term Finance</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Stability, tenure</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Limited flexibility</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2271650330"/>
                  </a:ext>
                </a:extLst>
              </a:tr>
              <a:tr h="544983">
                <a:tc>
                  <a:txBody>
                    <a:bodyPr/>
                    <a:lstStyle/>
                    <a:p>
                      <a:pPr algn="l" fontAlgn="ctr">
                        <a:buNone/>
                      </a:pPr>
                      <a:r>
                        <a:rPr lang="en-GB" sz="2000" u="none" strike="noStrike">
                          <a:solidFill>
                            <a:schemeClr val="tx1">
                              <a:lumMod val="75000"/>
                              <a:lumOff val="25000"/>
                            </a:schemeClr>
                          </a:solidFill>
                          <a:effectLst/>
                        </a:rPr>
                        <a:t>Co-ops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Local Credit</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a:solidFill>
                            <a:schemeClr val="tx1">
                              <a:lumMod val="75000"/>
                              <a:lumOff val="25000"/>
                            </a:schemeClr>
                          </a:solidFill>
                          <a:effectLst/>
                        </a:rPr>
                        <a:t>Trust, access</a:t>
                      </a:r>
                      <a:endParaRPr lang="en-GB" sz="2000" b="0" i="0" u="none" strike="noStrike">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buNone/>
                      </a:pPr>
                      <a:r>
                        <a:rPr lang="en-GB" sz="2000" u="none" strike="noStrike" dirty="0">
                          <a:solidFill>
                            <a:schemeClr val="tx1">
                              <a:lumMod val="75000"/>
                              <a:lumOff val="25000"/>
                            </a:schemeClr>
                          </a:solidFill>
                          <a:effectLst/>
                        </a:rPr>
                        <a:t>Limited capital </a:t>
                      </a:r>
                      <a:endParaRPr lang="en-GB" sz="2000" b="0" i="0" u="none" strike="noStrike" dirty="0">
                        <a:solidFill>
                          <a:schemeClr val="tx1">
                            <a:lumMod val="75000"/>
                            <a:lumOff val="25000"/>
                          </a:schemeClr>
                        </a:solidFill>
                        <a:effectLst/>
                        <a:latin typeface="Aptos Narrow" panose="020B0004020202020204" pitchFamily="34" charset="0"/>
                      </a:endParaRPr>
                    </a:p>
                  </a:txBody>
                  <a:tcPr marL="212626" marR="110565" marT="110565" marB="110565"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xmlns="" val="4089273163"/>
                  </a:ext>
                </a:extLst>
              </a:tr>
            </a:tbl>
          </a:graphicData>
        </a:graphic>
      </p:graphicFrame>
    </p:spTree>
    <p:extLst>
      <p:ext uri="{BB962C8B-B14F-4D97-AF65-F5344CB8AC3E}">
        <p14:creationId xmlns:p14="http://schemas.microsoft.com/office/powerpoint/2010/main" xmlns="" val="4013663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5A292AEA-2528-46C0-B426-95822B6141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D8B7B198-E4DF-43CD-AD8C-1998843237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xmlns="" id="{2BE67753-EA0E-4819-8D22-0B6600CF723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xmlns="" id="{D76D63AC-0421-45EC-B383-E79A61A78C6B}"/>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xmlns="" id="{B997A32E-7032-4107-9C8B-99DB59EDD5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xmlns="" id="{943BB27F-1470-42CA-91FF-D94BC691C8F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xmlns="" id="{E997B002-17FD-47B3-A06A-76802FE15CE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xmlns="" id="{E401EA35-9D2E-43B7-860F-EBB8A6C3E08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xmlns="" id="{F8C44827-3D81-4FF9-B4A5-5650D1B20A2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xmlns="" id="{F613D97F-F6DF-4D32-AD91-209A80E7A23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xmlns="" id="{82B0ED5C-927D-4C5F-8F27-1B403820B97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le 1">
            <a:extLst>
              <a:ext uri="{FF2B5EF4-FFF2-40B4-BE49-F238E27FC236}">
                <a16:creationId xmlns:a16="http://schemas.microsoft.com/office/drawing/2014/main" xmlns="" id="{10D2A0DB-B5CD-6D0B-8606-9F596D25D377}"/>
              </a:ext>
            </a:extLst>
          </p:cNvPr>
          <p:cNvSpPr>
            <a:spLocks noGrp="1"/>
          </p:cNvSpPr>
          <p:nvPr>
            <p:ph type="title"/>
          </p:nvPr>
        </p:nvSpPr>
        <p:spPr>
          <a:xfrm>
            <a:off x="3502731" y="1542402"/>
            <a:ext cx="6204882" cy="2387918"/>
          </a:xfrm>
        </p:spPr>
        <p:txBody>
          <a:bodyPr vert="horz" lIns="91440" tIns="45720" rIns="91440" bIns="45720" rtlCol="0" anchor="b">
            <a:normAutofit fontScale="90000"/>
          </a:bodyPr>
          <a:lstStyle/>
          <a:p>
            <a:pPr algn="ctr"/>
            <a:r>
              <a:rPr lang="en-US" sz="8800" b="1" kern="1200" dirty="0">
                <a:solidFill>
                  <a:schemeClr val="tx2"/>
                </a:solidFill>
                <a:latin typeface="+mj-lt"/>
                <a:ea typeface="+mj-ea"/>
                <a:cs typeface="+mj-cs"/>
              </a:rPr>
              <a:t>Securitization</a:t>
            </a:r>
            <a:endParaRPr lang="en-US" sz="8800" kern="1200" dirty="0">
              <a:solidFill>
                <a:schemeClr val="tx2"/>
              </a:solidFill>
              <a:latin typeface="+mj-lt"/>
              <a:ea typeface="+mj-ea"/>
              <a:cs typeface="+mj-cs"/>
            </a:endParaRPr>
          </a:p>
        </p:txBody>
      </p:sp>
      <p:grpSp>
        <p:nvGrpSpPr>
          <p:cNvPr id="23" name="Group 22">
            <a:extLst>
              <a:ext uri="{FF2B5EF4-FFF2-40B4-BE49-F238E27FC236}">
                <a16:creationId xmlns:a16="http://schemas.microsoft.com/office/drawing/2014/main" xmlns="" id="{87F87F1B-42BA-4AC7-A4E2-41544DDB2CE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xmlns="" id="{68B53067-4E48-4E71-A6A9-A8CAABAFBF6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xmlns="" id="{06D1A0D3-4BB8-41D9-9CE7-2884C83F448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xmlns="" id="{81E20F06-3B09-4B89-A36B-AB8BFBCCA5D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xmlns="" id="{DAE6C3D7-7D5B-4926-877D-45F117BB6BF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xmlns="" id="{967346A5-7569-4F15-AB5D-BE3DADF192C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xmlns="" id="{E1951533-A568-4765-AB1F-F71D9AFDEA9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xmlns="" id="{A7214F52-4F3F-4C96-A62E-F1401D6C04F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xmlns="" id="{023146A1-291C-4FA0-AB5B-EB04D423981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xmlns="" id="{62977932-2B03-4899-8306-5002CEE68E2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xmlns="" val="1412144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2659FDB4-FCBE-4A89-B46D-43D4FA5446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xmlns="" id="{0EE85315-4C3A-8464-4C8C-7772E2D05005}"/>
              </a:ext>
            </a:extLst>
          </p:cNvPr>
          <p:cNvSpPr>
            <a:spLocks noGrp="1"/>
          </p:cNvSpPr>
          <p:nvPr>
            <p:ph type="title"/>
          </p:nvPr>
        </p:nvSpPr>
        <p:spPr>
          <a:xfrm>
            <a:off x="479394" y="1070800"/>
            <a:ext cx="3939688" cy="5583126"/>
          </a:xfrm>
        </p:spPr>
        <p:txBody>
          <a:bodyPr>
            <a:normAutofit/>
          </a:bodyPr>
          <a:lstStyle/>
          <a:p>
            <a:pPr algn="r"/>
            <a:r>
              <a:rPr lang="en-US" sz="5000" b="1"/>
              <a:t>Securitization – Concept</a:t>
            </a:r>
            <a:endParaRPr lang="en-GB" sz="5000"/>
          </a:p>
        </p:txBody>
      </p:sp>
      <p:cxnSp>
        <p:nvCxnSpPr>
          <p:cNvPr id="11" name="Straight Connector 10">
            <a:extLst>
              <a:ext uri="{FF2B5EF4-FFF2-40B4-BE49-F238E27FC236}">
                <a16:creationId xmlns:a16="http://schemas.microsoft.com/office/drawing/2014/main" xmlns="" id="{C8F51B3F-8331-4E4A-AE96-D47B1006EEA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xmlns="" id="{3BC76AE8-0D1A-B6C5-AA48-7F0D8D665A82}"/>
              </a:ext>
            </a:extLst>
          </p:cNvPr>
          <p:cNvGraphicFramePr>
            <a:graphicFrameLocks noGrp="1"/>
          </p:cNvGraphicFramePr>
          <p:nvPr>
            <p:ph idx="1"/>
            <p:extLst>
              <p:ext uri="{D42A27DB-BD31-4B8C-83A1-F6EECF244321}">
                <p14:modId xmlns:p14="http://schemas.microsoft.com/office/powerpoint/2010/main" xmlns="" val="320895295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464071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256B2C21-A230-48C0-8DF1-C46611373C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3847E18C-932D-4C95-AABA-FEC7C9499A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3150CB11-0C61-439E-910F-5787759E72A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xmlns="" id="{43F8A58B-5155-44CE-A5FF-7647B47D0A7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xmlns="" id="{443F2ACA-E6D6-4028-82DD-F03C262D5D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0A87F6D-3C16-A814-BE99-19C4A9139D5C}"/>
              </a:ext>
            </a:extLst>
          </p:cNvPr>
          <p:cNvSpPr>
            <a:spLocks noGrp="1"/>
          </p:cNvSpPr>
          <p:nvPr>
            <p:ph type="title"/>
          </p:nvPr>
        </p:nvSpPr>
        <p:spPr>
          <a:xfrm>
            <a:off x="586478" y="1683756"/>
            <a:ext cx="3115265" cy="2396359"/>
          </a:xfrm>
        </p:spPr>
        <p:txBody>
          <a:bodyPr anchor="b">
            <a:normAutofit/>
          </a:bodyPr>
          <a:lstStyle/>
          <a:p>
            <a:pPr algn="r"/>
            <a:r>
              <a:rPr lang="en-US" sz="3700" b="1">
                <a:solidFill>
                  <a:srgbClr val="FFFFFF"/>
                </a:solidFill>
              </a:rPr>
              <a:t>Early Stage of Securitization in India</a:t>
            </a:r>
            <a:endParaRPr lang="en-GB" sz="3700">
              <a:solidFill>
                <a:srgbClr val="FFFFFF"/>
              </a:solidFill>
            </a:endParaRPr>
          </a:p>
        </p:txBody>
      </p:sp>
      <p:graphicFrame>
        <p:nvGraphicFramePr>
          <p:cNvPr id="18" name="Content Placeholder 2">
            <a:extLst>
              <a:ext uri="{FF2B5EF4-FFF2-40B4-BE49-F238E27FC236}">
                <a16:creationId xmlns:a16="http://schemas.microsoft.com/office/drawing/2014/main" xmlns="" id="{09B6F29C-D1EC-A924-85B3-A76BC2B1C5E9}"/>
              </a:ext>
            </a:extLst>
          </p:cNvPr>
          <p:cNvGraphicFramePr>
            <a:graphicFrameLocks noGrp="1"/>
          </p:cNvGraphicFramePr>
          <p:nvPr>
            <p:ph idx="1"/>
            <p:extLst>
              <p:ext uri="{D42A27DB-BD31-4B8C-83A1-F6EECF244321}">
                <p14:modId xmlns:p14="http://schemas.microsoft.com/office/powerpoint/2010/main" xmlns="" val="211962385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912204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256B2C21-A230-48C0-8DF1-C46611373C4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3847E18C-932D-4C95-AABA-FEC7C9499AD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3150CB11-0C61-439E-910F-5787759E72A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xmlns="" id="{43F8A58B-5155-44CE-A5FF-7647B47D0A7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xmlns="" id="{443F2ACA-E6D6-4028-82DD-F03C262D5D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19DECF8-941B-5C1F-F66C-DB6DA6D3D93F}"/>
              </a:ext>
            </a:extLst>
          </p:cNvPr>
          <p:cNvSpPr>
            <a:spLocks noGrp="1"/>
          </p:cNvSpPr>
          <p:nvPr>
            <p:ph type="title"/>
          </p:nvPr>
        </p:nvSpPr>
        <p:spPr>
          <a:xfrm>
            <a:off x="586478" y="1683756"/>
            <a:ext cx="3115265" cy="2396359"/>
          </a:xfrm>
        </p:spPr>
        <p:txBody>
          <a:bodyPr anchor="b">
            <a:normAutofit/>
          </a:bodyPr>
          <a:lstStyle/>
          <a:p>
            <a:pPr algn="r"/>
            <a:r>
              <a:rPr lang="en-US" sz="4000" b="1">
                <a:solidFill>
                  <a:srgbClr val="FFFFFF"/>
                </a:solidFill>
              </a:rPr>
              <a:t>Challenges Hindering Growth</a:t>
            </a:r>
            <a:endParaRPr lang="en-GB" sz="4000">
              <a:solidFill>
                <a:srgbClr val="FFFFFF"/>
              </a:solidFill>
            </a:endParaRPr>
          </a:p>
        </p:txBody>
      </p:sp>
      <p:graphicFrame>
        <p:nvGraphicFramePr>
          <p:cNvPr id="5" name="Content Placeholder 2">
            <a:extLst>
              <a:ext uri="{FF2B5EF4-FFF2-40B4-BE49-F238E27FC236}">
                <a16:creationId xmlns:a16="http://schemas.microsoft.com/office/drawing/2014/main" xmlns="" id="{A815F065-2EE6-06C2-42C9-251E14C1C9D7}"/>
              </a:ext>
            </a:extLst>
          </p:cNvPr>
          <p:cNvGraphicFramePr>
            <a:graphicFrameLocks noGrp="1"/>
          </p:cNvGraphicFramePr>
          <p:nvPr>
            <p:ph idx="1"/>
            <p:extLst>
              <p:ext uri="{D42A27DB-BD31-4B8C-83A1-F6EECF244321}">
                <p14:modId xmlns:p14="http://schemas.microsoft.com/office/powerpoint/2010/main" xmlns="" val="364983950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138550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E51BA4DF-2BD4-4EC2-B1DB-B27C8AC718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8D80E1E-3DF4-0F10-D14B-5E4DC8820D41}"/>
              </a:ext>
            </a:extLst>
          </p:cNvPr>
          <p:cNvSpPr>
            <a:spLocks noGrp="1"/>
          </p:cNvSpPr>
          <p:nvPr>
            <p:ph type="title"/>
          </p:nvPr>
        </p:nvSpPr>
        <p:spPr>
          <a:xfrm>
            <a:off x="4553733" y="548464"/>
            <a:ext cx="6798541" cy="1675623"/>
          </a:xfrm>
        </p:spPr>
        <p:txBody>
          <a:bodyPr anchor="b">
            <a:normAutofit/>
          </a:bodyPr>
          <a:lstStyle/>
          <a:p>
            <a:r>
              <a:rPr lang="en-US" sz="4000" b="1"/>
              <a:t>RBI Regulatory Intervention (2006)</a:t>
            </a:r>
            <a:endParaRPr lang="en-GB" sz="4000"/>
          </a:p>
        </p:txBody>
      </p:sp>
      <p:pic>
        <p:nvPicPr>
          <p:cNvPr id="5" name="Picture 4" descr="Office building overlayed with stock market graphs">
            <a:extLst>
              <a:ext uri="{FF2B5EF4-FFF2-40B4-BE49-F238E27FC236}">
                <a16:creationId xmlns:a16="http://schemas.microsoft.com/office/drawing/2014/main" xmlns="" id="{D7066AFC-848D-FB15-4C8C-C3CA99F2BDB7}"/>
              </a:ext>
            </a:extLst>
          </p:cNvPr>
          <p:cNvPicPr>
            <a:picLocks noChangeAspect="1"/>
          </p:cNvPicPr>
          <p:nvPr/>
        </p:nvPicPr>
        <p:blipFill>
          <a:blip r:embed="rId2"/>
          <a:srcRect l="50271" r="9037"/>
          <a:stretch>
            <a:fillRect/>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xmlns="" id="{337CEF2F-EF19-FE90-69F2-FD4481E6517C}"/>
              </a:ext>
            </a:extLst>
          </p:cNvPr>
          <p:cNvSpPr>
            <a:spLocks noGrp="1"/>
          </p:cNvSpPr>
          <p:nvPr>
            <p:ph idx="1"/>
          </p:nvPr>
        </p:nvSpPr>
        <p:spPr>
          <a:xfrm>
            <a:off x="4553734" y="2409830"/>
            <a:ext cx="6798539" cy="3705217"/>
          </a:xfrm>
        </p:spPr>
        <p:txBody>
          <a:bodyPr>
            <a:normAutofit/>
          </a:bodyPr>
          <a:lstStyle/>
          <a:p>
            <a:pPr marL="0" indent="0">
              <a:buNone/>
            </a:pPr>
            <a:r>
              <a:rPr lang="en-US" sz="2000"/>
              <a:t>RBI issued securitization guidelines covering:</a:t>
            </a:r>
          </a:p>
          <a:p>
            <a:pPr lvl="1"/>
            <a:r>
              <a:rPr lang="en-US" sz="2000" b="1"/>
              <a:t>True sale</a:t>
            </a:r>
            <a:r>
              <a:rPr lang="en-US" sz="2000"/>
              <a:t> norms</a:t>
            </a:r>
          </a:p>
          <a:p>
            <a:pPr lvl="1"/>
            <a:r>
              <a:rPr lang="en-US" sz="2000" b="1"/>
              <a:t>Credit enhancement</a:t>
            </a:r>
            <a:r>
              <a:rPr lang="en-US" sz="2000"/>
              <a:t> rules</a:t>
            </a:r>
          </a:p>
          <a:p>
            <a:pPr lvl="1"/>
            <a:r>
              <a:rPr lang="en-US" sz="2000" b="1"/>
              <a:t>Capital adequacy</a:t>
            </a:r>
            <a:r>
              <a:rPr lang="en-US" sz="2000"/>
              <a:t> requirements</a:t>
            </a:r>
          </a:p>
          <a:p>
            <a:r>
              <a:rPr lang="en-US" sz="2000"/>
              <a:t>Increased transparency but raised transaction costs due to capital charges</a:t>
            </a:r>
          </a:p>
        </p:txBody>
      </p:sp>
    </p:spTree>
    <p:extLst>
      <p:ext uri="{BB962C8B-B14F-4D97-AF65-F5344CB8AC3E}">
        <p14:creationId xmlns:p14="http://schemas.microsoft.com/office/powerpoint/2010/main" xmlns="" val="2108993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E51BA4DF-2BD4-4EC2-B1DB-B27C8AC718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D1155E5-67BE-4D62-266E-D3D010630073}"/>
              </a:ext>
            </a:extLst>
          </p:cNvPr>
          <p:cNvSpPr>
            <a:spLocks noGrp="1"/>
          </p:cNvSpPr>
          <p:nvPr>
            <p:ph type="title"/>
          </p:nvPr>
        </p:nvSpPr>
        <p:spPr>
          <a:xfrm>
            <a:off x="4553733" y="548464"/>
            <a:ext cx="6798541" cy="1675623"/>
          </a:xfrm>
        </p:spPr>
        <p:txBody>
          <a:bodyPr anchor="b">
            <a:normAutofit/>
          </a:bodyPr>
          <a:lstStyle/>
          <a:p>
            <a:r>
              <a:rPr lang="en-US" sz="4000" b="1"/>
              <a:t>Secondary Market Limitations</a:t>
            </a:r>
            <a:endParaRPr lang="en-GB" sz="4000"/>
          </a:p>
        </p:txBody>
      </p:sp>
      <p:pic>
        <p:nvPicPr>
          <p:cNvPr id="5" name="Picture 4" descr="Plastic containers in bright colors">
            <a:extLst>
              <a:ext uri="{FF2B5EF4-FFF2-40B4-BE49-F238E27FC236}">
                <a16:creationId xmlns:a16="http://schemas.microsoft.com/office/drawing/2014/main" xmlns="" id="{0FB91D2F-A594-7DD8-1F12-30FF27F8D8D1}"/>
              </a:ext>
            </a:extLst>
          </p:cNvPr>
          <p:cNvPicPr>
            <a:picLocks noChangeAspect="1"/>
          </p:cNvPicPr>
          <p:nvPr/>
        </p:nvPicPr>
        <p:blipFill>
          <a:blip r:embed="rId2"/>
          <a:srcRect l="28355" r="30800" b="-1"/>
          <a:stretch>
            <a:fillRect/>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xmlns="" id="{C42F6431-274A-8B49-AC6A-29A39074E56C}"/>
              </a:ext>
            </a:extLst>
          </p:cNvPr>
          <p:cNvSpPr>
            <a:spLocks noGrp="1"/>
          </p:cNvSpPr>
          <p:nvPr>
            <p:ph idx="1"/>
          </p:nvPr>
        </p:nvSpPr>
        <p:spPr>
          <a:xfrm>
            <a:off x="4553734" y="2409830"/>
            <a:ext cx="6798539" cy="3705217"/>
          </a:xfrm>
        </p:spPr>
        <p:txBody>
          <a:bodyPr>
            <a:normAutofit/>
          </a:bodyPr>
          <a:lstStyle/>
          <a:p>
            <a:r>
              <a:rPr lang="en-US" sz="2000"/>
              <a:t>India lacks a vibrant </a:t>
            </a:r>
            <a:r>
              <a:rPr lang="en-US" sz="2000" b="1"/>
              <a:t>secondary mortgage market</a:t>
            </a:r>
            <a:endParaRPr lang="en-US" sz="2000"/>
          </a:p>
          <a:p>
            <a:r>
              <a:rPr lang="en-US" sz="2000"/>
              <a:t>Consequences:</a:t>
            </a:r>
          </a:p>
          <a:p>
            <a:pPr lvl="1"/>
            <a:r>
              <a:rPr lang="en-US" sz="2000"/>
              <a:t>Limited liquidity for originators (especially small HFCs)</a:t>
            </a:r>
          </a:p>
          <a:p>
            <a:pPr lvl="1"/>
            <a:r>
              <a:rPr lang="en-US" sz="2000"/>
              <a:t>Restricts lending to underserved borrowers</a:t>
            </a:r>
          </a:p>
        </p:txBody>
      </p:sp>
    </p:spTree>
    <p:extLst>
      <p:ext uri="{BB962C8B-B14F-4D97-AF65-F5344CB8AC3E}">
        <p14:creationId xmlns:p14="http://schemas.microsoft.com/office/powerpoint/2010/main" xmlns="" val="3468953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6E9B3E6-E277-4D68-BA48-9CB43FFBD6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xmlns="" id="{AE1C45F0-260A-458C-96ED-C1F6D2151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xmlns="" id="{A6604B49-AD5C-4590-B051-06C8222ECD9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743ECCAF-29C5-4537-947C-7EA1292463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ED49787B-8DE6-4467-AD0A-8DECC6E0C2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xmlns="" id="{D5B0017B-2ECA-49AF-B397-DC140825DF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524699C-6F74-0EF3-B87A-0AF8CEF2D49D}"/>
              </a:ext>
            </a:extLst>
          </p:cNvPr>
          <p:cNvSpPr>
            <a:spLocks noGrp="1"/>
          </p:cNvSpPr>
          <p:nvPr>
            <p:ph type="title"/>
          </p:nvPr>
        </p:nvSpPr>
        <p:spPr>
          <a:xfrm>
            <a:off x="1043631" y="809898"/>
            <a:ext cx="10173010" cy="1554480"/>
          </a:xfrm>
        </p:spPr>
        <p:txBody>
          <a:bodyPr anchor="ctr">
            <a:normAutofit/>
          </a:bodyPr>
          <a:lstStyle/>
          <a:p>
            <a:r>
              <a:rPr lang="en-US" sz="4800" b="1"/>
              <a:t>Risk Weighting and Impact</a:t>
            </a:r>
            <a:endParaRPr lang="en-GB" sz="4800"/>
          </a:p>
        </p:txBody>
      </p:sp>
      <p:cxnSp>
        <p:nvCxnSpPr>
          <p:cNvPr id="18" name="Straight Connector 17">
            <a:extLst>
              <a:ext uri="{FF2B5EF4-FFF2-40B4-BE49-F238E27FC236}">
                <a16:creationId xmlns:a16="http://schemas.microsoft.com/office/drawing/2014/main" xmlns="" id="{6CF1BAF6-AD41-4082-B212-8A1F9A2E877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xmlns="" id="{C7B70A7D-614B-BCEE-6697-6A66C1AB49F3}"/>
              </a:ext>
            </a:extLst>
          </p:cNvPr>
          <p:cNvGraphicFramePr>
            <a:graphicFrameLocks noGrp="1"/>
          </p:cNvGraphicFramePr>
          <p:nvPr>
            <p:ph idx="1"/>
            <p:extLst>
              <p:ext uri="{D42A27DB-BD31-4B8C-83A1-F6EECF244321}">
                <p14:modId xmlns:p14="http://schemas.microsoft.com/office/powerpoint/2010/main" xmlns="" val="883070938"/>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2748820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AE2B703B-46F9-481A-A605-82E2A828C4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04238FA-4758-3D57-F165-B66812744762}"/>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rPr>
              <a:t>Financing Social Housing </a:t>
            </a:r>
            <a:endParaRPr lang="en-GB">
              <a:solidFill>
                <a:srgbClr val="FFFFFF"/>
              </a:solidFill>
            </a:endParaRPr>
          </a:p>
        </p:txBody>
      </p:sp>
      <p:sp>
        <p:nvSpPr>
          <p:cNvPr id="11" name="Rectangle: Rounded Corners 10">
            <a:extLst>
              <a:ext uri="{FF2B5EF4-FFF2-40B4-BE49-F238E27FC236}">
                <a16:creationId xmlns:a16="http://schemas.microsoft.com/office/drawing/2014/main" xmlns="" id="{F13BE4D7-0C3D-4906-B230-A1C5B4665C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xmlns="" id="{F38C75F0-A711-B4CB-CC1B-47AD926B787E}"/>
              </a:ext>
            </a:extLst>
          </p:cNvPr>
          <p:cNvGraphicFramePr>
            <a:graphicFrameLocks noGrp="1"/>
          </p:cNvGraphicFramePr>
          <p:nvPr>
            <p:ph idx="1"/>
            <p:extLst>
              <p:ext uri="{D42A27DB-BD31-4B8C-83A1-F6EECF244321}">
                <p14:modId xmlns:p14="http://schemas.microsoft.com/office/powerpoint/2010/main" xmlns="" val="101014811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9688599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DBF61EA3-B236-439E-9C0B-340980D56B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4F15969-96C6-4C5F-0E80-C3386D14F8F9}"/>
              </a:ext>
            </a:extLst>
          </p:cNvPr>
          <p:cNvSpPr>
            <a:spLocks noGrp="1"/>
          </p:cNvSpPr>
          <p:nvPr>
            <p:ph type="title"/>
          </p:nvPr>
        </p:nvSpPr>
        <p:spPr>
          <a:xfrm>
            <a:off x="808638" y="386930"/>
            <a:ext cx="9236700" cy="1188950"/>
          </a:xfrm>
        </p:spPr>
        <p:txBody>
          <a:bodyPr anchor="b">
            <a:normAutofit/>
          </a:bodyPr>
          <a:lstStyle/>
          <a:p>
            <a:r>
              <a:rPr lang="en-US" sz="5400" b="1"/>
              <a:t>Key Government Programs</a:t>
            </a:r>
            <a:endParaRPr lang="en-GB" sz="5400"/>
          </a:p>
        </p:txBody>
      </p:sp>
      <p:grpSp>
        <p:nvGrpSpPr>
          <p:cNvPr id="10" name="Group 9">
            <a:extLst>
              <a:ext uri="{FF2B5EF4-FFF2-40B4-BE49-F238E27FC236}">
                <a16:creationId xmlns:a16="http://schemas.microsoft.com/office/drawing/2014/main" xmlns="" id="{28FAF094-D087-493F-8DF9-A486C2D6BBAA}"/>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xmlns="" id="{8D7C88D8-5509-4514-925A-9CE148E5CB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275593D-F75E-4426-AE3E-2CDEFD228D2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xmlns="" id="{8060668A-4AD1-0F62-D7FB-A32C103BD569}"/>
              </a:ext>
            </a:extLst>
          </p:cNvPr>
          <p:cNvSpPr>
            <a:spLocks noGrp="1"/>
          </p:cNvSpPr>
          <p:nvPr>
            <p:ph idx="1"/>
          </p:nvPr>
        </p:nvSpPr>
        <p:spPr>
          <a:xfrm>
            <a:off x="793660" y="2599509"/>
            <a:ext cx="10143668" cy="3435531"/>
          </a:xfrm>
        </p:spPr>
        <p:txBody>
          <a:bodyPr anchor="ctr">
            <a:normAutofit/>
          </a:bodyPr>
          <a:lstStyle/>
          <a:p>
            <a:r>
              <a:rPr lang="en-US" sz="2400" b="1"/>
              <a:t>HUDCO</a:t>
            </a:r>
            <a:r>
              <a:rPr lang="en-US" sz="2400"/>
              <a:t> – Nodal agency for social housing finance</a:t>
            </a:r>
          </a:p>
          <a:p>
            <a:r>
              <a:rPr lang="en-US" sz="2400"/>
              <a:t>Important schemes:</a:t>
            </a:r>
          </a:p>
          <a:p>
            <a:pPr lvl="1"/>
            <a:r>
              <a:rPr lang="en-US" b="1"/>
              <a:t>VAMBAY</a:t>
            </a:r>
            <a:r>
              <a:rPr lang="en-US"/>
              <a:t> – Slum housing for urban poor</a:t>
            </a:r>
          </a:p>
          <a:p>
            <a:pPr lvl="1"/>
            <a:r>
              <a:rPr lang="en-US" b="1"/>
              <a:t>IAY</a:t>
            </a:r>
            <a:r>
              <a:rPr lang="en-US"/>
              <a:t> – Rural housing for BPL families</a:t>
            </a:r>
          </a:p>
          <a:p>
            <a:pPr lvl="1"/>
            <a:r>
              <a:rPr lang="en-US" b="1"/>
              <a:t>Two Million Housing Programme</a:t>
            </a:r>
            <a:r>
              <a:rPr lang="en-US"/>
              <a:t> – National level outreach</a:t>
            </a:r>
          </a:p>
          <a:p>
            <a:pPr lvl="1"/>
            <a:r>
              <a:rPr lang="en-US" b="1"/>
              <a:t>Targeted Public Provision (TPP)</a:t>
            </a:r>
            <a:r>
              <a:rPr lang="en-US"/>
              <a:t> – Direct housing assistance</a:t>
            </a:r>
            <a:br>
              <a:rPr lang="en-US"/>
            </a:br>
            <a:endParaRPr lang="en-GB"/>
          </a:p>
        </p:txBody>
      </p:sp>
    </p:spTree>
    <p:extLst>
      <p:ext uri="{BB962C8B-B14F-4D97-AF65-F5344CB8AC3E}">
        <p14:creationId xmlns:p14="http://schemas.microsoft.com/office/powerpoint/2010/main" xmlns="" val="266375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B6CDA21F-E7AF-4C75-8395-33F58D5B0E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xmlns="" id="{AE1C45F0-260A-458C-96ED-C1F6D2151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xmlns="" id="{A6604B49-AD5C-4590-B051-06C8222ECD9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743ECCAF-29C5-4537-947C-7EA1292463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ED49787B-8DE6-4467-AD0A-8DECC6E0C2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xmlns="" id="{D5B0017B-2ECA-49AF-B397-DC140825DF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4BFD1B6B-D2AD-2A1F-E6B4-43F83BD50B70}"/>
              </a:ext>
            </a:extLst>
          </p:cNvPr>
          <p:cNvSpPr>
            <a:spLocks noGrp="1"/>
          </p:cNvSpPr>
          <p:nvPr>
            <p:ph type="title"/>
          </p:nvPr>
        </p:nvSpPr>
        <p:spPr>
          <a:xfrm>
            <a:off x="1043631" y="809898"/>
            <a:ext cx="9942716" cy="1554480"/>
          </a:xfrm>
        </p:spPr>
        <p:txBody>
          <a:bodyPr anchor="ctr">
            <a:normAutofit/>
          </a:bodyPr>
          <a:lstStyle/>
          <a:p>
            <a:r>
              <a:rPr lang="en-US" sz="4800" b="1"/>
              <a:t>Role of International Assistance</a:t>
            </a:r>
            <a:endParaRPr lang="en-GB" sz="4800"/>
          </a:p>
        </p:txBody>
      </p:sp>
      <p:sp>
        <p:nvSpPr>
          <p:cNvPr id="3" name="Content Placeholder 2">
            <a:extLst>
              <a:ext uri="{FF2B5EF4-FFF2-40B4-BE49-F238E27FC236}">
                <a16:creationId xmlns:a16="http://schemas.microsoft.com/office/drawing/2014/main" xmlns="" id="{B9097AC5-A52B-05B0-1C31-563A7DB5AD33}"/>
              </a:ext>
            </a:extLst>
          </p:cNvPr>
          <p:cNvSpPr>
            <a:spLocks noGrp="1"/>
          </p:cNvSpPr>
          <p:nvPr>
            <p:ph idx="1"/>
          </p:nvPr>
        </p:nvSpPr>
        <p:spPr>
          <a:xfrm>
            <a:off x="1045028" y="3017522"/>
            <a:ext cx="9941319" cy="3124658"/>
          </a:xfrm>
        </p:spPr>
        <p:txBody>
          <a:bodyPr anchor="ctr">
            <a:normAutofit/>
          </a:bodyPr>
          <a:lstStyle/>
          <a:p>
            <a:r>
              <a:rPr lang="en-US" sz="2400" b="1"/>
              <a:t>DFID (UK)</a:t>
            </a:r>
            <a:r>
              <a:rPr lang="en-US" sz="2400"/>
              <a:t>, </a:t>
            </a:r>
            <a:r>
              <a:rPr lang="en-US" sz="2400" b="1"/>
              <a:t>KfW (Germany)</a:t>
            </a:r>
            <a:r>
              <a:rPr lang="en-US" sz="2400"/>
              <a:t>, </a:t>
            </a:r>
            <a:r>
              <a:rPr lang="en-US" sz="2400" b="1"/>
              <a:t>JBIC (Japan)</a:t>
            </a:r>
            <a:r>
              <a:rPr lang="en-US" sz="2400"/>
              <a:t>:</a:t>
            </a:r>
          </a:p>
          <a:p>
            <a:pPr lvl="1"/>
            <a:r>
              <a:rPr lang="en-US" dirty="0"/>
              <a:t>Provide </a:t>
            </a:r>
            <a:r>
              <a:rPr lang="en-US" b="1" dirty="0"/>
              <a:t>concessional loans</a:t>
            </a:r>
            <a:endParaRPr lang="en-US" dirty="0"/>
          </a:p>
          <a:p>
            <a:pPr lvl="1"/>
            <a:r>
              <a:rPr lang="en-US" dirty="0"/>
              <a:t>Offer </a:t>
            </a:r>
            <a:r>
              <a:rPr lang="en-US" b="1" dirty="0"/>
              <a:t>technical support</a:t>
            </a:r>
            <a:endParaRPr lang="en-US" dirty="0"/>
          </a:p>
          <a:p>
            <a:pPr lvl="1"/>
            <a:r>
              <a:rPr lang="en-US" dirty="0"/>
              <a:t>Strengthen delivery systems and funding for housing</a:t>
            </a:r>
          </a:p>
          <a:p>
            <a:endParaRPr lang="en-GB" sz="2400"/>
          </a:p>
        </p:txBody>
      </p:sp>
      <p:cxnSp>
        <p:nvCxnSpPr>
          <p:cNvPr id="17" name="Straight Connector 16">
            <a:extLst>
              <a:ext uri="{FF2B5EF4-FFF2-40B4-BE49-F238E27FC236}">
                <a16:creationId xmlns:a16="http://schemas.microsoft.com/office/drawing/2014/main" xmlns="" id="{6CF1BAF6-AD41-4082-B212-8A1F9A2E877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888942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4DA718D0-4865-4629-8134-44F68D41D5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xmlns="" id="{65167ED7-6315-43AB-B1B6-C326D5FD8F8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5400000">
            <a:off x="-2340441" y="2666183"/>
            <a:ext cx="5860051" cy="527712"/>
            <a:chOff x="6081624" y="1998368"/>
            <a:chExt cx="5613457" cy="782175"/>
          </a:xfrm>
          <a:solidFill>
            <a:schemeClr val="accent4"/>
          </a:solidFill>
        </p:grpSpPr>
        <p:sp>
          <p:nvSpPr>
            <p:cNvPr id="17" name="Rectangle 16">
              <a:extLst>
                <a:ext uri="{FF2B5EF4-FFF2-40B4-BE49-F238E27FC236}">
                  <a16:creationId xmlns:a16="http://schemas.microsoft.com/office/drawing/2014/main" xmlns="" id="{EF4D8839-FB03-487D-ACC8-8BFEDD4FEBA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0EF75023-9A3B-42FC-B704-61A8F7BEF41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xmlns="" id="{CBC4F608-B4B8-48C3-9572-C0F061B1CD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A642D7CC-6407-37C9-7F34-A327C0E8B06A}"/>
              </a:ext>
            </a:extLst>
          </p:cNvPr>
          <p:cNvSpPr>
            <a:spLocks noGrp="1"/>
          </p:cNvSpPr>
          <p:nvPr>
            <p:ph type="title"/>
          </p:nvPr>
        </p:nvSpPr>
        <p:spPr>
          <a:xfrm>
            <a:off x="1282963" y="1238080"/>
            <a:ext cx="9849751" cy="1349671"/>
          </a:xfrm>
        </p:spPr>
        <p:txBody>
          <a:bodyPr anchor="b">
            <a:normAutofit/>
          </a:bodyPr>
          <a:lstStyle/>
          <a:p>
            <a:r>
              <a:rPr lang="en-US" sz="5400" b="1"/>
              <a:t>Rental Housing</a:t>
            </a:r>
            <a:endParaRPr lang="en-GB" sz="5400"/>
          </a:p>
        </p:txBody>
      </p:sp>
      <p:sp>
        <p:nvSpPr>
          <p:cNvPr id="18" name="Content Placeholder 2">
            <a:extLst>
              <a:ext uri="{FF2B5EF4-FFF2-40B4-BE49-F238E27FC236}">
                <a16:creationId xmlns:a16="http://schemas.microsoft.com/office/drawing/2014/main" xmlns="" id="{5EECF9BA-55E5-74C1-AE90-9FDB37A244F0}"/>
              </a:ext>
            </a:extLst>
          </p:cNvPr>
          <p:cNvSpPr>
            <a:spLocks noGrp="1"/>
          </p:cNvSpPr>
          <p:nvPr>
            <p:ph idx="1"/>
          </p:nvPr>
        </p:nvSpPr>
        <p:spPr>
          <a:xfrm>
            <a:off x="1289304" y="2902913"/>
            <a:ext cx="9849751" cy="3032168"/>
          </a:xfrm>
        </p:spPr>
        <p:txBody>
          <a:bodyPr anchor="ctr">
            <a:normAutofit/>
          </a:bodyPr>
          <a:lstStyle/>
          <a:p>
            <a:r>
              <a:rPr lang="en-US" sz="2000"/>
              <a:t>Historically neglected in policy</a:t>
            </a:r>
          </a:p>
          <a:p>
            <a:r>
              <a:rPr lang="en-US" sz="2000" b="1"/>
              <a:t>Rent control laws</a:t>
            </a:r>
            <a:r>
              <a:rPr lang="en-US" sz="2000"/>
              <a:t> discouraged private investment</a:t>
            </a:r>
          </a:p>
          <a:p>
            <a:r>
              <a:rPr lang="en-US" sz="2000"/>
              <a:t>Result: Growth of informal rental markets &amp; slums</a:t>
            </a:r>
            <a:br>
              <a:rPr lang="en-US" sz="2000"/>
            </a:br>
            <a:endParaRPr lang="en-US" sz="2000"/>
          </a:p>
          <a:p>
            <a:endParaRPr lang="en-GB" sz="2000"/>
          </a:p>
        </p:txBody>
      </p:sp>
    </p:spTree>
    <p:extLst>
      <p:ext uri="{BB962C8B-B14F-4D97-AF65-F5344CB8AC3E}">
        <p14:creationId xmlns:p14="http://schemas.microsoft.com/office/powerpoint/2010/main" xmlns="" val="4950883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AE2B703B-46F9-481A-A605-82E2A828C4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58CF93D-67BE-80EE-29D9-FEECFFC5592C}"/>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rPr>
              <a:t>Barriers to Rental Housing</a:t>
            </a:r>
            <a:endParaRPr lang="en-GB">
              <a:solidFill>
                <a:srgbClr val="FFFFFF"/>
              </a:solidFill>
            </a:endParaRPr>
          </a:p>
        </p:txBody>
      </p:sp>
      <p:sp>
        <p:nvSpPr>
          <p:cNvPr id="11" name="Rectangle: Rounded Corners 10">
            <a:extLst>
              <a:ext uri="{FF2B5EF4-FFF2-40B4-BE49-F238E27FC236}">
                <a16:creationId xmlns:a16="http://schemas.microsoft.com/office/drawing/2014/main" xmlns="" id="{F13BE4D7-0C3D-4906-B230-A1C5B4665C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xmlns="" id="{5FF50500-32F9-BC49-F51F-A69C30096402}"/>
              </a:ext>
            </a:extLst>
          </p:cNvPr>
          <p:cNvGraphicFramePr>
            <a:graphicFrameLocks noGrp="1"/>
          </p:cNvGraphicFramePr>
          <p:nvPr>
            <p:ph idx="1"/>
            <p:extLst>
              <p:ext uri="{D42A27DB-BD31-4B8C-83A1-F6EECF244321}">
                <p14:modId xmlns:p14="http://schemas.microsoft.com/office/powerpoint/2010/main" xmlns="" val="2954064498"/>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3885391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AE2B703B-46F9-481A-A605-82E2A828C4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7F1763C-2F6C-D1B2-9BA1-1986072BA832}"/>
              </a:ext>
            </a:extLst>
          </p:cNvPr>
          <p:cNvSpPr>
            <a:spLocks noGrp="1"/>
          </p:cNvSpPr>
          <p:nvPr>
            <p:ph type="title"/>
          </p:nvPr>
        </p:nvSpPr>
        <p:spPr>
          <a:xfrm>
            <a:off x="838200" y="459863"/>
            <a:ext cx="10515600" cy="1004594"/>
          </a:xfrm>
        </p:spPr>
        <p:txBody>
          <a:bodyPr>
            <a:normAutofit/>
          </a:bodyPr>
          <a:lstStyle/>
          <a:p>
            <a:pPr algn="ctr"/>
            <a:r>
              <a:rPr lang="en-US" b="1">
                <a:solidFill>
                  <a:srgbClr val="FFFFFF"/>
                </a:solidFill>
              </a:rPr>
              <a:t>Recent Policy Efforts</a:t>
            </a:r>
            <a:endParaRPr lang="en-GB">
              <a:solidFill>
                <a:srgbClr val="FFFFFF"/>
              </a:solidFill>
            </a:endParaRPr>
          </a:p>
        </p:txBody>
      </p:sp>
      <p:sp>
        <p:nvSpPr>
          <p:cNvPr id="11" name="Rectangle: Rounded Corners 10">
            <a:extLst>
              <a:ext uri="{FF2B5EF4-FFF2-40B4-BE49-F238E27FC236}">
                <a16:creationId xmlns:a16="http://schemas.microsoft.com/office/drawing/2014/main" xmlns="" id="{F13BE4D7-0C3D-4906-B230-A1C5B4665CC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xmlns="" id="{85843885-6BAE-2107-2726-BF9407E6714D}"/>
              </a:ext>
            </a:extLst>
          </p:cNvPr>
          <p:cNvGraphicFramePr>
            <a:graphicFrameLocks noGrp="1"/>
          </p:cNvGraphicFramePr>
          <p:nvPr>
            <p:ph idx="1"/>
            <p:extLst>
              <p:ext uri="{D42A27DB-BD31-4B8C-83A1-F6EECF244321}">
                <p14:modId xmlns:p14="http://schemas.microsoft.com/office/powerpoint/2010/main" xmlns="" val="321528790"/>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618694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676A1B86-DC99-46B9-B5AA-A7E928EA9C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E9304FFE-74E9-4316-B822-F35A685E2D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BC76E27-5282-42A7-BE46-F9965B693834}"/>
              </a:ext>
            </a:extLst>
          </p:cNvPr>
          <p:cNvSpPr>
            <a:spLocks noGrp="1"/>
          </p:cNvSpPr>
          <p:nvPr>
            <p:ph type="title"/>
          </p:nvPr>
        </p:nvSpPr>
        <p:spPr>
          <a:xfrm>
            <a:off x="5162550" y="1562669"/>
            <a:ext cx="5636113" cy="2456597"/>
          </a:xfrm>
        </p:spPr>
        <p:txBody>
          <a:bodyPr vert="horz" lIns="91440" tIns="45720" rIns="91440" bIns="45720" rtlCol="0" anchor="b">
            <a:normAutofit/>
          </a:bodyPr>
          <a:lstStyle/>
          <a:p>
            <a:pPr algn="ctr"/>
            <a:r>
              <a:rPr lang="en-US" sz="4400" b="1">
                <a:solidFill>
                  <a:schemeClr val="tx1">
                    <a:lumMod val="85000"/>
                    <a:lumOff val="15000"/>
                  </a:schemeClr>
                </a:solidFill>
              </a:rPr>
              <a:t>INFORMAL SECTOR</a:t>
            </a:r>
            <a:endParaRPr lang="en-US" sz="4400">
              <a:solidFill>
                <a:schemeClr val="tx1">
                  <a:lumMod val="85000"/>
                  <a:lumOff val="15000"/>
                </a:schemeClr>
              </a:solidFill>
            </a:endParaRPr>
          </a:p>
        </p:txBody>
      </p:sp>
      <p:pic>
        <p:nvPicPr>
          <p:cNvPr id="5" name="Picture 4" descr="Exterior windows of a building">
            <a:extLst>
              <a:ext uri="{FF2B5EF4-FFF2-40B4-BE49-F238E27FC236}">
                <a16:creationId xmlns:a16="http://schemas.microsoft.com/office/drawing/2014/main" xmlns="" id="{5162925D-08D1-64AA-36EF-46B2A590927A}"/>
              </a:ext>
            </a:extLst>
          </p:cNvPr>
          <p:cNvPicPr>
            <a:picLocks noChangeAspect="1"/>
          </p:cNvPicPr>
          <p:nvPr/>
        </p:nvPicPr>
        <p:blipFill>
          <a:blip r:embed="rId2"/>
          <a:srcRect l="30122" r="30841"/>
          <a:stretch>
            <a:fillRect/>
          </a:stretch>
        </p:blipFill>
        <p:spPr>
          <a:xfrm>
            <a:off x="-7266" y="10"/>
            <a:ext cx="3569616" cy="6857990"/>
          </a:xfrm>
          <a:custGeom>
            <a:avLst/>
            <a:gdLst/>
            <a:ahLst/>
            <a:cxnLst/>
            <a:rect l="l" t="t" r="r" b="b"/>
            <a:pathLst>
              <a:path w="3569616" h="6858000">
                <a:moveTo>
                  <a:pt x="0" y="0"/>
                </a:moveTo>
                <a:lnTo>
                  <a:pt x="3119345" y="0"/>
                </a:lnTo>
                <a:lnTo>
                  <a:pt x="3123529" y="17226"/>
                </a:lnTo>
                <a:cubicBezTo>
                  <a:pt x="3124924" y="23927"/>
                  <a:pt x="3126075" y="29690"/>
                  <a:pt x="3127926" y="35733"/>
                </a:cubicBezTo>
                <a:cubicBezTo>
                  <a:pt x="3135983" y="55162"/>
                  <a:pt x="3152761" y="75163"/>
                  <a:pt x="3158476" y="86830"/>
                </a:cubicBezTo>
                <a:lnTo>
                  <a:pt x="3162217" y="105744"/>
                </a:lnTo>
                <a:lnTo>
                  <a:pt x="3166997" y="104727"/>
                </a:lnTo>
                <a:lnTo>
                  <a:pt x="3167793" y="111793"/>
                </a:lnTo>
                <a:lnTo>
                  <a:pt x="3168896" y="127609"/>
                </a:lnTo>
                <a:cubicBezTo>
                  <a:pt x="3170241" y="137435"/>
                  <a:pt x="3170795" y="164972"/>
                  <a:pt x="3173185" y="174906"/>
                </a:cubicBezTo>
                <a:cubicBezTo>
                  <a:pt x="3178510" y="177461"/>
                  <a:pt x="3181593" y="181749"/>
                  <a:pt x="3183238" y="187215"/>
                </a:cubicBezTo>
                <a:lnTo>
                  <a:pt x="3184145" y="199435"/>
                </a:lnTo>
                <a:lnTo>
                  <a:pt x="3200957" y="269529"/>
                </a:lnTo>
                <a:lnTo>
                  <a:pt x="3202491" y="279219"/>
                </a:lnTo>
                <a:lnTo>
                  <a:pt x="3206975" y="284221"/>
                </a:lnTo>
                <a:cubicBezTo>
                  <a:pt x="3208056" y="288198"/>
                  <a:pt x="3208241" y="299815"/>
                  <a:pt x="3208979" y="303078"/>
                </a:cubicBezTo>
                <a:cubicBezTo>
                  <a:pt x="3209786" y="303316"/>
                  <a:pt x="3210593" y="303555"/>
                  <a:pt x="3211400" y="303794"/>
                </a:cubicBezTo>
                <a:cubicBezTo>
                  <a:pt x="3215834" y="314048"/>
                  <a:pt x="3230882" y="352723"/>
                  <a:pt x="3235583" y="364595"/>
                </a:cubicBezTo>
                <a:cubicBezTo>
                  <a:pt x="3232098" y="367263"/>
                  <a:pt x="3238178" y="372307"/>
                  <a:pt x="3239601" y="375020"/>
                </a:cubicBezTo>
                <a:cubicBezTo>
                  <a:pt x="3237179" y="375617"/>
                  <a:pt x="3236854" y="382439"/>
                  <a:pt x="3239157" y="384290"/>
                </a:cubicBezTo>
                <a:cubicBezTo>
                  <a:pt x="3254070" y="431093"/>
                  <a:pt x="3227895" y="408920"/>
                  <a:pt x="3245230" y="435044"/>
                </a:cubicBezTo>
                <a:cubicBezTo>
                  <a:pt x="3246565" y="439781"/>
                  <a:pt x="3245820" y="443743"/>
                  <a:pt x="3244204" y="447282"/>
                </a:cubicBezTo>
                <a:lnTo>
                  <a:pt x="3240762" y="452630"/>
                </a:lnTo>
                <a:lnTo>
                  <a:pt x="3249093" y="471880"/>
                </a:lnTo>
                <a:cubicBezTo>
                  <a:pt x="3252174" y="481431"/>
                  <a:pt x="3254453" y="491548"/>
                  <a:pt x="3255857" y="501992"/>
                </a:cubicBezTo>
                <a:cubicBezTo>
                  <a:pt x="3250999" y="504682"/>
                  <a:pt x="3258622" y="512442"/>
                  <a:pt x="3260271" y="516223"/>
                </a:cubicBezTo>
                <a:cubicBezTo>
                  <a:pt x="3257006" y="516482"/>
                  <a:pt x="3255973" y="525173"/>
                  <a:pt x="3258865" y="528038"/>
                </a:cubicBezTo>
                <a:cubicBezTo>
                  <a:pt x="3274535" y="591283"/>
                  <a:pt x="3241762" y="557303"/>
                  <a:pt x="3262462" y="594499"/>
                </a:cubicBezTo>
                <a:cubicBezTo>
                  <a:pt x="3263816" y="600863"/>
                  <a:pt x="3262479" y="605795"/>
                  <a:pt x="3260024" y="610000"/>
                </a:cubicBezTo>
                <a:lnTo>
                  <a:pt x="3253721" y="617692"/>
                </a:lnTo>
                <a:lnTo>
                  <a:pt x="3256482" y="623204"/>
                </a:lnTo>
                <a:cubicBezTo>
                  <a:pt x="3258005" y="644600"/>
                  <a:pt x="3251476" y="651376"/>
                  <a:pt x="3259225" y="663365"/>
                </a:cubicBezTo>
                <a:cubicBezTo>
                  <a:pt x="3245876" y="682744"/>
                  <a:pt x="3258539" y="675670"/>
                  <a:pt x="3261631" y="689522"/>
                </a:cubicBezTo>
                <a:cubicBezTo>
                  <a:pt x="3265207" y="700373"/>
                  <a:pt x="3269507" y="679723"/>
                  <a:pt x="3271002" y="690492"/>
                </a:cubicBezTo>
                <a:cubicBezTo>
                  <a:pt x="3267989" y="702455"/>
                  <a:pt x="3279578" y="701125"/>
                  <a:pt x="3275760" y="713609"/>
                </a:cubicBezTo>
                <a:cubicBezTo>
                  <a:pt x="3266819" y="711239"/>
                  <a:pt x="3278954" y="737528"/>
                  <a:pt x="3271356" y="738880"/>
                </a:cubicBezTo>
                <a:cubicBezTo>
                  <a:pt x="3282938" y="748490"/>
                  <a:pt x="3269788" y="754591"/>
                  <a:pt x="3274016" y="768139"/>
                </a:cubicBezTo>
                <a:cubicBezTo>
                  <a:pt x="3278559" y="774347"/>
                  <a:pt x="3279560" y="778980"/>
                  <a:pt x="3275507" y="785654"/>
                </a:cubicBezTo>
                <a:cubicBezTo>
                  <a:pt x="3297514" y="814181"/>
                  <a:pt x="3277534" y="803670"/>
                  <a:pt x="3287024" y="831111"/>
                </a:cubicBezTo>
                <a:cubicBezTo>
                  <a:pt x="3296672" y="854655"/>
                  <a:pt x="3303659" y="881610"/>
                  <a:pt x="3324562" y="903604"/>
                </a:cubicBezTo>
                <a:cubicBezTo>
                  <a:pt x="3330338" y="907511"/>
                  <a:pt x="3333079" y="917872"/>
                  <a:pt x="3330682" y="926744"/>
                </a:cubicBezTo>
                <a:cubicBezTo>
                  <a:pt x="3330269" y="928269"/>
                  <a:pt x="3329716" y="929694"/>
                  <a:pt x="3329041" y="930971"/>
                </a:cubicBezTo>
                <a:cubicBezTo>
                  <a:pt x="3333270" y="950914"/>
                  <a:pt x="3351150" y="1023696"/>
                  <a:pt x="3356062" y="1046405"/>
                </a:cubicBezTo>
                <a:cubicBezTo>
                  <a:pt x="3349099" y="1048737"/>
                  <a:pt x="3362597" y="1059482"/>
                  <a:pt x="3358521" y="1067217"/>
                </a:cubicBezTo>
                <a:cubicBezTo>
                  <a:pt x="3354869" y="1072807"/>
                  <a:pt x="3358113" y="1077371"/>
                  <a:pt x="3358773" y="1082909"/>
                </a:cubicBezTo>
                <a:cubicBezTo>
                  <a:pt x="3356098" y="1090444"/>
                  <a:pt x="3363241" y="1113953"/>
                  <a:pt x="3367682" y="1119909"/>
                </a:cubicBezTo>
                <a:cubicBezTo>
                  <a:pt x="3382703" y="1133847"/>
                  <a:pt x="3374343" y="1168367"/>
                  <a:pt x="3385911" y="1180009"/>
                </a:cubicBezTo>
                <a:cubicBezTo>
                  <a:pt x="3387774" y="1184389"/>
                  <a:pt x="3388688" y="1188737"/>
                  <a:pt x="3389010" y="1193041"/>
                </a:cubicBezTo>
                <a:lnTo>
                  <a:pt x="3388572" y="1205179"/>
                </a:lnTo>
                <a:lnTo>
                  <a:pt x="3385768" y="1208811"/>
                </a:lnTo>
                <a:lnTo>
                  <a:pt x="3386975" y="1216129"/>
                </a:lnTo>
                <a:lnTo>
                  <a:pt x="3386647" y="1218271"/>
                </a:lnTo>
                <a:cubicBezTo>
                  <a:pt x="3386007" y="1222365"/>
                  <a:pt x="3385480" y="1226399"/>
                  <a:pt x="3385420" y="1230360"/>
                </a:cubicBezTo>
                <a:cubicBezTo>
                  <a:pt x="3400233" y="1224163"/>
                  <a:pt x="3387342" y="1263034"/>
                  <a:pt x="3398902" y="1251303"/>
                </a:cubicBezTo>
                <a:cubicBezTo>
                  <a:pt x="3401143" y="1271991"/>
                  <a:pt x="3411558" y="1255397"/>
                  <a:pt x="3402244" y="1281071"/>
                </a:cubicBezTo>
                <a:cubicBezTo>
                  <a:pt x="3416627" y="1312459"/>
                  <a:pt x="3415183" y="1363554"/>
                  <a:pt x="3435533" y="1387530"/>
                </a:cubicBezTo>
                <a:cubicBezTo>
                  <a:pt x="3428168" y="1384876"/>
                  <a:pt x="3423452" y="1398828"/>
                  <a:pt x="3427595" y="1407995"/>
                </a:cubicBezTo>
                <a:cubicBezTo>
                  <a:pt x="3398778" y="1398886"/>
                  <a:pt x="3455260" y="1443485"/>
                  <a:pt x="3436580" y="1453051"/>
                </a:cubicBezTo>
                <a:cubicBezTo>
                  <a:pt x="3454427" y="1452263"/>
                  <a:pt x="3487273" y="1492392"/>
                  <a:pt x="3473886" y="1513215"/>
                </a:cubicBezTo>
                <a:cubicBezTo>
                  <a:pt x="3479337" y="1543203"/>
                  <a:pt x="3495403" y="1563620"/>
                  <a:pt x="3491486" y="1595707"/>
                </a:cubicBezTo>
                <a:cubicBezTo>
                  <a:pt x="3493932" y="1596530"/>
                  <a:pt x="3496028" y="1598008"/>
                  <a:pt x="3497869" y="1599939"/>
                </a:cubicBezTo>
                <a:lnTo>
                  <a:pt x="3502453" y="1606503"/>
                </a:lnTo>
                <a:lnTo>
                  <a:pt x="3502232" y="1607846"/>
                </a:lnTo>
                <a:cubicBezTo>
                  <a:pt x="3502503" y="1613048"/>
                  <a:pt x="3503673" y="1615641"/>
                  <a:pt x="3505239" y="1617081"/>
                </a:cubicBezTo>
                <a:cubicBezTo>
                  <a:pt x="3505979" y="1617395"/>
                  <a:pt x="3506719" y="1617710"/>
                  <a:pt x="3507459" y="1618024"/>
                </a:cubicBezTo>
                <a:lnTo>
                  <a:pt x="3510011" y="1624022"/>
                </a:lnTo>
                <a:lnTo>
                  <a:pt x="3516358" y="1634929"/>
                </a:lnTo>
                <a:lnTo>
                  <a:pt x="3516308" y="1637821"/>
                </a:lnTo>
                <a:lnTo>
                  <a:pt x="3523955" y="1655598"/>
                </a:lnTo>
                <a:lnTo>
                  <a:pt x="3523473" y="1656247"/>
                </a:lnTo>
                <a:cubicBezTo>
                  <a:pt x="3522567" y="1658107"/>
                  <a:pt x="3522227" y="1660249"/>
                  <a:pt x="3523061" y="1663024"/>
                </a:cubicBezTo>
                <a:cubicBezTo>
                  <a:pt x="3513175" y="1664689"/>
                  <a:pt x="3520280" y="1667013"/>
                  <a:pt x="3523616" y="1675054"/>
                </a:cubicBezTo>
                <a:cubicBezTo>
                  <a:pt x="3509006" y="1679436"/>
                  <a:pt x="3523682" y="1698702"/>
                  <a:pt x="3517630" y="1707801"/>
                </a:cubicBezTo>
                <a:cubicBezTo>
                  <a:pt x="3520410" y="1713612"/>
                  <a:pt x="3523083" y="1719836"/>
                  <a:pt x="3525537" y="1726380"/>
                </a:cubicBezTo>
                <a:lnTo>
                  <a:pt x="3529903" y="1779986"/>
                </a:lnTo>
                <a:lnTo>
                  <a:pt x="3521468" y="1836998"/>
                </a:lnTo>
                <a:cubicBezTo>
                  <a:pt x="3522502" y="1857808"/>
                  <a:pt x="3519191" y="1876110"/>
                  <a:pt x="3523412" y="1893497"/>
                </a:cubicBezTo>
                <a:cubicBezTo>
                  <a:pt x="3520411" y="1900876"/>
                  <a:pt x="3519436" y="1907708"/>
                  <a:pt x="3525004" y="1913894"/>
                </a:cubicBezTo>
                <a:cubicBezTo>
                  <a:pt x="3524490" y="1933413"/>
                  <a:pt x="3517414" y="1938604"/>
                  <a:pt x="3523928" y="1950514"/>
                </a:cubicBezTo>
                <a:cubicBezTo>
                  <a:pt x="3512685" y="1962215"/>
                  <a:pt x="3517275" y="1962555"/>
                  <a:pt x="3521008" y="1967449"/>
                </a:cubicBezTo>
                <a:lnTo>
                  <a:pt x="3521297" y="1968163"/>
                </a:lnTo>
                <a:lnTo>
                  <a:pt x="3519686" y="1969768"/>
                </a:lnTo>
                <a:lnTo>
                  <a:pt x="3519089" y="1972904"/>
                </a:lnTo>
                <a:lnTo>
                  <a:pt x="3520122" y="1981289"/>
                </a:lnTo>
                <a:lnTo>
                  <a:pt x="3520948" y="1984413"/>
                </a:lnTo>
                <a:cubicBezTo>
                  <a:pt x="3521356" y="1986575"/>
                  <a:pt x="3521416" y="1988026"/>
                  <a:pt x="3521226" y="1989046"/>
                </a:cubicBezTo>
                <a:lnTo>
                  <a:pt x="3521092" y="1989171"/>
                </a:lnTo>
                <a:lnTo>
                  <a:pt x="3521624" y="1993492"/>
                </a:lnTo>
                <a:cubicBezTo>
                  <a:pt x="3522844" y="2000762"/>
                  <a:pt x="3524332" y="2007819"/>
                  <a:pt x="3525996" y="2014518"/>
                </a:cubicBezTo>
                <a:cubicBezTo>
                  <a:pt x="3518529" y="2020777"/>
                  <a:pt x="3529333" y="2045218"/>
                  <a:pt x="3514412" y="2043465"/>
                </a:cubicBezTo>
                <a:cubicBezTo>
                  <a:pt x="3516219" y="2052531"/>
                  <a:pt x="3522688" y="2057653"/>
                  <a:pt x="3512822" y="2055222"/>
                </a:cubicBezTo>
                <a:cubicBezTo>
                  <a:pt x="3513140" y="2058224"/>
                  <a:pt x="3512432" y="2060136"/>
                  <a:pt x="3511227" y="2061550"/>
                </a:cubicBezTo>
                <a:lnTo>
                  <a:pt x="3510645" y="2061975"/>
                </a:lnTo>
                <a:lnTo>
                  <a:pt x="3514907" y="2082129"/>
                </a:lnTo>
                <a:lnTo>
                  <a:pt x="3514347" y="2084880"/>
                </a:lnTo>
                <a:lnTo>
                  <a:pt x="3518565" y="2097919"/>
                </a:lnTo>
                <a:lnTo>
                  <a:pt x="3519976" y="2104707"/>
                </a:lnTo>
                <a:lnTo>
                  <a:pt x="3521958" y="2106519"/>
                </a:lnTo>
                <a:cubicBezTo>
                  <a:pt x="3523219" y="2108534"/>
                  <a:pt x="3523895" y="2111498"/>
                  <a:pt x="3523237" y="2116590"/>
                </a:cubicBezTo>
                <a:lnTo>
                  <a:pt x="3522786" y="2117790"/>
                </a:lnTo>
                <a:lnTo>
                  <a:pt x="3526064" y="2125947"/>
                </a:lnTo>
                <a:cubicBezTo>
                  <a:pt x="3527505" y="2128548"/>
                  <a:pt x="3529274" y="2130818"/>
                  <a:pt x="3531495" y="2132603"/>
                </a:cubicBezTo>
                <a:cubicBezTo>
                  <a:pt x="3522034" y="2161762"/>
                  <a:pt x="3533978" y="2187874"/>
                  <a:pt x="3533955" y="2218836"/>
                </a:cubicBezTo>
                <a:cubicBezTo>
                  <a:pt x="3517312" y="2233337"/>
                  <a:pt x="3542024" y="2285180"/>
                  <a:pt x="3559442" y="2291697"/>
                </a:cubicBezTo>
                <a:cubicBezTo>
                  <a:pt x="3544608" y="2292866"/>
                  <a:pt x="3567228" y="2330146"/>
                  <a:pt x="3568373" y="2340076"/>
                </a:cubicBezTo>
                <a:cubicBezTo>
                  <a:pt x="3568755" y="2343387"/>
                  <a:pt x="3566751" y="2343658"/>
                  <a:pt x="3560178" y="2338540"/>
                </a:cubicBezTo>
                <a:cubicBezTo>
                  <a:pt x="3562571" y="2349015"/>
                  <a:pt x="3555536" y="2360463"/>
                  <a:pt x="3548875" y="2354921"/>
                </a:cubicBezTo>
                <a:cubicBezTo>
                  <a:pt x="3564342" y="2386191"/>
                  <a:pt x="3553912" y="2434573"/>
                  <a:pt x="3562290" y="2470516"/>
                </a:cubicBezTo>
                <a:cubicBezTo>
                  <a:pt x="3548732" y="2491328"/>
                  <a:pt x="3561750" y="2479665"/>
                  <a:pt x="3560263" y="2500409"/>
                </a:cubicBezTo>
                <a:cubicBezTo>
                  <a:pt x="3573531" y="2493872"/>
                  <a:pt x="3554177" y="2525877"/>
                  <a:pt x="3569616" y="2525972"/>
                </a:cubicBezTo>
                <a:cubicBezTo>
                  <a:pt x="3568857" y="2529744"/>
                  <a:pt x="3567635" y="2533395"/>
                  <a:pt x="3566291" y="2537057"/>
                </a:cubicBezTo>
                <a:lnTo>
                  <a:pt x="3565595" y="2538979"/>
                </a:lnTo>
                <a:lnTo>
                  <a:pt x="3565471" y="2546483"/>
                </a:lnTo>
                <a:lnTo>
                  <a:pt x="3562111" y="2548822"/>
                </a:lnTo>
                <a:lnTo>
                  <a:pt x="3559542" y="2560277"/>
                </a:lnTo>
                <a:cubicBezTo>
                  <a:pt x="3559093" y="2564534"/>
                  <a:pt x="3559212" y="2569074"/>
                  <a:pt x="3560240" y="2574030"/>
                </a:cubicBezTo>
                <a:cubicBezTo>
                  <a:pt x="3567097" y="2585933"/>
                  <a:pt x="3560828" y="2605604"/>
                  <a:pt x="3562359" y="2622912"/>
                </a:cubicBezTo>
                <a:lnTo>
                  <a:pt x="3564740" y="2630748"/>
                </a:lnTo>
                <a:lnTo>
                  <a:pt x="3563214" y="2656947"/>
                </a:lnTo>
                <a:cubicBezTo>
                  <a:pt x="3563065" y="2664385"/>
                  <a:pt x="3563222" y="2672085"/>
                  <a:pt x="3563949" y="2680153"/>
                </a:cubicBezTo>
                <a:lnTo>
                  <a:pt x="3566383" y="2695058"/>
                </a:lnTo>
                <a:lnTo>
                  <a:pt x="3565385" y="2699075"/>
                </a:lnTo>
                <a:cubicBezTo>
                  <a:pt x="3565951" y="2705917"/>
                  <a:pt x="3570892" y="2714690"/>
                  <a:pt x="3565525" y="2714239"/>
                </a:cubicBezTo>
                <a:lnTo>
                  <a:pt x="3567847" y="2721812"/>
                </a:lnTo>
                <a:lnTo>
                  <a:pt x="3564077" y="2729693"/>
                </a:lnTo>
                <a:cubicBezTo>
                  <a:pt x="3563144" y="2730592"/>
                  <a:pt x="3562134" y="2731288"/>
                  <a:pt x="3561085" y="2731758"/>
                </a:cubicBezTo>
                <a:lnTo>
                  <a:pt x="3563149" y="2742418"/>
                </a:lnTo>
                <a:lnTo>
                  <a:pt x="3560661" y="2751437"/>
                </a:lnTo>
                <a:lnTo>
                  <a:pt x="3563126" y="2758989"/>
                </a:lnTo>
                <a:lnTo>
                  <a:pt x="3562876" y="2762207"/>
                </a:lnTo>
                <a:lnTo>
                  <a:pt x="3561866" y="2770236"/>
                </a:lnTo>
                <a:cubicBezTo>
                  <a:pt x="3561066" y="2774372"/>
                  <a:pt x="3560080" y="2779005"/>
                  <a:pt x="3559378" y="2784138"/>
                </a:cubicBezTo>
                <a:lnTo>
                  <a:pt x="3559178" y="2788436"/>
                </a:lnTo>
                <a:lnTo>
                  <a:pt x="3554648" y="2798068"/>
                </a:lnTo>
                <a:cubicBezTo>
                  <a:pt x="3551209" y="2805087"/>
                  <a:pt x="3548936" y="2810580"/>
                  <a:pt x="3551400" y="2816345"/>
                </a:cubicBezTo>
                <a:cubicBezTo>
                  <a:pt x="3547036" y="2826742"/>
                  <a:pt x="3533490" y="2834711"/>
                  <a:pt x="3538128" y="2849028"/>
                </a:cubicBezTo>
                <a:cubicBezTo>
                  <a:pt x="3531517" y="2845031"/>
                  <a:pt x="3538369" y="2865256"/>
                  <a:pt x="3532013" y="2868126"/>
                </a:cubicBezTo>
                <a:cubicBezTo>
                  <a:pt x="3526842" y="2869601"/>
                  <a:pt x="3527715" y="2876080"/>
                  <a:pt x="3526094" y="2881167"/>
                </a:cubicBezTo>
                <a:cubicBezTo>
                  <a:pt x="3520961" y="2885059"/>
                  <a:pt x="3517628" y="2910333"/>
                  <a:pt x="3518939" y="2918966"/>
                </a:cubicBezTo>
                <a:cubicBezTo>
                  <a:pt x="3525789" y="2943088"/>
                  <a:pt x="3505468" y="2964225"/>
                  <a:pt x="3510391" y="2983548"/>
                </a:cubicBezTo>
                <a:cubicBezTo>
                  <a:pt x="3510204" y="2988707"/>
                  <a:pt x="3509257" y="2993036"/>
                  <a:pt x="3507840" y="2996827"/>
                </a:cubicBezTo>
                <a:lnTo>
                  <a:pt x="3502741" y="3006379"/>
                </a:lnTo>
                <a:lnTo>
                  <a:pt x="3499028" y="3006971"/>
                </a:lnTo>
                <a:lnTo>
                  <a:pt x="3497157" y="3013976"/>
                </a:lnTo>
                <a:lnTo>
                  <a:pt x="3496053" y="3015450"/>
                </a:lnTo>
                <a:cubicBezTo>
                  <a:pt x="3493931" y="3018255"/>
                  <a:pt x="3491925" y="3021106"/>
                  <a:pt x="3490329" y="3024292"/>
                </a:cubicBezTo>
                <a:cubicBezTo>
                  <a:pt x="3504872" y="3031782"/>
                  <a:pt x="3479143" y="3052632"/>
                  <a:pt x="3493186" y="3052840"/>
                </a:cubicBezTo>
                <a:cubicBezTo>
                  <a:pt x="3486942" y="3071654"/>
                  <a:pt x="3501947" y="3066916"/>
                  <a:pt x="3484298" y="3080007"/>
                </a:cubicBezTo>
                <a:cubicBezTo>
                  <a:pt x="3483814" y="3117860"/>
                  <a:pt x="3462683" y="3158406"/>
                  <a:pt x="3469977" y="3195253"/>
                </a:cubicBezTo>
                <a:cubicBezTo>
                  <a:pt x="3464984" y="3186842"/>
                  <a:pt x="3455676" y="3194249"/>
                  <a:pt x="3455490" y="3205255"/>
                </a:cubicBezTo>
                <a:cubicBezTo>
                  <a:pt x="3435461" y="3173385"/>
                  <a:pt x="3464274" y="3257718"/>
                  <a:pt x="3445250" y="3249703"/>
                </a:cubicBezTo>
                <a:cubicBezTo>
                  <a:pt x="3460163" y="3264187"/>
                  <a:pt x="3471377" y="3324835"/>
                  <a:pt x="3452291" y="3330508"/>
                </a:cubicBezTo>
                <a:cubicBezTo>
                  <a:pt x="3445043" y="3359645"/>
                  <a:pt x="3450218" y="3389952"/>
                  <a:pt x="3434486" y="3412864"/>
                </a:cubicBezTo>
                <a:cubicBezTo>
                  <a:pt x="3436166" y="3415609"/>
                  <a:pt x="3437306" y="3418595"/>
                  <a:pt x="3438058" y="3421734"/>
                </a:cubicBezTo>
                <a:lnTo>
                  <a:pt x="3439245" y="3430986"/>
                </a:lnTo>
                <a:lnTo>
                  <a:pt x="3438541" y="3431897"/>
                </a:lnTo>
                <a:cubicBezTo>
                  <a:pt x="3436732" y="3436375"/>
                  <a:pt x="3436677" y="3439488"/>
                  <a:pt x="3437396" y="3441992"/>
                </a:cubicBezTo>
                <a:lnTo>
                  <a:pt x="3438843" y="3444647"/>
                </a:lnTo>
                <a:lnTo>
                  <a:pt x="3438591" y="3451712"/>
                </a:lnTo>
                <a:lnTo>
                  <a:pt x="3439527" y="3466008"/>
                </a:lnTo>
                <a:lnTo>
                  <a:pt x="3438357" y="3468331"/>
                </a:lnTo>
                <a:lnTo>
                  <a:pt x="3437674" y="3489343"/>
                </a:lnTo>
                <a:cubicBezTo>
                  <a:pt x="3437459" y="3489383"/>
                  <a:pt x="3437241" y="3489424"/>
                  <a:pt x="3437026" y="3489465"/>
                </a:cubicBezTo>
                <a:cubicBezTo>
                  <a:pt x="3435558" y="3490219"/>
                  <a:pt x="3434444" y="3491679"/>
                  <a:pt x="3434044" y="3494659"/>
                </a:cubicBezTo>
                <a:cubicBezTo>
                  <a:pt x="3425302" y="3487640"/>
                  <a:pt x="3430211" y="3495561"/>
                  <a:pt x="3429800" y="3504965"/>
                </a:cubicBezTo>
                <a:cubicBezTo>
                  <a:pt x="3416132" y="3496161"/>
                  <a:pt x="3420620" y="3524348"/>
                  <a:pt x="3412115" y="3526661"/>
                </a:cubicBezTo>
                <a:cubicBezTo>
                  <a:pt x="3412121" y="3533765"/>
                  <a:pt x="3411879" y="3541120"/>
                  <a:pt x="3411331" y="3548549"/>
                </a:cubicBezTo>
                <a:lnTo>
                  <a:pt x="3410824" y="3552872"/>
                </a:lnTo>
                <a:cubicBezTo>
                  <a:pt x="3410773" y="3552889"/>
                  <a:pt x="3410721" y="3552908"/>
                  <a:pt x="3410671" y="3552926"/>
                </a:cubicBezTo>
                <a:cubicBezTo>
                  <a:pt x="3410254" y="3553793"/>
                  <a:pt x="3409971" y="3555188"/>
                  <a:pt x="3409849" y="3557419"/>
                </a:cubicBezTo>
                <a:lnTo>
                  <a:pt x="3409902" y="3560756"/>
                </a:lnTo>
                <a:lnTo>
                  <a:pt x="3408918" y="3569144"/>
                </a:lnTo>
                <a:lnTo>
                  <a:pt x="3407623" y="3571810"/>
                </a:lnTo>
                <a:lnTo>
                  <a:pt x="3405729" y="3572549"/>
                </a:lnTo>
                <a:lnTo>
                  <a:pt x="3405835" y="3573359"/>
                </a:lnTo>
                <a:cubicBezTo>
                  <a:pt x="3408214" y="3579757"/>
                  <a:pt x="3412465" y="3582275"/>
                  <a:pt x="3399129" y="3587902"/>
                </a:cubicBezTo>
                <a:cubicBezTo>
                  <a:pt x="3402495" y="3602236"/>
                  <a:pt x="3394605" y="3603730"/>
                  <a:pt x="3389566" y="3621859"/>
                </a:cubicBezTo>
                <a:cubicBezTo>
                  <a:pt x="3393374" y="3630350"/>
                  <a:pt x="3390863" y="3636316"/>
                  <a:pt x="3386307" y="3641820"/>
                </a:cubicBezTo>
                <a:cubicBezTo>
                  <a:pt x="3386232" y="3660214"/>
                  <a:pt x="3378837" y="3675854"/>
                  <a:pt x="3374956" y="3695940"/>
                </a:cubicBezTo>
                <a:cubicBezTo>
                  <a:pt x="3378387" y="3718839"/>
                  <a:pt x="3365817" y="3728358"/>
                  <a:pt x="3361718" y="3749831"/>
                </a:cubicBezTo>
                <a:cubicBezTo>
                  <a:pt x="3370064" y="3770267"/>
                  <a:pt x="3350403" y="3763879"/>
                  <a:pt x="3344768" y="3774338"/>
                </a:cubicBezTo>
                <a:lnTo>
                  <a:pt x="3343985" y="3777418"/>
                </a:lnTo>
                <a:lnTo>
                  <a:pt x="3344520" y="3785849"/>
                </a:lnTo>
                <a:lnTo>
                  <a:pt x="3345162" y="3789023"/>
                </a:lnTo>
                <a:cubicBezTo>
                  <a:pt x="3345441" y="3791209"/>
                  <a:pt x="3345415" y="3792659"/>
                  <a:pt x="3345164" y="3793659"/>
                </a:cubicBezTo>
                <a:lnTo>
                  <a:pt x="3345024" y="3793774"/>
                </a:lnTo>
                <a:lnTo>
                  <a:pt x="3345300" y="3798119"/>
                </a:lnTo>
                <a:cubicBezTo>
                  <a:pt x="3346087" y="3805456"/>
                  <a:pt x="3347157" y="3812596"/>
                  <a:pt x="3348424" y="3819398"/>
                </a:cubicBezTo>
                <a:cubicBezTo>
                  <a:pt x="3340590" y="3825065"/>
                  <a:pt x="3349940" y="3850234"/>
                  <a:pt x="3335133" y="3847354"/>
                </a:cubicBezTo>
                <a:cubicBezTo>
                  <a:pt x="3336403" y="3856524"/>
                  <a:pt x="3342565" y="3862118"/>
                  <a:pt x="3332848" y="3858945"/>
                </a:cubicBezTo>
                <a:cubicBezTo>
                  <a:pt x="3332988" y="3861961"/>
                  <a:pt x="3332168" y="3863811"/>
                  <a:pt x="3330878" y="3865128"/>
                </a:cubicBezTo>
                <a:lnTo>
                  <a:pt x="3330273" y="3865510"/>
                </a:lnTo>
                <a:lnTo>
                  <a:pt x="3333337" y="3885908"/>
                </a:lnTo>
                <a:lnTo>
                  <a:pt x="3332616" y="3888608"/>
                </a:lnTo>
                <a:lnTo>
                  <a:pt x="3336057" y="3901916"/>
                </a:lnTo>
                <a:lnTo>
                  <a:pt x="3337066" y="3908785"/>
                </a:lnTo>
                <a:lnTo>
                  <a:pt x="3338940" y="3910739"/>
                </a:lnTo>
                <a:cubicBezTo>
                  <a:pt x="3340082" y="3912843"/>
                  <a:pt x="3340580" y="3915849"/>
                  <a:pt x="3339621" y="3920873"/>
                </a:cubicBezTo>
                <a:lnTo>
                  <a:pt x="3339102" y="3922032"/>
                </a:lnTo>
                <a:lnTo>
                  <a:pt x="3341891" y="3930408"/>
                </a:lnTo>
                <a:cubicBezTo>
                  <a:pt x="3343178" y="3933107"/>
                  <a:pt x="3344812" y="3935503"/>
                  <a:pt x="3346927" y="3937451"/>
                </a:cubicBezTo>
                <a:cubicBezTo>
                  <a:pt x="3335745" y="3965779"/>
                  <a:pt x="3346136" y="3992699"/>
                  <a:pt x="3344279" y="4023542"/>
                </a:cubicBezTo>
                <a:cubicBezTo>
                  <a:pt x="3347024" y="4058096"/>
                  <a:pt x="3350783" y="4081986"/>
                  <a:pt x="3351926" y="4104769"/>
                </a:cubicBezTo>
                <a:cubicBezTo>
                  <a:pt x="3353695" y="4115384"/>
                  <a:pt x="3359144" y="4193344"/>
                  <a:pt x="3352816" y="4187317"/>
                </a:cubicBezTo>
                <a:cubicBezTo>
                  <a:pt x="3366419" y="4219638"/>
                  <a:pt x="3351446" y="4239971"/>
                  <a:pt x="3357691" y="4276413"/>
                </a:cubicBezTo>
                <a:cubicBezTo>
                  <a:pt x="3342910" y="4296116"/>
                  <a:pt x="3356610" y="4285488"/>
                  <a:pt x="3353895" y="4306037"/>
                </a:cubicBezTo>
                <a:cubicBezTo>
                  <a:pt x="3367541" y="4300534"/>
                  <a:pt x="3346306" y="4330948"/>
                  <a:pt x="3361728" y="4332215"/>
                </a:cubicBezTo>
                <a:cubicBezTo>
                  <a:pt x="3360746" y="4335915"/>
                  <a:pt x="3359307" y="4339458"/>
                  <a:pt x="3357748" y="4343006"/>
                </a:cubicBezTo>
                <a:lnTo>
                  <a:pt x="3356941" y="4344866"/>
                </a:lnTo>
                <a:lnTo>
                  <a:pt x="3356370" y="4352332"/>
                </a:lnTo>
                <a:lnTo>
                  <a:pt x="3352876" y="4354407"/>
                </a:lnTo>
                <a:lnTo>
                  <a:pt x="3352683" y="4444689"/>
                </a:lnTo>
                <a:cubicBezTo>
                  <a:pt x="3355485" y="4452425"/>
                  <a:pt x="3356736" y="4477980"/>
                  <a:pt x="3352455" y="4483791"/>
                </a:cubicBezTo>
                <a:cubicBezTo>
                  <a:pt x="3351784" y="4489320"/>
                  <a:pt x="3353780" y="4495171"/>
                  <a:pt x="3349030" y="4498683"/>
                </a:cubicBezTo>
                <a:cubicBezTo>
                  <a:pt x="3346858" y="4510741"/>
                  <a:pt x="3341860" y="4538358"/>
                  <a:pt x="3339427" y="4556140"/>
                </a:cubicBezTo>
                <a:cubicBezTo>
                  <a:pt x="3342836" y="4560659"/>
                  <a:pt x="3341611" y="4566842"/>
                  <a:pt x="3339521" y="4574959"/>
                </a:cubicBezTo>
                <a:lnTo>
                  <a:pt x="3338246" y="4582576"/>
                </a:lnTo>
                <a:lnTo>
                  <a:pt x="3348539" y="4605460"/>
                </a:lnTo>
                <a:lnTo>
                  <a:pt x="3345760" y="4678575"/>
                </a:lnTo>
                <a:lnTo>
                  <a:pt x="3356250" y="4713574"/>
                </a:lnTo>
                <a:cubicBezTo>
                  <a:pt x="3358600" y="4727943"/>
                  <a:pt x="3359577" y="4741820"/>
                  <a:pt x="3361380" y="4755215"/>
                </a:cubicBezTo>
                <a:cubicBezTo>
                  <a:pt x="3363928" y="4785596"/>
                  <a:pt x="3347531" y="4766123"/>
                  <a:pt x="3361636" y="4803525"/>
                </a:cubicBezTo>
                <a:cubicBezTo>
                  <a:pt x="3356254" y="4807867"/>
                  <a:pt x="3356117" y="4812705"/>
                  <a:pt x="3358957" y="4820729"/>
                </a:cubicBezTo>
                <a:cubicBezTo>
                  <a:pt x="3359783" y="4835507"/>
                  <a:pt x="3345952" y="4834947"/>
                  <a:pt x="3354635" y="4849546"/>
                </a:cubicBezTo>
                <a:cubicBezTo>
                  <a:pt x="3350894" y="4848362"/>
                  <a:pt x="3350351" y="4855411"/>
                  <a:pt x="3349759" y="4861941"/>
                </a:cubicBezTo>
                <a:lnTo>
                  <a:pt x="3347368" y="4866228"/>
                </a:lnTo>
                <a:lnTo>
                  <a:pt x="3358408" y="4889535"/>
                </a:lnTo>
                <a:cubicBezTo>
                  <a:pt x="3373705" y="4931282"/>
                  <a:pt x="3382233" y="4982216"/>
                  <a:pt x="3393319" y="5017998"/>
                </a:cubicBezTo>
                <a:cubicBezTo>
                  <a:pt x="3368256" y="5040241"/>
                  <a:pt x="3392200" y="5029364"/>
                  <a:pt x="3389184" y="5055049"/>
                </a:cubicBezTo>
                <a:cubicBezTo>
                  <a:pt x="3413510" y="5050695"/>
                  <a:pt x="3377700" y="5085342"/>
                  <a:pt x="3405892" y="5089973"/>
                </a:cubicBezTo>
                <a:cubicBezTo>
                  <a:pt x="3404451" y="5094499"/>
                  <a:pt x="3402165" y="5098741"/>
                  <a:pt x="3399662" y="5102960"/>
                </a:cubicBezTo>
                <a:lnTo>
                  <a:pt x="3398363" y="5105176"/>
                </a:lnTo>
                <a:lnTo>
                  <a:pt x="3398026" y="5114590"/>
                </a:lnTo>
                <a:lnTo>
                  <a:pt x="3391859" y="5116550"/>
                </a:lnTo>
                <a:lnTo>
                  <a:pt x="3386999" y="5130226"/>
                </a:lnTo>
                <a:cubicBezTo>
                  <a:pt x="3386119" y="5135455"/>
                  <a:pt x="3386267" y="5141205"/>
                  <a:pt x="3388073" y="5147747"/>
                </a:cubicBezTo>
                <a:cubicBezTo>
                  <a:pt x="3400425" y="5164741"/>
                  <a:pt x="3388688" y="5187675"/>
                  <a:pt x="3391234" y="5209919"/>
                </a:cubicBezTo>
                <a:lnTo>
                  <a:pt x="3395469" y="5220481"/>
                </a:lnTo>
                <a:lnTo>
                  <a:pt x="3392518" y="5250830"/>
                </a:lnTo>
                <a:lnTo>
                  <a:pt x="3393800" y="5252877"/>
                </a:lnTo>
                <a:cubicBezTo>
                  <a:pt x="3393941" y="5258188"/>
                  <a:pt x="3392357" y="5268832"/>
                  <a:pt x="3393361" y="5282697"/>
                </a:cubicBezTo>
                <a:lnTo>
                  <a:pt x="3399825" y="5336059"/>
                </a:lnTo>
                <a:lnTo>
                  <a:pt x="3392824" y="5344884"/>
                </a:lnTo>
                <a:lnTo>
                  <a:pt x="3389277" y="5345998"/>
                </a:lnTo>
                <a:lnTo>
                  <a:pt x="3390946" y="5360636"/>
                </a:lnTo>
                <a:lnTo>
                  <a:pt x="3386366" y="5371486"/>
                </a:lnTo>
                <a:lnTo>
                  <a:pt x="3390662" y="5381496"/>
                </a:lnTo>
                <a:lnTo>
                  <a:pt x="3388199" y="5395290"/>
                </a:lnTo>
                <a:cubicBezTo>
                  <a:pt x="3386677" y="5400263"/>
                  <a:pt x="3384810" y="5405812"/>
                  <a:pt x="3383455" y="5412069"/>
                </a:cubicBezTo>
                <a:lnTo>
                  <a:pt x="3376345" y="5426008"/>
                </a:lnTo>
                <a:lnTo>
                  <a:pt x="3374012" y="5448470"/>
                </a:lnTo>
                <a:cubicBezTo>
                  <a:pt x="3372358" y="5465848"/>
                  <a:pt x="3370199" y="5482458"/>
                  <a:pt x="3365299" y="5498771"/>
                </a:cubicBezTo>
                <a:cubicBezTo>
                  <a:pt x="3368242" y="5512292"/>
                  <a:pt x="3368289" y="5524931"/>
                  <a:pt x="3358774" y="5536815"/>
                </a:cubicBezTo>
                <a:cubicBezTo>
                  <a:pt x="3355554" y="5573082"/>
                  <a:pt x="3364982" y="5582256"/>
                  <a:pt x="3352897" y="5604851"/>
                </a:cubicBezTo>
                <a:cubicBezTo>
                  <a:pt x="3357655" y="5611851"/>
                  <a:pt x="3360065" y="5616619"/>
                  <a:pt x="3360918" y="5620215"/>
                </a:cubicBezTo>
                <a:cubicBezTo>
                  <a:pt x="3363482" y="5631010"/>
                  <a:pt x="3352061" y="5631235"/>
                  <a:pt x="3348145" y="5649365"/>
                </a:cubicBezTo>
                <a:cubicBezTo>
                  <a:pt x="3342329" y="5668683"/>
                  <a:pt x="3336842" y="5635583"/>
                  <a:pt x="3334135" y="5654076"/>
                </a:cubicBezTo>
                <a:cubicBezTo>
                  <a:pt x="3338089" y="5673079"/>
                  <a:pt x="3320876" y="5674673"/>
                  <a:pt x="3326011" y="5694285"/>
                </a:cubicBezTo>
                <a:cubicBezTo>
                  <a:pt x="3339441" y="5687377"/>
                  <a:pt x="3320185" y="5735320"/>
                  <a:pt x="3331448" y="5735077"/>
                </a:cubicBezTo>
                <a:cubicBezTo>
                  <a:pt x="3313758" y="5754960"/>
                  <a:pt x="3333086" y="5760823"/>
                  <a:pt x="3326180" y="5784860"/>
                </a:cubicBezTo>
                <a:cubicBezTo>
                  <a:pt x="3319129" y="5796737"/>
                  <a:pt x="3317432" y="5804806"/>
                  <a:pt x="3323175" y="5814629"/>
                </a:cubicBezTo>
                <a:cubicBezTo>
                  <a:pt x="3289103" y="5869565"/>
                  <a:pt x="3319352" y="5845410"/>
                  <a:pt x="3303983" y="5894405"/>
                </a:cubicBezTo>
                <a:lnTo>
                  <a:pt x="3302615" y="5898375"/>
                </a:lnTo>
                <a:lnTo>
                  <a:pt x="3305988" y="5914019"/>
                </a:lnTo>
                <a:cubicBezTo>
                  <a:pt x="3306566" y="5914416"/>
                  <a:pt x="3307142" y="5914813"/>
                  <a:pt x="3307720" y="5915209"/>
                </a:cubicBezTo>
                <a:lnTo>
                  <a:pt x="3288942" y="5962966"/>
                </a:lnTo>
                <a:lnTo>
                  <a:pt x="3289995" y="5969791"/>
                </a:lnTo>
                <a:lnTo>
                  <a:pt x="3273219" y="6000303"/>
                </a:lnTo>
                <a:lnTo>
                  <a:pt x="3266971" y="6016394"/>
                </a:lnTo>
                <a:lnTo>
                  <a:pt x="3258268" y="6034498"/>
                </a:lnTo>
                <a:lnTo>
                  <a:pt x="3262376" y="6046147"/>
                </a:lnTo>
                <a:cubicBezTo>
                  <a:pt x="3269023" y="6073717"/>
                  <a:pt x="3250846" y="6118951"/>
                  <a:pt x="3274161" y="6127097"/>
                </a:cubicBezTo>
                <a:cubicBezTo>
                  <a:pt x="3261055" y="6140796"/>
                  <a:pt x="3284255" y="6151240"/>
                  <a:pt x="3287116" y="6165061"/>
                </a:cubicBezTo>
                <a:cubicBezTo>
                  <a:pt x="3278972" y="6176795"/>
                  <a:pt x="3286959" y="6181809"/>
                  <a:pt x="3289289" y="6191816"/>
                </a:cubicBezTo>
                <a:cubicBezTo>
                  <a:pt x="3284123" y="6196765"/>
                  <a:pt x="3284941" y="6205311"/>
                  <a:pt x="3291517" y="6207797"/>
                </a:cubicBezTo>
                <a:cubicBezTo>
                  <a:pt x="3306003" y="6202672"/>
                  <a:pt x="3300501" y="6232914"/>
                  <a:pt x="3310808" y="6234442"/>
                </a:cubicBezTo>
                <a:cubicBezTo>
                  <a:pt x="3314005" y="6251566"/>
                  <a:pt x="3305763" y="6327405"/>
                  <a:pt x="3322832" y="6339012"/>
                </a:cubicBezTo>
                <a:cubicBezTo>
                  <a:pt x="3332735" y="6373401"/>
                  <a:pt x="3309981" y="6425589"/>
                  <a:pt x="3311360" y="6440393"/>
                </a:cubicBezTo>
                <a:cubicBezTo>
                  <a:pt x="3282540" y="6457108"/>
                  <a:pt x="3365374" y="6523495"/>
                  <a:pt x="3370963" y="6586374"/>
                </a:cubicBezTo>
                <a:cubicBezTo>
                  <a:pt x="3368621" y="6595055"/>
                  <a:pt x="3368943" y="6599590"/>
                  <a:pt x="3375863" y="6601412"/>
                </a:cubicBezTo>
                <a:cubicBezTo>
                  <a:pt x="3380798" y="6617525"/>
                  <a:pt x="3389212" y="6649404"/>
                  <a:pt x="3400578" y="6683057"/>
                </a:cubicBezTo>
                <a:cubicBezTo>
                  <a:pt x="3408645" y="6705148"/>
                  <a:pt x="3410628" y="6805370"/>
                  <a:pt x="3417831" y="6852700"/>
                </a:cubicBezTo>
                <a:lnTo>
                  <a:pt x="3418926" y="6858000"/>
                </a:lnTo>
                <a:lnTo>
                  <a:pt x="0" y="6858000"/>
                </a:lnTo>
                <a:close/>
              </a:path>
            </a:pathLst>
          </a:custGeom>
        </p:spPr>
      </p:pic>
    </p:spTree>
    <p:extLst>
      <p:ext uri="{BB962C8B-B14F-4D97-AF65-F5344CB8AC3E}">
        <p14:creationId xmlns:p14="http://schemas.microsoft.com/office/powerpoint/2010/main" xmlns="" val="36701725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2C61293E-6EBE-43EF-A52C-9BEBFD7679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D0B3F75-A799-9001-3857-0D8DA4480024}"/>
              </a:ext>
            </a:extLst>
          </p:cNvPr>
          <p:cNvSpPr>
            <a:spLocks noGrp="1"/>
          </p:cNvSpPr>
          <p:nvPr>
            <p:ph type="title"/>
          </p:nvPr>
        </p:nvSpPr>
        <p:spPr>
          <a:xfrm>
            <a:off x="4654296" y="329184"/>
            <a:ext cx="6894576" cy="1783080"/>
          </a:xfrm>
        </p:spPr>
        <p:txBody>
          <a:bodyPr anchor="b">
            <a:normAutofit/>
          </a:bodyPr>
          <a:lstStyle/>
          <a:p>
            <a:r>
              <a:rPr lang="en-US" sz="5400" b="1"/>
              <a:t>Informal Sector – Who Are They?</a:t>
            </a:r>
            <a:endParaRPr lang="en-GB" sz="5400"/>
          </a:p>
        </p:txBody>
      </p:sp>
      <p:pic>
        <p:nvPicPr>
          <p:cNvPr id="5" name="Picture 4">
            <a:extLst>
              <a:ext uri="{FF2B5EF4-FFF2-40B4-BE49-F238E27FC236}">
                <a16:creationId xmlns:a16="http://schemas.microsoft.com/office/drawing/2014/main" xmlns="" id="{70B1DBD9-AF95-7917-E10B-653E98CCA811}"/>
              </a:ext>
            </a:extLst>
          </p:cNvPr>
          <p:cNvPicPr>
            <a:picLocks noChangeAspect="1"/>
          </p:cNvPicPr>
          <p:nvPr/>
        </p:nvPicPr>
        <p:blipFill>
          <a:blip r:embed="rId2"/>
          <a:srcRect l="22401" r="44360"/>
          <a:stretch>
            <a:fillRect/>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xmlns="" id="{3FCFB1DE-0B7E-48CC-BA90-B2AB0889F9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7DFA27D3-4773-8FA6-ABC7-3996280F6E1C}"/>
              </a:ext>
            </a:extLst>
          </p:cNvPr>
          <p:cNvSpPr>
            <a:spLocks noGrp="1"/>
          </p:cNvSpPr>
          <p:nvPr>
            <p:ph idx="1"/>
          </p:nvPr>
        </p:nvSpPr>
        <p:spPr>
          <a:xfrm>
            <a:off x="4654296" y="2706624"/>
            <a:ext cx="6894576" cy="3483864"/>
          </a:xfrm>
        </p:spPr>
        <p:txBody>
          <a:bodyPr>
            <a:normAutofit/>
          </a:bodyPr>
          <a:lstStyle/>
          <a:p>
            <a:r>
              <a:rPr lang="en-US" sz="2200"/>
              <a:t>Friends, family, moneylenders, shopkeepers</a:t>
            </a:r>
          </a:p>
          <a:p>
            <a:r>
              <a:rPr lang="en-US" sz="2200"/>
              <a:t>Operate </a:t>
            </a:r>
            <a:r>
              <a:rPr lang="en-US" sz="2200" b="1"/>
              <a:t>outside</a:t>
            </a:r>
            <a:r>
              <a:rPr lang="en-US" sz="2200"/>
              <a:t> formal financial system</a:t>
            </a:r>
          </a:p>
          <a:p>
            <a:r>
              <a:rPr lang="en-US" sz="2200"/>
              <a:t>No formal contracts or paperwork</a:t>
            </a:r>
            <a:br>
              <a:rPr lang="en-US" sz="2200"/>
            </a:br>
            <a:endParaRPr lang="en-US" sz="2200"/>
          </a:p>
          <a:p>
            <a:endParaRPr lang="en-GB" sz="2200"/>
          </a:p>
        </p:txBody>
      </p:sp>
    </p:spTree>
    <p:extLst>
      <p:ext uri="{BB962C8B-B14F-4D97-AF65-F5344CB8AC3E}">
        <p14:creationId xmlns:p14="http://schemas.microsoft.com/office/powerpoint/2010/main" xmlns="" val="14313080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E51BA4DF-2BD4-4EC2-B1DB-B27C8AC7186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FFC0ACD-65F5-EF53-E708-A387FD7609FB}"/>
              </a:ext>
            </a:extLst>
          </p:cNvPr>
          <p:cNvSpPr>
            <a:spLocks noGrp="1"/>
          </p:cNvSpPr>
          <p:nvPr>
            <p:ph type="title"/>
          </p:nvPr>
        </p:nvSpPr>
        <p:spPr>
          <a:xfrm>
            <a:off x="4553733" y="548464"/>
            <a:ext cx="6798541" cy="1675623"/>
          </a:xfrm>
        </p:spPr>
        <p:txBody>
          <a:bodyPr anchor="b">
            <a:normAutofit/>
          </a:bodyPr>
          <a:lstStyle/>
          <a:p>
            <a:r>
              <a:rPr lang="en-US" sz="4000" b="1"/>
              <a:t>Informal Sector – Key Characteristics</a:t>
            </a:r>
            <a:endParaRPr lang="en-GB" sz="4000"/>
          </a:p>
        </p:txBody>
      </p:sp>
      <p:pic>
        <p:nvPicPr>
          <p:cNvPr id="6" name="Picture 5">
            <a:extLst>
              <a:ext uri="{FF2B5EF4-FFF2-40B4-BE49-F238E27FC236}">
                <a16:creationId xmlns:a16="http://schemas.microsoft.com/office/drawing/2014/main" xmlns="" id="{746F7651-94CE-5D80-6A37-921D25319DA2}"/>
              </a:ext>
            </a:extLst>
          </p:cNvPr>
          <p:cNvPicPr>
            <a:picLocks noChangeAspect="1"/>
          </p:cNvPicPr>
          <p:nvPr/>
        </p:nvPicPr>
        <p:blipFill>
          <a:blip r:embed="rId2"/>
          <a:srcRect l="22611" r="36544" b="-1"/>
          <a:stretch>
            <a:fillRect/>
          </a:stretch>
        </p:blipFill>
        <p:spPr>
          <a:xfrm>
            <a:off x="1" y="10"/>
            <a:ext cx="4196496" cy="6857990"/>
          </a:xfrm>
          <a:prstGeom prst="rect">
            <a:avLst/>
          </a:prstGeom>
          <a:effectLst/>
        </p:spPr>
      </p:pic>
      <p:graphicFrame>
        <p:nvGraphicFramePr>
          <p:cNvPr id="5" name="Content Placeholder 2">
            <a:extLst>
              <a:ext uri="{FF2B5EF4-FFF2-40B4-BE49-F238E27FC236}">
                <a16:creationId xmlns:a16="http://schemas.microsoft.com/office/drawing/2014/main" xmlns="" id="{4B8B3A22-DC3C-DC2A-A520-0F35AB933BB2}"/>
              </a:ext>
            </a:extLst>
          </p:cNvPr>
          <p:cNvGraphicFramePr>
            <a:graphicFrameLocks noGrp="1"/>
          </p:cNvGraphicFramePr>
          <p:nvPr>
            <p:ph idx="1"/>
            <p:extLst>
              <p:ext uri="{D42A27DB-BD31-4B8C-83A1-F6EECF244321}">
                <p14:modId xmlns:p14="http://schemas.microsoft.com/office/powerpoint/2010/main" xmlns="" val="2228146292"/>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xmlns="" val="18853562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065183D3-9214-B605-8CA4-01B8164FB1BF}"/>
              </a:ext>
            </a:extLst>
          </p:cNvPr>
          <p:cNvSpPr>
            <a:spLocks noGrp="1"/>
          </p:cNvSpPr>
          <p:nvPr>
            <p:ph type="title"/>
          </p:nvPr>
        </p:nvSpPr>
        <p:spPr>
          <a:xfrm>
            <a:off x="838200" y="365125"/>
            <a:ext cx="10515600" cy="1325563"/>
          </a:xfrm>
        </p:spPr>
        <p:txBody>
          <a:bodyPr>
            <a:normAutofit/>
          </a:bodyPr>
          <a:lstStyle/>
          <a:p>
            <a:r>
              <a:rPr lang="en-US" dirty="0"/>
              <a:t>Example </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C992B86E-E255-B1C0-72B3-7B0F19F211CD}"/>
              </a:ext>
            </a:extLst>
          </p:cNvPr>
          <p:cNvSpPr>
            <a:spLocks noGrp="1"/>
          </p:cNvSpPr>
          <p:nvPr>
            <p:ph idx="1"/>
          </p:nvPr>
        </p:nvSpPr>
        <p:spPr>
          <a:xfrm>
            <a:off x="838200" y="1825625"/>
            <a:ext cx="10515600" cy="4351338"/>
          </a:xfrm>
        </p:spPr>
        <p:txBody>
          <a:bodyPr>
            <a:normAutofit/>
          </a:bodyPr>
          <a:lstStyle/>
          <a:p>
            <a:pPr marL="0" indent="0">
              <a:buNone/>
            </a:pPr>
            <a:r>
              <a:rPr lang="en-US" dirty="0"/>
              <a:t>₹5,000 borrowed from a moneylender for roof repair; paid in 2–3 months</a:t>
            </a:r>
            <a:br>
              <a:rPr lang="en-US" dirty="0"/>
            </a:br>
            <a:r>
              <a:rPr lang="en-US" b="1" dirty="0"/>
              <a:t>Limitations:</a:t>
            </a:r>
            <a:endParaRPr lang="en-US" dirty="0"/>
          </a:p>
          <a:p>
            <a:r>
              <a:rPr lang="en-US" dirty="0"/>
              <a:t>Risk of exploitation</a:t>
            </a:r>
          </a:p>
          <a:p>
            <a:r>
              <a:rPr lang="en-US" dirty="0"/>
              <a:t>No legal protection</a:t>
            </a:r>
          </a:p>
          <a:p>
            <a:r>
              <a:rPr lang="en-US" dirty="0"/>
              <a:t>Can lead to debt traps</a:t>
            </a:r>
            <a:br>
              <a:rPr lang="en-US" dirty="0"/>
            </a:br>
            <a:endParaRPr lang="en-US" dirty="0"/>
          </a:p>
          <a:p>
            <a:endParaRPr lang="en-GB" dirty="0"/>
          </a:p>
        </p:txBody>
      </p:sp>
    </p:spTree>
    <p:extLst>
      <p:ext uri="{BB962C8B-B14F-4D97-AF65-F5344CB8AC3E}">
        <p14:creationId xmlns:p14="http://schemas.microsoft.com/office/powerpoint/2010/main" xmlns="" val="1563072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D559CA63-DEE6-52DE-6A4A-A1B97E80F406}"/>
              </a:ext>
            </a:extLst>
          </p:cNvPr>
          <p:cNvSpPr>
            <a:spLocks noGrp="1"/>
          </p:cNvSpPr>
          <p:nvPr>
            <p:ph type="title"/>
          </p:nvPr>
        </p:nvSpPr>
        <p:spPr>
          <a:xfrm>
            <a:off x="838200" y="365125"/>
            <a:ext cx="10515600" cy="1325563"/>
          </a:xfrm>
        </p:spPr>
        <p:txBody>
          <a:bodyPr>
            <a:normAutofit/>
          </a:bodyPr>
          <a:lstStyle/>
          <a:p>
            <a:r>
              <a:rPr lang="en-US" b="1" dirty="0"/>
              <a:t>SEMI-FORMAL INSTITUTIONS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414E267F-D3CE-C1A4-D27D-A1FF3E66B6AC}"/>
              </a:ext>
            </a:extLst>
          </p:cNvPr>
          <p:cNvSpPr>
            <a:spLocks noGrp="1"/>
          </p:cNvSpPr>
          <p:nvPr>
            <p:ph idx="1"/>
          </p:nvPr>
        </p:nvSpPr>
        <p:spPr>
          <a:xfrm>
            <a:off x="838200" y="1825625"/>
            <a:ext cx="10515600" cy="4351338"/>
          </a:xfrm>
        </p:spPr>
        <p:txBody>
          <a:bodyPr>
            <a:normAutofit/>
          </a:bodyPr>
          <a:lstStyle/>
          <a:p>
            <a:pPr marL="0" indent="0">
              <a:buNone/>
            </a:pPr>
            <a:r>
              <a:rPr lang="en-US" dirty="0"/>
              <a:t>Sit between informal and formal</a:t>
            </a:r>
          </a:p>
          <a:p>
            <a:r>
              <a:rPr lang="en-US" dirty="0"/>
              <a:t>Examples:</a:t>
            </a:r>
          </a:p>
          <a:p>
            <a:pPr lvl="1"/>
            <a:r>
              <a:rPr lang="en-US" b="1" dirty="0"/>
              <a:t>Chit Funds</a:t>
            </a:r>
            <a:endParaRPr lang="en-US" dirty="0"/>
          </a:p>
          <a:p>
            <a:pPr lvl="1"/>
            <a:r>
              <a:rPr lang="en-US" b="1" dirty="0"/>
              <a:t>Pawnbrokers</a:t>
            </a:r>
            <a:endParaRPr lang="en-US" dirty="0"/>
          </a:p>
          <a:p>
            <a:pPr lvl="1"/>
            <a:r>
              <a:rPr lang="en-US" b="1" dirty="0"/>
              <a:t>Community Savings Groups</a:t>
            </a:r>
            <a:r>
              <a:rPr lang="en-US" dirty="0"/>
              <a:t/>
            </a:r>
            <a:br>
              <a:rPr lang="en-US" dirty="0"/>
            </a:br>
            <a:endParaRPr lang="en-US" dirty="0"/>
          </a:p>
          <a:p>
            <a:endParaRPr lang="en-GB" dirty="0"/>
          </a:p>
        </p:txBody>
      </p:sp>
    </p:spTree>
    <p:extLst>
      <p:ext uri="{BB962C8B-B14F-4D97-AF65-F5344CB8AC3E}">
        <p14:creationId xmlns:p14="http://schemas.microsoft.com/office/powerpoint/2010/main" xmlns="" val="8548082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D7C19DCC-C3B1-F6B9-0F0F-D7D5E8434AB0}"/>
              </a:ext>
            </a:extLst>
          </p:cNvPr>
          <p:cNvSpPr>
            <a:spLocks noGrp="1"/>
          </p:cNvSpPr>
          <p:nvPr>
            <p:ph type="title"/>
          </p:nvPr>
        </p:nvSpPr>
        <p:spPr>
          <a:xfrm>
            <a:off x="838200" y="365125"/>
            <a:ext cx="10515600" cy="1325563"/>
          </a:xfrm>
        </p:spPr>
        <p:txBody>
          <a:bodyPr>
            <a:normAutofit/>
          </a:bodyPr>
          <a:lstStyle/>
          <a:p>
            <a:r>
              <a:rPr lang="en-US" b="1" dirty="0"/>
              <a:t>Chit Funds – How They Work</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C6D8BEDB-7BAB-5E78-51F3-DD5A7A8F4BD5}"/>
              </a:ext>
            </a:extLst>
          </p:cNvPr>
          <p:cNvSpPr>
            <a:spLocks noGrp="1"/>
          </p:cNvSpPr>
          <p:nvPr>
            <p:ph idx="1"/>
          </p:nvPr>
        </p:nvSpPr>
        <p:spPr>
          <a:xfrm>
            <a:off x="838200" y="1825625"/>
            <a:ext cx="10515600" cy="4351338"/>
          </a:xfrm>
        </p:spPr>
        <p:txBody>
          <a:bodyPr>
            <a:normAutofit/>
          </a:bodyPr>
          <a:lstStyle/>
          <a:p>
            <a:pPr marL="0" indent="0">
              <a:buNone/>
            </a:pPr>
            <a:r>
              <a:rPr lang="en-US" dirty="0"/>
              <a:t>Group savings model</a:t>
            </a:r>
          </a:p>
          <a:p>
            <a:r>
              <a:rPr lang="en-US" dirty="0"/>
              <a:t>Monthly contributions pooled and distributed via lottery or bidding</a:t>
            </a:r>
            <a:br>
              <a:rPr lang="en-US" dirty="0"/>
            </a:br>
            <a:r>
              <a:rPr lang="en-US" b="1" dirty="0"/>
              <a:t>Example:</a:t>
            </a:r>
            <a:r>
              <a:rPr lang="en-US" dirty="0"/>
              <a:t/>
            </a:r>
            <a:br>
              <a:rPr lang="en-US" dirty="0"/>
            </a:br>
            <a:r>
              <a:rPr lang="en-US" dirty="0"/>
              <a:t>20 families contribute ₹1,000 each → ₹20,000 pool given to one member per month</a:t>
            </a:r>
            <a:br>
              <a:rPr lang="en-US" dirty="0"/>
            </a:br>
            <a:endParaRPr lang="en-US" dirty="0"/>
          </a:p>
          <a:p>
            <a:endParaRPr lang="en-GB" dirty="0"/>
          </a:p>
        </p:txBody>
      </p:sp>
    </p:spTree>
    <p:extLst>
      <p:ext uri="{BB962C8B-B14F-4D97-AF65-F5344CB8AC3E}">
        <p14:creationId xmlns:p14="http://schemas.microsoft.com/office/powerpoint/2010/main" xmlns="" val="35092916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F837543A-6020-4505-A233-C9DB4BF740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4BD5EB5-F80E-7786-E6B7-AD11812964DB}"/>
              </a:ext>
            </a:extLst>
          </p:cNvPr>
          <p:cNvSpPr>
            <a:spLocks noGrp="1"/>
          </p:cNvSpPr>
          <p:nvPr>
            <p:ph type="title"/>
          </p:nvPr>
        </p:nvSpPr>
        <p:spPr>
          <a:xfrm>
            <a:off x="838200" y="365125"/>
            <a:ext cx="5558489" cy="1325563"/>
          </a:xfrm>
        </p:spPr>
        <p:txBody>
          <a:bodyPr>
            <a:normAutofit/>
          </a:bodyPr>
          <a:lstStyle/>
          <a:p>
            <a:r>
              <a:rPr lang="en-US" sz="3700" b="1"/>
              <a:t>Pawnbrokers – Collateral-Based Lending</a:t>
            </a:r>
            <a:endParaRPr lang="en-GB" sz="3700"/>
          </a:p>
        </p:txBody>
      </p:sp>
      <p:sp>
        <p:nvSpPr>
          <p:cNvPr id="10" name="Freeform: Shape 9">
            <a:extLst>
              <a:ext uri="{FF2B5EF4-FFF2-40B4-BE49-F238E27FC236}">
                <a16:creationId xmlns:a16="http://schemas.microsoft.com/office/drawing/2014/main" xmlns="" id="{35B16301-FB18-48BA-A6DD-C37CAF6F9A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xmlns="" id="{845A9A1D-9F02-452F-593A-D7DA06CD0597}"/>
              </a:ext>
            </a:extLst>
          </p:cNvPr>
          <p:cNvSpPr>
            <a:spLocks noGrp="1"/>
          </p:cNvSpPr>
          <p:nvPr>
            <p:ph idx="1"/>
          </p:nvPr>
        </p:nvSpPr>
        <p:spPr>
          <a:xfrm>
            <a:off x="838200" y="1825625"/>
            <a:ext cx="5558489" cy="4351338"/>
          </a:xfrm>
        </p:spPr>
        <p:txBody>
          <a:bodyPr>
            <a:normAutofit/>
          </a:bodyPr>
          <a:lstStyle/>
          <a:p>
            <a:r>
              <a:rPr lang="en-US" sz="2400"/>
              <a:t>Loans against pledged items (jewelry, tools)</a:t>
            </a:r>
          </a:p>
          <a:p>
            <a:r>
              <a:rPr lang="en-US" sz="2400"/>
              <a:t>Accessible but excludes those without assets</a:t>
            </a:r>
          </a:p>
          <a:p>
            <a:pPr marL="0" indent="0">
              <a:buNone/>
            </a:pPr>
            <a:r>
              <a:rPr lang="en-US" sz="2400" b="1"/>
              <a:t>Limitations:</a:t>
            </a:r>
            <a:endParaRPr lang="en-US" sz="2400"/>
          </a:p>
          <a:p>
            <a:r>
              <a:rPr lang="en-US" sz="2400"/>
              <a:t>Risk of fraud</a:t>
            </a:r>
          </a:p>
          <a:p>
            <a:r>
              <a:rPr lang="en-US" sz="2400"/>
              <a:t>No formal grievance redressal</a:t>
            </a:r>
          </a:p>
          <a:p>
            <a:r>
              <a:rPr lang="en-US" sz="2400"/>
              <a:t>Poor may still be excluded due to contribution/collateral requirements</a:t>
            </a:r>
            <a:br>
              <a:rPr lang="en-US" sz="2400"/>
            </a:br>
            <a:endParaRPr lang="en-GB" sz="2400"/>
          </a:p>
        </p:txBody>
      </p:sp>
      <p:sp>
        <p:nvSpPr>
          <p:cNvPr id="12" name="Oval 11">
            <a:extLst>
              <a:ext uri="{FF2B5EF4-FFF2-40B4-BE49-F238E27FC236}">
                <a16:creationId xmlns:a16="http://schemas.microsoft.com/office/drawing/2014/main" xmlns="" id="{C3C0D90E-074A-4F52-9B11-B52BEF4BCB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xmlns="" id="{CABBD4C1-E6F8-46F6-8152-A8A97490BF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xmlns="" id="{83BA5EF5-1FE9-4BF9-83BB-269BCDDF61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xmlns="" id="{4B3BCACB-5880-460B-9606-8C433A9AF99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xmlns="" id="{88853921-7BC9-4BDE-ACAB-133C683C82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xmlns="" id="{09192968-3AE7-4470-A61C-97294BB9273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xmlns="" id="{3AB72E55-43E4-4356-BFE8-E2102CB0B50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221852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BCAD3FBC-CD44-1689-630F-B51866EBDC4D}"/>
              </a:ext>
            </a:extLst>
          </p:cNvPr>
          <p:cNvSpPr>
            <a:spLocks noGrp="1"/>
          </p:cNvSpPr>
          <p:nvPr>
            <p:ph type="title"/>
          </p:nvPr>
        </p:nvSpPr>
        <p:spPr>
          <a:xfrm>
            <a:off x="838200" y="365125"/>
            <a:ext cx="10515600" cy="1325563"/>
          </a:xfrm>
        </p:spPr>
        <p:txBody>
          <a:bodyPr>
            <a:normAutofit/>
          </a:bodyPr>
          <a:lstStyle/>
          <a:p>
            <a:r>
              <a:rPr lang="en-US" b="1" dirty="0"/>
              <a:t>Government Support for LIG/EWS</a:t>
            </a:r>
            <a:endParaRPr lang="en-GB" dirty="0"/>
          </a:p>
        </p:txBody>
      </p:sp>
      <p:sp>
        <p:nvSpPr>
          <p:cNvPr id="28" name="Arc 27">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9DD85C62-1E9D-1E6B-A981-69C3DB7CF30C}"/>
              </a:ext>
            </a:extLst>
          </p:cNvPr>
          <p:cNvSpPr>
            <a:spLocks noGrp="1"/>
          </p:cNvSpPr>
          <p:nvPr>
            <p:ph idx="1"/>
          </p:nvPr>
        </p:nvSpPr>
        <p:spPr>
          <a:xfrm>
            <a:off x="838200" y="1825625"/>
            <a:ext cx="10515600" cy="4351338"/>
          </a:xfrm>
        </p:spPr>
        <p:txBody>
          <a:bodyPr>
            <a:normAutofit/>
          </a:bodyPr>
          <a:lstStyle/>
          <a:p>
            <a:r>
              <a:rPr lang="en-US"/>
              <a:t>Subsidized loans, refinance, and guarantees</a:t>
            </a:r>
          </a:p>
          <a:p>
            <a:r>
              <a:rPr lang="en-US"/>
              <a:t>Encourage </a:t>
            </a:r>
            <a:r>
              <a:rPr lang="en-US" b="1"/>
              <a:t>incremental construction</a:t>
            </a:r>
            <a:endParaRPr lang="en-US"/>
          </a:p>
          <a:p>
            <a:r>
              <a:rPr lang="en-US"/>
              <a:t>Support for self-built housing</a:t>
            </a:r>
            <a:br>
              <a:rPr lang="en-US"/>
            </a:br>
            <a:endParaRPr lang="en-US"/>
          </a:p>
          <a:p>
            <a:r>
              <a:rPr lang="en-US" b="1"/>
              <a:t>Key Public Initiatives</a:t>
            </a:r>
            <a:endParaRPr lang="en-US"/>
          </a:p>
          <a:p>
            <a:pPr lvl="1"/>
            <a:r>
              <a:rPr lang="en-US" b="1"/>
              <a:t>Swarna Pragati Housing Microfinance (SPHM)</a:t>
            </a:r>
            <a:r>
              <a:rPr lang="en-US"/>
              <a:t> – Small rural housing loans</a:t>
            </a:r>
          </a:p>
          <a:p>
            <a:pPr lvl="1"/>
            <a:r>
              <a:rPr lang="en-US" b="1"/>
              <a:t>NHB-IFC Toolkit</a:t>
            </a:r>
            <a:r>
              <a:rPr lang="en-US"/>
              <a:t> – Guidelines for housing microfinance</a:t>
            </a:r>
          </a:p>
          <a:p>
            <a:pPr lvl="1"/>
            <a:r>
              <a:rPr lang="en-US" b="1"/>
              <a:t>Priority Sector Lending</a:t>
            </a:r>
            <a:r>
              <a:rPr lang="en-US"/>
              <a:t> – Small loans with relaxed norms</a:t>
            </a:r>
            <a:endParaRPr lang="en-US" dirty="0"/>
          </a:p>
        </p:txBody>
      </p:sp>
    </p:spTree>
    <p:extLst>
      <p:ext uri="{BB962C8B-B14F-4D97-AF65-F5344CB8AC3E}">
        <p14:creationId xmlns:p14="http://schemas.microsoft.com/office/powerpoint/2010/main" xmlns="" val="1009869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FB5F621E-EF7B-D2AF-8C8C-8E902431C7A9}"/>
              </a:ext>
            </a:extLst>
          </p:cNvPr>
          <p:cNvSpPr>
            <a:spLocks noGrp="1"/>
          </p:cNvSpPr>
          <p:nvPr>
            <p:ph type="title"/>
          </p:nvPr>
        </p:nvSpPr>
        <p:spPr>
          <a:xfrm>
            <a:off x="838200" y="365125"/>
            <a:ext cx="10515600" cy="1325563"/>
          </a:xfrm>
        </p:spPr>
        <p:txBody>
          <a:bodyPr>
            <a:normAutofit/>
          </a:bodyPr>
          <a:lstStyle/>
          <a:p>
            <a:r>
              <a:rPr lang="en-US" b="1" dirty="0"/>
              <a:t>Why Public Sector Matters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B0B267E2-3E8C-7C7E-096C-802A5AB0C523}"/>
              </a:ext>
            </a:extLst>
          </p:cNvPr>
          <p:cNvSpPr>
            <a:spLocks noGrp="1"/>
          </p:cNvSpPr>
          <p:nvPr>
            <p:ph idx="1"/>
          </p:nvPr>
        </p:nvSpPr>
        <p:spPr>
          <a:xfrm>
            <a:off x="838200" y="1825625"/>
            <a:ext cx="10515600" cy="4351338"/>
          </a:xfrm>
        </p:spPr>
        <p:txBody>
          <a:bodyPr>
            <a:normAutofit/>
          </a:bodyPr>
          <a:lstStyle/>
          <a:p>
            <a:r>
              <a:rPr lang="en-US" dirty="0"/>
              <a:t>Bridges the gap between informal credit and full home loans</a:t>
            </a:r>
          </a:p>
          <a:p>
            <a:r>
              <a:rPr lang="en-US" dirty="0"/>
              <a:t>Addresses the needs of:</a:t>
            </a:r>
          </a:p>
          <a:p>
            <a:pPr lvl="1"/>
            <a:r>
              <a:rPr lang="en-US" dirty="0"/>
              <a:t>Informal income households</a:t>
            </a:r>
          </a:p>
          <a:p>
            <a:pPr lvl="1"/>
            <a:r>
              <a:rPr lang="en-US" dirty="0"/>
              <a:t>First-time borrowers</a:t>
            </a:r>
          </a:p>
          <a:p>
            <a:pPr lvl="1"/>
            <a:r>
              <a:rPr lang="en-US" dirty="0"/>
              <a:t>Rural and semi-urban poor</a:t>
            </a:r>
          </a:p>
          <a:p>
            <a:endParaRPr lang="en-GB" dirty="0"/>
          </a:p>
        </p:txBody>
      </p:sp>
    </p:spTree>
    <p:extLst>
      <p:ext uri="{BB962C8B-B14F-4D97-AF65-F5344CB8AC3E}">
        <p14:creationId xmlns:p14="http://schemas.microsoft.com/office/powerpoint/2010/main" xmlns="" val="3821964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A1D8B612-CA06-75E7-BFD2-629EC141B927}"/>
              </a:ext>
            </a:extLst>
          </p:cNvPr>
          <p:cNvSpPr>
            <a:spLocks noGrp="1"/>
          </p:cNvSpPr>
          <p:nvPr>
            <p:ph type="title"/>
          </p:nvPr>
        </p:nvSpPr>
        <p:spPr>
          <a:xfrm>
            <a:off x="838200" y="365125"/>
            <a:ext cx="10515600" cy="1325563"/>
          </a:xfrm>
        </p:spPr>
        <p:txBody>
          <a:bodyPr>
            <a:normAutofit/>
          </a:bodyPr>
          <a:lstStyle/>
          <a:p>
            <a:r>
              <a:rPr lang="en-US" b="1" dirty="0"/>
              <a:t>Private Formal Sector Lenders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A617AACF-3491-14CB-F721-BB5B2E2D858B}"/>
              </a:ext>
            </a:extLst>
          </p:cNvPr>
          <p:cNvSpPr>
            <a:spLocks noGrp="1"/>
          </p:cNvSpPr>
          <p:nvPr>
            <p:ph idx="1"/>
          </p:nvPr>
        </p:nvSpPr>
        <p:spPr>
          <a:xfrm>
            <a:off x="838200" y="1825625"/>
            <a:ext cx="10515600" cy="4351338"/>
          </a:xfrm>
        </p:spPr>
        <p:txBody>
          <a:bodyPr>
            <a:normAutofit/>
          </a:bodyPr>
          <a:lstStyle/>
          <a:p>
            <a:r>
              <a:rPr lang="en-US" dirty="0"/>
              <a:t>Commercial banks, NBFCs, Housing Finance Companies</a:t>
            </a:r>
          </a:p>
          <a:p>
            <a:r>
              <a:rPr lang="en-US" dirty="0"/>
              <a:t>Operate with:</a:t>
            </a:r>
          </a:p>
          <a:p>
            <a:pPr lvl="1"/>
            <a:r>
              <a:rPr lang="en-US" dirty="0"/>
              <a:t>Legal contracts</a:t>
            </a:r>
          </a:p>
          <a:p>
            <a:pPr lvl="1"/>
            <a:r>
              <a:rPr lang="en-US" dirty="0"/>
              <a:t>Credit scoring</a:t>
            </a:r>
          </a:p>
          <a:p>
            <a:pPr lvl="1"/>
            <a:r>
              <a:rPr lang="en-US" dirty="0"/>
              <a:t>Property title verification</a:t>
            </a:r>
          </a:p>
          <a:p>
            <a:pPr marL="0" indent="0">
              <a:buNone/>
            </a:pPr>
            <a:endParaRPr lang="en-GB" dirty="0"/>
          </a:p>
        </p:txBody>
      </p:sp>
    </p:spTree>
    <p:extLst>
      <p:ext uri="{BB962C8B-B14F-4D97-AF65-F5344CB8AC3E}">
        <p14:creationId xmlns:p14="http://schemas.microsoft.com/office/powerpoint/2010/main" xmlns="" val="16663475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F837543A-6020-4505-A233-C9DB4BF740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B1A7AE7-F093-3F9B-10CE-935DCD5C939F}"/>
              </a:ext>
            </a:extLst>
          </p:cNvPr>
          <p:cNvSpPr>
            <a:spLocks noGrp="1"/>
          </p:cNvSpPr>
          <p:nvPr>
            <p:ph type="title"/>
          </p:nvPr>
        </p:nvSpPr>
        <p:spPr>
          <a:xfrm>
            <a:off x="838200" y="365125"/>
            <a:ext cx="5558489" cy="1325563"/>
          </a:xfrm>
        </p:spPr>
        <p:txBody>
          <a:bodyPr>
            <a:normAutofit/>
          </a:bodyPr>
          <a:lstStyle/>
          <a:p>
            <a:r>
              <a:rPr lang="en-US" b="1" dirty="0"/>
              <a:t>Challenges in Reaching the Poor</a:t>
            </a:r>
            <a:endParaRPr lang="en-GB" dirty="0"/>
          </a:p>
        </p:txBody>
      </p:sp>
      <p:sp>
        <p:nvSpPr>
          <p:cNvPr id="10" name="Freeform: Shape 9">
            <a:extLst>
              <a:ext uri="{FF2B5EF4-FFF2-40B4-BE49-F238E27FC236}">
                <a16:creationId xmlns:a16="http://schemas.microsoft.com/office/drawing/2014/main" xmlns="" id="{35B16301-FB18-48BA-A6DD-C37CAF6F9A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xmlns="" id="{D1E6EAB8-6B39-DDA8-FE28-EA522147A454}"/>
              </a:ext>
            </a:extLst>
          </p:cNvPr>
          <p:cNvSpPr>
            <a:spLocks noGrp="1"/>
          </p:cNvSpPr>
          <p:nvPr>
            <p:ph idx="1"/>
          </p:nvPr>
        </p:nvSpPr>
        <p:spPr>
          <a:xfrm>
            <a:off x="838200" y="1825625"/>
            <a:ext cx="5558489" cy="4351338"/>
          </a:xfrm>
        </p:spPr>
        <p:txBody>
          <a:bodyPr>
            <a:normAutofit/>
          </a:bodyPr>
          <a:lstStyle/>
          <a:p>
            <a:pPr marL="0" indent="0">
              <a:buNone/>
            </a:pPr>
            <a:r>
              <a:rPr lang="en-US" dirty="0"/>
              <a:t>Need for:</a:t>
            </a:r>
          </a:p>
          <a:p>
            <a:pPr lvl="1"/>
            <a:r>
              <a:rPr lang="en-US" b="1" dirty="0"/>
              <a:t>Proof of income</a:t>
            </a:r>
            <a:endParaRPr lang="en-US" dirty="0"/>
          </a:p>
          <a:p>
            <a:pPr lvl="1"/>
            <a:r>
              <a:rPr lang="en-US" b="1" dirty="0"/>
              <a:t>Credit history</a:t>
            </a:r>
            <a:endParaRPr lang="en-US" dirty="0"/>
          </a:p>
          <a:p>
            <a:pPr lvl="1"/>
            <a:r>
              <a:rPr lang="en-US" b="1" dirty="0"/>
              <a:t>Legal land titles</a:t>
            </a:r>
            <a:endParaRPr lang="en-US" dirty="0"/>
          </a:p>
          <a:p>
            <a:r>
              <a:rPr lang="en-US" dirty="0"/>
              <a:t>Risk perception is high</a:t>
            </a:r>
          </a:p>
          <a:p>
            <a:r>
              <a:rPr lang="en-US" dirty="0"/>
              <a:t>Reluctance to issue low-value or unsecured loans</a:t>
            </a:r>
          </a:p>
          <a:p>
            <a:pPr marL="0" indent="0">
              <a:buNone/>
            </a:pPr>
            <a:r>
              <a:rPr lang="en-US" dirty="0"/>
              <a:t/>
            </a:r>
            <a:br>
              <a:rPr lang="en-US" dirty="0"/>
            </a:br>
            <a:endParaRPr lang="en-US" dirty="0"/>
          </a:p>
          <a:p>
            <a:endParaRPr lang="en-GB" dirty="0"/>
          </a:p>
        </p:txBody>
      </p:sp>
      <p:sp>
        <p:nvSpPr>
          <p:cNvPr id="12" name="Oval 11">
            <a:extLst>
              <a:ext uri="{FF2B5EF4-FFF2-40B4-BE49-F238E27FC236}">
                <a16:creationId xmlns:a16="http://schemas.microsoft.com/office/drawing/2014/main" xmlns="" id="{C3C0D90E-074A-4F52-9B11-B52BEF4BCB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xmlns="" id="{CABBD4C1-E6F8-46F6-8152-A8A97490BF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xmlns="" id="{83BA5EF5-1FE9-4BF9-83BB-269BCDDF61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xmlns="" id="{4B3BCACB-5880-460B-9606-8C433A9AF99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xmlns="" id="{88853921-7BC9-4BDE-ACAB-133C683C82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xmlns="" id="{09192968-3AE7-4470-A61C-97294BB9273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xmlns="" id="{3AB72E55-43E4-4356-BFE8-E2102CB0B50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2683939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2A143A39-AFF6-9AA5-6510-56CEA5221AB0}"/>
              </a:ext>
            </a:extLst>
          </p:cNvPr>
          <p:cNvSpPr>
            <a:spLocks noGrp="1"/>
          </p:cNvSpPr>
          <p:nvPr>
            <p:ph type="title"/>
          </p:nvPr>
        </p:nvSpPr>
        <p:spPr>
          <a:xfrm>
            <a:off x="838200" y="365125"/>
            <a:ext cx="10515600" cy="1325563"/>
          </a:xfrm>
        </p:spPr>
        <p:txBody>
          <a:bodyPr>
            <a:normAutofit/>
          </a:bodyPr>
          <a:lstStyle/>
          <a:p>
            <a:r>
              <a:rPr lang="en-US" b="1" dirty="0"/>
              <a:t>Innovations &amp; Partial Inclusion</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76215913-554F-E583-779E-8EF031A0D516}"/>
              </a:ext>
            </a:extLst>
          </p:cNvPr>
          <p:cNvSpPr>
            <a:spLocks noGrp="1"/>
          </p:cNvSpPr>
          <p:nvPr>
            <p:ph idx="1"/>
          </p:nvPr>
        </p:nvSpPr>
        <p:spPr>
          <a:xfrm>
            <a:off x="838200" y="1825625"/>
            <a:ext cx="10515600" cy="4351338"/>
          </a:xfrm>
        </p:spPr>
        <p:txBody>
          <a:bodyPr>
            <a:normAutofit/>
          </a:bodyPr>
          <a:lstStyle/>
          <a:p>
            <a:r>
              <a:rPr lang="en-US" dirty="0"/>
              <a:t>Lower ticket-size loans</a:t>
            </a:r>
          </a:p>
          <a:p>
            <a:r>
              <a:rPr lang="en-US" dirty="0"/>
              <a:t>Co-borrowers allowed</a:t>
            </a:r>
          </a:p>
          <a:p>
            <a:r>
              <a:rPr lang="en-US" dirty="0"/>
              <a:t>Partial collateral accepted</a:t>
            </a:r>
            <a:br>
              <a:rPr lang="en-US" dirty="0"/>
            </a:br>
            <a:r>
              <a:rPr lang="en-US" dirty="0"/>
              <a:t>Many poor remain excluded due to formal entry barriers</a:t>
            </a:r>
            <a:br>
              <a:rPr lang="en-US" dirty="0"/>
            </a:br>
            <a:endParaRPr lang="en-US" dirty="0"/>
          </a:p>
          <a:p>
            <a:endParaRPr lang="en-GB" dirty="0"/>
          </a:p>
        </p:txBody>
      </p:sp>
    </p:spTree>
    <p:extLst>
      <p:ext uri="{BB962C8B-B14F-4D97-AF65-F5344CB8AC3E}">
        <p14:creationId xmlns:p14="http://schemas.microsoft.com/office/powerpoint/2010/main" xmlns="" val="19615405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53AB4E44-9F03-7648-46E9-EDDE1584A05F}"/>
              </a:ext>
            </a:extLst>
          </p:cNvPr>
          <p:cNvSpPr>
            <a:spLocks noGrp="1"/>
          </p:cNvSpPr>
          <p:nvPr>
            <p:ph type="title"/>
          </p:nvPr>
        </p:nvSpPr>
        <p:spPr>
          <a:xfrm>
            <a:off x="838200" y="365125"/>
            <a:ext cx="10515600" cy="1325563"/>
          </a:xfrm>
        </p:spPr>
        <p:txBody>
          <a:bodyPr>
            <a:normAutofit/>
          </a:bodyPr>
          <a:lstStyle/>
          <a:p>
            <a:r>
              <a:rPr lang="en-US" b="1" dirty="0"/>
              <a:t>NGOs &amp; COMMUNITY-BASED ORGANIZATIONS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28455963-77C9-319B-AD4E-216BB84A8560}"/>
              </a:ext>
            </a:extLst>
          </p:cNvPr>
          <p:cNvSpPr>
            <a:spLocks noGrp="1"/>
          </p:cNvSpPr>
          <p:nvPr>
            <p:ph idx="1"/>
          </p:nvPr>
        </p:nvSpPr>
        <p:spPr>
          <a:xfrm>
            <a:off x="838200" y="1825625"/>
            <a:ext cx="10515600" cy="4351338"/>
          </a:xfrm>
        </p:spPr>
        <p:txBody>
          <a:bodyPr>
            <a:normAutofit/>
          </a:bodyPr>
          <a:lstStyle/>
          <a:p>
            <a:r>
              <a:rPr lang="en-US" dirty="0"/>
              <a:t>Work </a:t>
            </a:r>
            <a:r>
              <a:rPr lang="en-US" b="1" dirty="0"/>
              <a:t>within communities</a:t>
            </a:r>
            <a:endParaRPr lang="en-US" dirty="0"/>
          </a:p>
          <a:p>
            <a:r>
              <a:rPr lang="en-US" dirty="0"/>
              <a:t>Use </a:t>
            </a:r>
            <a:r>
              <a:rPr lang="en-US" b="1" dirty="0"/>
              <a:t>local trust</a:t>
            </a:r>
            <a:r>
              <a:rPr lang="en-US" dirty="0"/>
              <a:t>, </a:t>
            </a:r>
            <a:r>
              <a:rPr lang="en-US" b="1" dirty="0"/>
              <a:t>group responsibility</a:t>
            </a:r>
            <a:r>
              <a:rPr lang="en-US" dirty="0"/>
              <a:t>, and </a:t>
            </a:r>
            <a:r>
              <a:rPr lang="en-US" b="1" dirty="0"/>
              <a:t>social networks</a:t>
            </a:r>
            <a:endParaRPr lang="en-US" dirty="0"/>
          </a:p>
          <a:p>
            <a:r>
              <a:rPr lang="en-US" dirty="0"/>
              <a:t>Provide loans and also:</a:t>
            </a:r>
          </a:p>
          <a:p>
            <a:pPr lvl="1"/>
            <a:r>
              <a:rPr lang="en-US" dirty="0"/>
              <a:t>Technical help</a:t>
            </a:r>
          </a:p>
          <a:p>
            <a:pPr lvl="1"/>
            <a:r>
              <a:rPr lang="en-US" dirty="0"/>
              <a:t>Construction support</a:t>
            </a:r>
          </a:p>
          <a:p>
            <a:pPr lvl="1"/>
            <a:r>
              <a:rPr lang="en-US" dirty="0"/>
              <a:t>Monitoring</a:t>
            </a:r>
            <a:br>
              <a:rPr lang="en-US" dirty="0"/>
            </a:br>
            <a:endParaRPr lang="en-US" dirty="0"/>
          </a:p>
          <a:p>
            <a:endParaRPr lang="en-GB" dirty="0"/>
          </a:p>
        </p:txBody>
      </p:sp>
    </p:spTree>
    <p:extLst>
      <p:ext uri="{BB962C8B-B14F-4D97-AF65-F5344CB8AC3E}">
        <p14:creationId xmlns:p14="http://schemas.microsoft.com/office/powerpoint/2010/main" xmlns="" val="30340305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961234F6-3151-04ED-D9AC-77A08353EE87}"/>
              </a:ext>
            </a:extLst>
          </p:cNvPr>
          <p:cNvSpPr>
            <a:spLocks noGrp="1"/>
          </p:cNvSpPr>
          <p:nvPr>
            <p:ph type="title"/>
          </p:nvPr>
        </p:nvSpPr>
        <p:spPr>
          <a:xfrm>
            <a:off x="838200" y="365125"/>
            <a:ext cx="10515600" cy="1325563"/>
          </a:xfrm>
        </p:spPr>
        <p:txBody>
          <a:bodyPr>
            <a:normAutofit/>
          </a:bodyPr>
          <a:lstStyle/>
          <a:p>
            <a:r>
              <a:rPr lang="en-US" b="1" dirty="0"/>
              <a:t>Key NGO Examples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BC9F8C54-550A-1EDF-8B6B-DEABD9099A8D}"/>
              </a:ext>
            </a:extLst>
          </p:cNvPr>
          <p:cNvSpPr>
            <a:spLocks noGrp="1"/>
          </p:cNvSpPr>
          <p:nvPr>
            <p:ph idx="1"/>
          </p:nvPr>
        </p:nvSpPr>
        <p:spPr>
          <a:xfrm>
            <a:off x="838200" y="1825625"/>
            <a:ext cx="10515600" cy="4351338"/>
          </a:xfrm>
        </p:spPr>
        <p:txBody>
          <a:bodyPr>
            <a:normAutofit/>
          </a:bodyPr>
          <a:lstStyle/>
          <a:p>
            <a:r>
              <a:rPr lang="en-US" b="1" dirty="0"/>
              <a:t>Mahila Milan (Mumbai):</a:t>
            </a:r>
            <a:endParaRPr lang="en-US" dirty="0"/>
          </a:p>
          <a:p>
            <a:pPr lvl="1"/>
            <a:r>
              <a:rPr lang="en-US" dirty="0"/>
              <a:t>Small loans with minimal service charge</a:t>
            </a:r>
          </a:p>
          <a:p>
            <a:pPr lvl="1"/>
            <a:r>
              <a:rPr lang="en-US" dirty="0"/>
              <a:t>Peer accountability</a:t>
            </a:r>
          </a:p>
          <a:p>
            <a:r>
              <a:rPr lang="en-US" b="1" dirty="0" err="1"/>
              <a:t>MicroBuild</a:t>
            </a:r>
            <a:r>
              <a:rPr lang="en-US" b="1" dirty="0"/>
              <a:t> Fund (Habitat):</a:t>
            </a:r>
            <a:endParaRPr lang="en-US" dirty="0"/>
          </a:p>
          <a:p>
            <a:pPr lvl="1"/>
            <a:r>
              <a:rPr lang="en-US" dirty="0"/>
              <a:t>Global fund supporting shelter finance</a:t>
            </a:r>
          </a:p>
          <a:p>
            <a:r>
              <a:rPr lang="en-US" b="1" dirty="0"/>
              <a:t>SPARC, SEWA, CHF:</a:t>
            </a:r>
            <a:endParaRPr lang="en-US" dirty="0"/>
          </a:p>
          <a:p>
            <a:pPr lvl="1"/>
            <a:r>
              <a:rPr lang="en-US" dirty="0"/>
              <a:t>Slum upgrading + subsidies + housing microfinance</a:t>
            </a:r>
            <a:br>
              <a:rPr lang="en-US" dirty="0"/>
            </a:br>
            <a:endParaRPr lang="en-US" dirty="0"/>
          </a:p>
          <a:p>
            <a:endParaRPr lang="en-GB" dirty="0"/>
          </a:p>
        </p:txBody>
      </p:sp>
    </p:spTree>
    <p:extLst>
      <p:ext uri="{BB962C8B-B14F-4D97-AF65-F5344CB8AC3E}">
        <p14:creationId xmlns:p14="http://schemas.microsoft.com/office/powerpoint/2010/main" xmlns="" val="38155067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B867FF-FC45-48F7-8104-F89BE54909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8BB56887-D0D5-4F0C-9E19-7247EB83C8B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xmlns="" id="{62C0A5F0-6DEF-2703-F814-933195C10DB9}"/>
              </a:ext>
            </a:extLst>
          </p:cNvPr>
          <p:cNvSpPr>
            <a:spLocks noGrp="1"/>
          </p:cNvSpPr>
          <p:nvPr>
            <p:ph type="title"/>
          </p:nvPr>
        </p:nvSpPr>
        <p:spPr>
          <a:xfrm>
            <a:off x="838200" y="365125"/>
            <a:ext cx="10515600" cy="1325563"/>
          </a:xfrm>
        </p:spPr>
        <p:txBody>
          <a:bodyPr>
            <a:normAutofit/>
          </a:bodyPr>
          <a:lstStyle/>
          <a:p>
            <a:r>
              <a:rPr lang="en-US" b="1" dirty="0"/>
              <a:t>NGO Strengths &amp; Weaknesses</a:t>
            </a:r>
            <a:endParaRPr lang="en-GB" dirty="0"/>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xmlns="" id="{682539DE-4320-860B-9C78-85219CC5F425}"/>
              </a:ext>
            </a:extLst>
          </p:cNvPr>
          <p:cNvSpPr>
            <a:spLocks noGrp="1"/>
          </p:cNvSpPr>
          <p:nvPr>
            <p:ph idx="1"/>
          </p:nvPr>
        </p:nvSpPr>
        <p:spPr>
          <a:xfrm>
            <a:off x="838200" y="1825625"/>
            <a:ext cx="10515600" cy="4351338"/>
          </a:xfrm>
        </p:spPr>
        <p:txBody>
          <a:bodyPr>
            <a:normAutofit/>
          </a:bodyPr>
          <a:lstStyle/>
          <a:p>
            <a:pPr marL="0" indent="0">
              <a:buNone/>
            </a:pPr>
            <a:r>
              <a:rPr lang="en-US" b="1" dirty="0"/>
              <a:t>Strengths:</a:t>
            </a:r>
            <a:endParaRPr lang="en-US" dirty="0"/>
          </a:p>
          <a:p>
            <a:r>
              <a:rPr lang="en-US" dirty="0"/>
              <a:t>High repayment due to peer pressure</a:t>
            </a:r>
          </a:p>
          <a:p>
            <a:r>
              <a:rPr lang="en-US" dirty="0"/>
              <a:t>Deep local knowledge</a:t>
            </a:r>
          </a:p>
          <a:p>
            <a:r>
              <a:rPr lang="en-US" dirty="0"/>
              <a:t>Tailored support</a:t>
            </a:r>
          </a:p>
          <a:p>
            <a:pPr marL="0" indent="0">
              <a:buNone/>
            </a:pPr>
            <a:r>
              <a:rPr lang="en-US" b="1" dirty="0"/>
              <a:t>Limitations:</a:t>
            </a:r>
            <a:endParaRPr lang="en-US" dirty="0"/>
          </a:p>
          <a:p>
            <a:r>
              <a:rPr lang="en-US" dirty="0"/>
              <a:t>Scale is small</a:t>
            </a:r>
          </a:p>
          <a:p>
            <a:r>
              <a:rPr lang="en-US" dirty="0"/>
              <a:t>Dependent on donors/subsidies</a:t>
            </a:r>
          </a:p>
          <a:p>
            <a:r>
              <a:rPr lang="en-US" dirty="0"/>
              <a:t>Capital constraints</a:t>
            </a:r>
          </a:p>
          <a:p>
            <a:endParaRPr lang="en-GB" dirty="0"/>
          </a:p>
        </p:txBody>
      </p:sp>
    </p:spTree>
    <p:extLst>
      <p:ext uri="{BB962C8B-B14F-4D97-AF65-F5344CB8AC3E}">
        <p14:creationId xmlns:p14="http://schemas.microsoft.com/office/powerpoint/2010/main" xmlns="" val="1366595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136</TotalTime>
  <Words>2636</Words>
  <Application>Microsoft Office PowerPoint</Application>
  <PresentationFormat>Custom</PresentationFormat>
  <Paragraphs>388</Paragraphs>
  <Slides>61</Slides>
  <Notes>4</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Housing Finance</vt:lpstr>
      <vt:lpstr>Definition</vt:lpstr>
      <vt:lpstr>Key Discussion Points and Examples:</vt:lpstr>
      <vt:lpstr>Slide 4</vt:lpstr>
      <vt:lpstr>Slide 5</vt:lpstr>
      <vt:lpstr>Mechanics of Lending and Loan Risk Management</vt:lpstr>
      <vt:lpstr>Slide 7</vt:lpstr>
      <vt:lpstr>Interest Rate Structures: Fixed vs. Floating</vt:lpstr>
      <vt:lpstr>Slide 9</vt:lpstr>
      <vt:lpstr>Slide 10</vt:lpstr>
      <vt:lpstr>Practical Problems on Housing Finance</vt:lpstr>
      <vt:lpstr>Slide 12</vt:lpstr>
      <vt:lpstr>Slide 13</vt:lpstr>
      <vt:lpstr>Slide 14</vt:lpstr>
      <vt:lpstr>Mortgage Finance</vt:lpstr>
      <vt:lpstr>Slide 16</vt:lpstr>
      <vt:lpstr>Difference from Housing Finance Historical evolution Institutional development Market reforms and tax incentives</vt:lpstr>
      <vt:lpstr>Slide 18</vt:lpstr>
      <vt:lpstr>Early Development (1950s–1970s)</vt:lpstr>
      <vt:lpstr>Growth of Formal Housing Finance (1970s–1980s)</vt:lpstr>
      <vt:lpstr>Role of Banks in Housing Finance</vt:lpstr>
      <vt:lpstr>Market Transformation – Post Liberalization</vt:lpstr>
      <vt:lpstr>Loan Structures and Affordability</vt:lpstr>
      <vt:lpstr>Tax Incentives and Home Loans</vt:lpstr>
      <vt:lpstr>Summary – Key Milestones</vt:lpstr>
      <vt:lpstr>Institutions and Mechanisms in Housing Finance</vt:lpstr>
      <vt:lpstr>National Housing Bank (NHB) </vt:lpstr>
      <vt:lpstr>Housing Finance Companies (HFCs) </vt:lpstr>
      <vt:lpstr>Commercial Banks </vt:lpstr>
      <vt:lpstr>HUDCO </vt:lpstr>
      <vt:lpstr>LIC &amp; GIC – Insurance-Based Funding</vt:lpstr>
      <vt:lpstr>Cooperative Banks – Localized Lending</vt:lpstr>
      <vt:lpstr>Summary </vt:lpstr>
      <vt:lpstr>Securitization</vt:lpstr>
      <vt:lpstr>Securitization – Concept</vt:lpstr>
      <vt:lpstr>Early Stage of Securitization in India</vt:lpstr>
      <vt:lpstr>Challenges Hindering Growth</vt:lpstr>
      <vt:lpstr>RBI Regulatory Intervention (2006)</vt:lpstr>
      <vt:lpstr>Secondary Market Limitations</vt:lpstr>
      <vt:lpstr>Risk Weighting and Impact</vt:lpstr>
      <vt:lpstr>Financing Social Housing </vt:lpstr>
      <vt:lpstr>Key Government Programs</vt:lpstr>
      <vt:lpstr>Role of International Assistance</vt:lpstr>
      <vt:lpstr>Rental Housing</vt:lpstr>
      <vt:lpstr>Barriers to Rental Housing</vt:lpstr>
      <vt:lpstr>Recent Policy Efforts</vt:lpstr>
      <vt:lpstr>INFORMAL SECTOR</vt:lpstr>
      <vt:lpstr>Informal Sector – Who Are They?</vt:lpstr>
      <vt:lpstr>Informal Sector – Key Characteristics</vt:lpstr>
      <vt:lpstr>Example </vt:lpstr>
      <vt:lpstr>SEMI-FORMAL INSTITUTIONS</vt:lpstr>
      <vt:lpstr>Chit Funds – How They Work</vt:lpstr>
      <vt:lpstr>Pawnbrokers – Collateral-Based Lending</vt:lpstr>
      <vt:lpstr>Government Support for LIG/EWS</vt:lpstr>
      <vt:lpstr>Why Public Sector Matters</vt:lpstr>
      <vt:lpstr>Private Formal Sector Lenders</vt:lpstr>
      <vt:lpstr>Challenges in Reaching the Poor</vt:lpstr>
      <vt:lpstr>Innovations &amp; Partial Inclusion</vt:lpstr>
      <vt:lpstr>NGOs &amp; COMMUNITY-BASED ORGANIZATIONS</vt:lpstr>
      <vt:lpstr>Key NGO Examples</vt:lpstr>
      <vt:lpstr>NGO Strengths &amp; Weaknesses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Housing Finance</dc:title>
  <dc:creator>Ifra Fathima</dc:creator>
  <cp:lastModifiedBy>admin</cp:lastModifiedBy>
  <cp:revision>6</cp:revision>
  <dcterms:created xsi:type="dcterms:W3CDTF">2025-10-06T14:30:55Z</dcterms:created>
  <dcterms:modified xsi:type="dcterms:W3CDTF">2025-10-07T06:13:42Z</dcterms:modified>
</cp:coreProperties>
</file>