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3" r:id="rId1"/>
  </p:sldMasterIdLst>
  <p:notesMasterIdLst>
    <p:notesMasterId r:id="rId58"/>
  </p:notesMasterIdLst>
  <p:sldIdLst>
    <p:sldId id="311"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8" d="100"/>
          <a:sy n="78" d="100"/>
        </p:scale>
        <p:origin x="68" y="3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92296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13335" y="601724"/>
            <a:ext cx="6477805" cy="1906073"/>
          </a:xfrm>
        </p:spPr>
        <p:txBody>
          <a:bodyPr bIns="0" anchor="b">
            <a:normAutofit/>
          </a:bodyPr>
          <a:lstStyle>
            <a:lvl1pPr algn="l">
              <a:defRPr sz="4950"/>
            </a:lvl1pPr>
          </a:lstStyle>
          <a:p>
            <a:r>
              <a:rPr lang="en-US"/>
              <a:t>Click to edit Master title style</a:t>
            </a:r>
            <a:endParaRPr lang="en-US" dirty="0"/>
          </a:p>
        </p:txBody>
      </p:sp>
      <p:sp>
        <p:nvSpPr>
          <p:cNvPr id="3" name="Subtitle 2"/>
          <p:cNvSpPr>
            <a:spLocks noGrp="1"/>
          </p:cNvSpPr>
          <p:nvPr>
            <p:ph type="subTitle" idx="1"/>
          </p:nvPr>
        </p:nvSpPr>
        <p:spPr>
          <a:xfrm>
            <a:off x="1813335" y="2648403"/>
            <a:ext cx="6477804" cy="733216"/>
          </a:xfrm>
        </p:spPr>
        <p:txBody>
          <a:bodyPr tIns="91440" bIns="91440">
            <a:normAutofit/>
          </a:bodyPr>
          <a:lstStyle>
            <a:lvl1pPr marL="0" indent="0" algn="l">
              <a:buNone/>
              <a:defRPr sz="1350" b="0" cap="all" baseline="0">
                <a:solidFill>
                  <a:schemeClr val="tx1"/>
                </a:solidFill>
              </a:defRPr>
            </a:lvl1pPr>
            <a:lvl2pPr marL="342900" indent="0" algn="ctr">
              <a:buNone/>
              <a:defRPr sz="135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AD6EE87-EBD5-4F12-A48A-63ACA297AC8F}" type="datetimeFigureOut">
              <a:rPr lang="en-US" smtClean="0"/>
              <a:t>2/26/2026</a:t>
            </a:fld>
            <a:endParaRPr lang="en-US" dirty="0"/>
          </a:p>
        </p:txBody>
      </p:sp>
      <p:sp>
        <p:nvSpPr>
          <p:cNvPr id="5" name="Footer Placeholder 4"/>
          <p:cNvSpPr>
            <a:spLocks noGrp="1"/>
          </p:cNvSpPr>
          <p:nvPr>
            <p:ph type="ftr" sz="quarter" idx="11"/>
          </p:nvPr>
        </p:nvSpPr>
        <p:spPr>
          <a:xfrm>
            <a:off x="1812376" y="246981"/>
            <a:ext cx="3730436" cy="231901"/>
          </a:xfrm>
        </p:spPr>
        <p:txBody>
          <a:bodyPr/>
          <a:lstStyle/>
          <a:p>
            <a:endParaRPr lang="en-US" dirty="0"/>
          </a:p>
        </p:txBody>
      </p:sp>
      <p:sp>
        <p:nvSpPr>
          <p:cNvPr id="6" name="Slide Number Placeholder 5"/>
          <p:cNvSpPr>
            <a:spLocks noGrp="1"/>
          </p:cNvSpPr>
          <p:nvPr>
            <p:ph type="sldNum" sz="quarter" idx="12"/>
          </p:nvPr>
        </p:nvSpPr>
        <p:spPr>
          <a:xfrm>
            <a:off x="1078249" y="599230"/>
            <a:ext cx="608264" cy="377684"/>
          </a:xfrm>
        </p:spPr>
        <p:txBody>
          <a:bodyPr/>
          <a:lstStyle/>
          <a:p>
            <a:fld id="{4FAB73BC-B049-4115-A692-8D63A059BFB8}" type="slidenum">
              <a:rPr lang="en-US" smtClean="0"/>
              <a:t>‹#›</a:t>
            </a:fld>
            <a:endParaRPr lang="en-US" dirty="0"/>
          </a:p>
        </p:txBody>
      </p:sp>
      <p:cxnSp>
        <p:nvCxnSpPr>
          <p:cNvPr id="15" name="Straight Connector 14"/>
          <p:cNvCxnSpPr/>
          <p:nvPr/>
        </p:nvCxnSpPr>
        <p:spPr>
          <a:xfrm>
            <a:off x="1813335" y="2646407"/>
            <a:ext cx="647780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36933418"/>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smtClean="0"/>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33" name="Straight Connector 32"/>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2427313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90679" y="1317097"/>
            <a:ext cx="6482366" cy="1415963"/>
          </a:xfrm>
        </p:spPr>
        <p:txBody>
          <a:bodyPr anchor="b">
            <a:normAutofit/>
          </a:bodyPr>
          <a:lstStyle>
            <a:lvl1pPr algn="l">
              <a:defRPr sz="2700"/>
            </a:lvl1pPr>
          </a:lstStyle>
          <a:p>
            <a:r>
              <a:rPr lang="en-US"/>
              <a:t>Click to edit Master title style</a:t>
            </a:r>
            <a:endParaRPr lang="en-US" dirty="0"/>
          </a:p>
        </p:txBody>
      </p:sp>
      <p:sp>
        <p:nvSpPr>
          <p:cNvPr id="3" name="Text Placeholder 2"/>
          <p:cNvSpPr>
            <a:spLocks noGrp="1"/>
          </p:cNvSpPr>
          <p:nvPr>
            <p:ph type="body" idx="1"/>
          </p:nvPr>
        </p:nvSpPr>
        <p:spPr>
          <a:xfrm>
            <a:off x="1090679" y="2854647"/>
            <a:ext cx="6472835" cy="759697"/>
          </a:xfrm>
        </p:spPr>
        <p:txBody>
          <a:bodyPr tIns="91440">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61015F-7CC6-4D0A-9D87-873EA4C304CC}" type="datetimeFigureOut">
              <a:rPr lang="en-US" smtClean="0"/>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15" name="Straight Connector 14"/>
          <p:cNvCxnSpPr/>
          <p:nvPr/>
        </p:nvCxnSpPr>
        <p:spPr>
          <a:xfrm>
            <a:off x="1090679" y="2853739"/>
            <a:ext cx="647283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3357464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86913" y="603667"/>
            <a:ext cx="7204226" cy="79447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85498" y="1508159"/>
            <a:ext cx="3483864" cy="25864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10328" y="1513007"/>
            <a:ext cx="3483864" cy="25811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smtClean="0"/>
              <a:t>2/26/2026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cxnSp>
        <p:nvCxnSpPr>
          <p:cNvPr id="35" name="Straight Connector 34"/>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747246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85394" y="603123"/>
            <a:ext cx="7205746" cy="79223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85393" y="1514662"/>
            <a:ext cx="3483864" cy="601457"/>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085393" y="2118202"/>
            <a:ext cx="3483864" cy="19833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09272" y="1517253"/>
            <a:ext cx="3483864" cy="601678"/>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09272" y="2116119"/>
            <a:ext cx="3483864" cy="19780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smtClean="0"/>
              <a:t>2/26/2026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cxnSp>
        <p:nvCxnSpPr>
          <p:cNvPr id="29" name="Straight Connector 28"/>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7919384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smtClean="0"/>
              <a:t>2/26/2026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cxnSp>
        <p:nvCxnSpPr>
          <p:cNvPr id="25" name="Straight Connector 24"/>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6112105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smtClean="0"/>
              <a:t>2/26/2026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533753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3504" y="599230"/>
            <a:ext cx="2454824" cy="1685338"/>
          </a:xfrm>
        </p:spPr>
        <p:txBody>
          <a:bodyPr anchor="b">
            <a:normAutofit/>
          </a:bodyPr>
          <a:lstStyle>
            <a:lvl1pPr algn="l">
              <a:defRPr sz="1800"/>
            </a:lvl1pPr>
          </a:lstStyle>
          <a:p>
            <a:r>
              <a:rPr lang="en-US"/>
              <a:t>Click to edit Master title style</a:t>
            </a:r>
            <a:endParaRPr lang="en-US" dirty="0"/>
          </a:p>
        </p:txBody>
      </p:sp>
      <p:sp>
        <p:nvSpPr>
          <p:cNvPr id="3" name="Content Placeholder 2"/>
          <p:cNvSpPr>
            <a:spLocks noGrp="1"/>
          </p:cNvSpPr>
          <p:nvPr>
            <p:ph idx="1"/>
          </p:nvPr>
        </p:nvSpPr>
        <p:spPr>
          <a:xfrm>
            <a:off x="3782785" y="599230"/>
            <a:ext cx="4509353" cy="349412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83504" y="2404119"/>
            <a:ext cx="2456260" cy="1686136"/>
          </a:xfrm>
        </p:spPr>
        <p:txBody>
          <a:bodyPr/>
          <a:lstStyle>
            <a:lvl1pPr marL="0" indent="0" algn="l">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05C68B11-C5A8-448C-8CE9-B1A273C79CFC}" type="datetimeFigureOut">
              <a:rPr lang="en-US" smtClean="0"/>
              <a:t>2/26/2026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cxnSp>
        <p:nvCxnSpPr>
          <p:cNvPr id="17" name="Straight Connector 16"/>
          <p:cNvCxnSpPr/>
          <p:nvPr/>
        </p:nvCxnSpPr>
        <p:spPr>
          <a:xfrm>
            <a:off x="1086210" y="2404118"/>
            <a:ext cx="2452118"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7772698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5608041" y="361628"/>
            <a:ext cx="3055900" cy="3861826"/>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088405" y="847135"/>
            <a:ext cx="4149246" cy="1372938"/>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3292" y="841907"/>
            <a:ext cx="2093378" cy="2899745"/>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087747" y="2359494"/>
            <a:ext cx="4143303" cy="1502807"/>
          </a:xfrm>
        </p:spPr>
        <p:txBody>
          <a:bodyPr>
            <a:normAutofit/>
          </a:bodyPr>
          <a:lstStyle>
            <a:lvl1pPr marL="0" indent="0" algn="l">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085537" y="4102393"/>
            <a:ext cx="4145513" cy="240092"/>
          </a:xfrm>
        </p:spPr>
        <p:txBody>
          <a:bodyPr/>
          <a:lstStyle>
            <a:lvl1pPr algn="l">
              <a:defRPr/>
            </a:lvl1pPr>
          </a:lstStyle>
          <a:p>
            <a:fld id="{C7616CA0-919D-4A49-9C8A-62FDFB3A5183}" type="datetimeFigureOut">
              <a:rPr lang="en-US" smtClean="0"/>
              <a:t>2/26/2026</a:t>
            </a:fld>
            <a:endParaRPr lang="en-US" dirty="0"/>
          </a:p>
        </p:txBody>
      </p:sp>
      <p:sp>
        <p:nvSpPr>
          <p:cNvPr id="6" name="Footer Placeholder 5"/>
          <p:cNvSpPr>
            <a:spLocks noGrp="1"/>
          </p:cNvSpPr>
          <p:nvPr>
            <p:ph type="ftr" sz="quarter" idx="11"/>
          </p:nvPr>
        </p:nvSpPr>
        <p:spPr>
          <a:xfrm>
            <a:off x="1085537" y="238981"/>
            <a:ext cx="4155753" cy="240698"/>
          </a:xfrm>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smtClean="0"/>
              <a:t>‹#›</a:t>
            </a:fld>
            <a:endParaRPr lang="en-US" dirty="0"/>
          </a:p>
        </p:txBody>
      </p:sp>
      <p:cxnSp>
        <p:nvCxnSpPr>
          <p:cNvPr id="31" name="Straight Connector 30"/>
          <p:cNvCxnSpPr/>
          <p:nvPr/>
        </p:nvCxnSpPr>
        <p:spPr>
          <a:xfrm>
            <a:off x="1085537" y="2357704"/>
            <a:ext cx="414551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0325851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smtClean="0"/>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26" name="Straight Connector 25"/>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9063343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79333" y="599230"/>
            <a:ext cx="1211807" cy="3494917"/>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83504" y="599230"/>
            <a:ext cx="5871623" cy="34949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smtClean="0"/>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15" name="Straight Connector 14"/>
          <p:cNvCxnSpPr/>
          <p:nvPr/>
        </p:nvCxnSpPr>
        <p:spPr>
          <a:xfrm>
            <a:off x="7079333" y="599230"/>
            <a:ext cx="0" cy="3494917"/>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5957832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46572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1514607"/>
            <a:ext cx="9144000" cy="3079456"/>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4">
            <a:extLst>
              <a:ext uri="{28A0092B-C50C-407E-A947-70E740481C1C}">
                <a14:useLocalDpi xmlns:a14="http://schemas.microsoft.com/office/drawing/2010/main" val="0"/>
              </a:ext>
            </a:extLst>
          </a:blip>
          <a:srcRect t="1538" b="-1538"/>
          <a:stretch/>
        </p:blipFill>
        <p:spPr bwMode="black">
          <a:xfrm>
            <a:off x="0" y="4594860"/>
            <a:ext cx="9144000" cy="557213"/>
          </a:xfrm>
          <a:prstGeom prst="rect">
            <a:avLst/>
          </a:prstGeom>
        </p:spPr>
      </p:pic>
      <p:sp>
        <p:nvSpPr>
          <p:cNvPr id="2" name="Title Placeholder 1"/>
          <p:cNvSpPr>
            <a:spLocks noGrp="1"/>
          </p:cNvSpPr>
          <p:nvPr>
            <p:ph type="title"/>
          </p:nvPr>
        </p:nvSpPr>
        <p:spPr>
          <a:xfrm>
            <a:off x="1088685" y="603390"/>
            <a:ext cx="7202456" cy="78692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088685" y="1511799"/>
            <a:ext cx="7202456" cy="25879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65604" y="247778"/>
            <a:ext cx="2625536" cy="231901"/>
          </a:xfrm>
          <a:prstGeom prst="rect">
            <a:avLst/>
          </a:prstGeom>
        </p:spPr>
        <p:txBody>
          <a:bodyPr vert="horz" lIns="91440" tIns="45720" rIns="91440" bIns="45720" rtlCol="0" anchor="ctr"/>
          <a:lstStyle>
            <a:lvl1pPr algn="r">
              <a:defRPr sz="750">
                <a:solidFill>
                  <a:schemeClr val="tx1">
                    <a:tint val="75000"/>
                  </a:schemeClr>
                </a:solidFill>
              </a:defRPr>
            </a:lvl1pPr>
          </a:lstStyle>
          <a:p>
            <a:fld id="{90298CD5-6C1E-4009-B41F-6DF62E31D3BE}" type="datetimeFigureOut">
              <a:rPr lang="en-US" smtClean="0"/>
              <a:pPr/>
              <a:t>2/26/2026</a:t>
            </a:fld>
            <a:endParaRPr lang="en-US" dirty="0"/>
          </a:p>
        </p:txBody>
      </p:sp>
      <p:sp>
        <p:nvSpPr>
          <p:cNvPr id="5" name="Footer Placeholder 4"/>
          <p:cNvSpPr>
            <a:spLocks noGrp="1"/>
          </p:cNvSpPr>
          <p:nvPr>
            <p:ph type="ftr" sz="quarter" idx="3"/>
          </p:nvPr>
        </p:nvSpPr>
        <p:spPr>
          <a:xfrm>
            <a:off x="1088684" y="246981"/>
            <a:ext cx="4454127" cy="231901"/>
          </a:xfrm>
          <a:prstGeom prst="rect">
            <a:avLst/>
          </a:prstGeom>
        </p:spPr>
        <p:txBody>
          <a:bodyPr vert="horz" lIns="91440" tIns="45720" rIns="91440" bIns="45720" rtlCol="0" anchor="ctr"/>
          <a:lstStyle>
            <a:lvl1pPr algn="l">
              <a:defRPr sz="7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360046" y="599230"/>
            <a:ext cx="608264" cy="377684"/>
          </a:xfrm>
          <a:prstGeom prst="rect">
            <a:avLst/>
          </a:prstGeom>
        </p:spPr>
        <p:txBody>
          <a:bodyPr vert="horz" lIns="91440" tIns="45720" rIns="91440" bIns="45720" rtlCol="0" anchor="t"/>
          <a:lstStyle>
            <a:lvl1pPr algn="r">
              <a:defRPr sz="2100">
                <a:solidFill>
                  <a:schemeClr val="accent1"/>
                </a:solidFill>
              </a:defRPr>
            </a:lvl1pPr>
          </a:lstStyle>
          <a:p>
            <a:fld id="{4FAB73BC-B049-4115-A692-8D63A059BFB8}" type="slidenum">
              <a:rPr lang="en-US" smtClean="0"/>
              <a:pPr/>
              <a:t>‹#›</a:t>
            </a:fld>
            <a:endParaRPr lang="en-US" dirty="0"/>
          </a:p>
        </p:txBody>
      </p:sp>
      <p:cxnSp>
        <p:nvCxnSpPr>
          <p:cNvPr id="10" name="Straight Connector 9"/>
          <p:cNvCxnSpPr/>
          <p:nvPr/>
        </p:nvCxnSpPr>
        <p:spPr>
          <a:xfrm>
            <a:off x="0" y="4596310"/>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9687201"/>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hf sldNum="0" hdr="0" ftr="0" dt="0"/>
  <p:txStyles>
    <p:titleStyle>
      <a:lvl1pPr algn="l" defTabSz="685800" rtl="0" eaLnBrk="1" latinLnBrk="0" hangingPunct="1">
        <a:lnSpc>
          <a:spcPct val="90000"/>
        </a:lnSpc>
        <a:spcBef>
          <a:spcPct val="0"/>
        </a:spcBef>
        <a:buNone/>
        <a:defRPr sz="2400" b="0" i="0" kern="1200" cap="all">
          <a:solidFill>
            <a:schemeClr val="tx1"/>
          </a:solidFill>
          <a:effectLst/>
          <a:latin typeface="+mj-lt"/>
          <a:ea typeface="+mj-ea"/>
          <a:cs typeface="+mj-cs"/>
        </a:defRPr>
      </a:lvl1pPr>
    </p:titleStyle>
    <p:bodyStyle>
      <a:lvl1pPr marL="171450" indent="-171450" algn="l" defTabSz="685800" rtl="0" eaLnBrk="1" latinLnBrk="0" hangingPunct="1">
        <a:lnSpc>
          <a:spcPct val="120000"/>
        </a:lnSpc>
        <a:spcBef>
          <a:spcPts val="750"/>
        </a:spcBef>
        <a:buClr>
          <a:schemeClr val="accent1"/>
        </a:buClr>
        <a:buSzPct val="100000"/>
        <a:buFont typeface="Arial" panose="020B0604020202020204" pitchFamily="34" charset="0"/>
        <a:buChar char="•"/>
        <a:defRPr sz="1500" kern="1200">
          <a:solidFill>
            <a:schemeClr val="tx1"/>
          </a:solidFill>
          <a:effectLst/>
          <a:latin typeface="+mn-lt"/>
          <a:ea typeface="+mn-ea"/>
          <a:cs typeface="+mn-cs"/>
        </a:defRPr>
      </a:lvl1pPr>
      <a:lvl2pPr marL="5143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350" kern="1200" cap="none" baseline="0">
          <a:solidFill>
            <a:schemeClr val="tx1"/>
          </a:solidFill>
          <a:effectLst/>
          <a:latin typeface="+mn-lt"/>
          <a:ea typeface="+mn-ea"/>
          <a:cs typeface="+mn-cs"/>
        </a:defRPr>
      </a:lvl2pPr>
      <a:lvl3pPr marL="8572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3pPr>
      <a:lvl4pPr marL="12001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050" kern="1200" cap="none" baseline="0">
          <a:solidFill>
            <a:schemeClr val="tx1"/>
          </a:solidFill>
          <a:effectLst/>
          <a:latin typeface="+mn-lt"/>
          <a:ea typeface="+mn-ea"/>
          <a:cs typeface="+mn-cs"/>
        </a:defRPr>
      </a:lvl4pPr>
      <a:lvl5pPr marL="15430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5pPr>
      <a:lvl6pPr marL="18859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6pPr>
      <a:lvl7pPr marL="22288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7pPr>
      <a:lvl8pPr marL="25717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8pPr>
      <a:lvl9pPr marL="29146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CE580D1-F917-4567-AFB4-99AA9B52AD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11" name="Picture 10">
            <a:extLst>
              <a:ext uri="{FF2B5EF4-FFF2-40B4-BE49-F238E27FC236}">
                <a16:creationId xmlns:a16="http://schemas.microsoft.com/office/drawing/2014/main" id="{1F5620B8-A2D8-4568-B566-F0453A0D91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cxnSp>
        <p:nvCxnSpPr>
          <p:cNvPr id="13" name="Straight Connector 12">
            <a:extLst>
              <a:ext uri="{FF2B5EF4-FFF2-40B4-BE49-F238E27FC236}">
                <a16:creationId xmlns:a16="http://schemas.microsoft.com/office/drawing/2014/main" id="{1C7D2BA4-4B7A-4596-8BCC-5CF7154238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9630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977F1E1-2B6F-4BB6-899F-67D8764D83C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13335" y="2646406"/>
            <a:ext cx="6477804"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5" name="Picture 4" descr="Digital numbers and graphs">
            <a:extLst>
              <a:ext uri="{FF2B5EF4-FFF2-40B4-BE49-F238E27FC236}">
                <a16:creationId xmlns:a16="http://schemas.microsoft.com/office/drawing/2014/main" id="{191A1CCB-0891-4500-B9EF-15C40560B62C}"/>
              </a:ext>
            </a:extLst>
          </p:cNvPr>
          <p:cNvPicPr>
            <a:picLocks noChangeAspect="1"/>
          </p:cNvPicPr>
          <p:nvPr/>
        </p:nvPicPr>
        <p:blipFill>
          <a:blip r:embed="rId3"/>
          <a:srcRect t="15729" r="-2" b="-2"/>
          <a:stretch>
            <a:fillRect/>
          </a:stretch>
        </p:blipFill>
        <p:spPr>
          <a:xfrm>
            <a:off x="1" y="10"/>
            <a:ext cx="9143771" cy="5143490"/>
          </a:xfrm>
          <a:prstGeom prst="rect">
            <a:avLst/>
          </a:prstGeom>
        </p:spPr>
      </p:pic>
      <p:sp>
        <p:nvSpPr>
          <p:cNvPr id="17" name="Rectangle 16">
            <a:extLst>
              <a:ext uri="{FF2B5EF4-FFF2-40B4-BE49-F238E27FC236}">
                <a16:creationId xmlns:a16="http://schemas.microsoft.com/office/drawing/2014/main" id="{6A0FFA78-985C-4F50-B21A-77045C7DF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22589" y="2298698"/>
            <a:ext cx="6221411" cy="1866426"/>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6582833-E6A1-86C7-D055-04F8BEA32CD6}"/>
              </a:ext>
            </a:extLst>
          </p:cNvPr>
          <p:cNvSpPr txBox="1"/>
          <p:nvPr/>
        </p:nvSpPr>
        <p:spPr>
          <a:xfrm>
            <a:off x="3049133" y="2427352"/>
            <a:ext cx="5124375" cy="939451"/>
          </a:xfrm>
          <a:prstGeom prst="rect">
            <a:avLst/>
          </a:prstGeom>
        </p:spPr>
        <p:txBody>
          <a:bodyPr vert="horz" lIns="91440" tIns="45720" rIns="91440" bIns="0" rtlCol="0" anchor="b">
            <a:normAutofit/>
          </a:bodyPr>
          <a:lstStyle/>
          <a:p>
            <a:pPr marL="0" indent="0" defTabSz="914400">
              <a:lnSpc>
                <a:spcPct val="90000"/>
              </a:lnSpc>
              <a:spcBef>
                <a:spcPct val="0"/>
              </a:spcBef>
              <a:spcAft>
                <a:spcPts val="600"/>
              </a:spcAft>
            </a:pPr>
            <a:r>
              <a:rPr lang="en-US" sz="1600" cap="all">
                <a:solidFill>
                  <a:srgbClr val="FFFFFE"/>
                </a:solidFill>
                <a:latin typeface="+mj-lt"/>
                <a:ea typeface="+mj-ea"/>
                <a:cs typeface="+mj-cs"/>
              </a:rPr>
              <a:t>INVESTMENT BANKING AND FINANCIAL SERVICES</a:t>
            </a:r>
          </a:p>
          <a:p>
            <a:pPr marL="0" indent="0" defTabSz="914400">
              <a:lnSpc>
                <a:spcPct val="90000"/>
              </a:lnSpc>
              <a:spcBef>
                <a:spcPct val="0"/>
              </a:spcBef>
              <a:spcAft>
                <a:spcPts val="600"/>
              </a:spcAft>
            </a:pPr>
            <a:endParaRPr lang="en-US" sz="1600" cap="all">
              <a:solidFill>
                <a:srgbClr val="FFFFFE"/>
              </a:solidFill>
              <a:latin typeface="+mj-lt"/>
              <a:ea typeface="+mj-ea"/>
              <a:cs typeface="+mj-cs"/>
            </a:endParaRPr>
          </a:p>
          <a:p>
            <a:pPr marL="0" indent="0" defTabSz="914400">
              <a:lnSpc>
                <a:spcPct val="90000"/>
              </a:lnSpc>
              <a:spcBef>
                <a:spcPct val="0"/>
              </a:spcBef>
              <a:spcAft>
                <a:spcPts val="600"/>
              </a:spcAft>
            </a:pPr>
            <a:r>
              <a:rPr lang="en-US" sz="1600" cap="all">
                <a:solidFill>
                  <a:srgbClr val="FFFFFE"/>
                </a:solidFill>
                <a:latin typeface="+mj-lt"/>
                <a:ea typeface="+mj-ea"/>
                <a:cs typeface="+mj-cs"/>
              </a:rPr>
              <a:t>MODULE 2</a:t>
            </a:r>
          </a:p>
        </p:txBody>
      </p:sp>
      <p:cxnSp>
        <p:nvCxnSpPr>
          <p:cNvPr id="19" name="Straight Connector 18">
            <a:extLst>
              <a:ext uri="{FF2B5EF4-FFF2-40B4-BE49-F238E27FC236}">
                <a16:creationId xmlns:a16="http://schemas.microsoft.com/office/drawing/2014/main" id="{65409EC7-69B1-45CC-8FB7-1964C1AB672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049131" y="3499860"/>
            <a:ext cx="5124375" cy="0"/>
          </a:xfrm>
          <a:prstGeom prst="line">
            <a:avLst/>
          </a:prstGeom>
          <a:ln w="31750">
            <a:solidFill>
              <a:srgbClr val="F7F26A"/>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156877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1</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endParaRPr lang="en-US" sz="1400" dirty="0"/>
          </a:p>
          <a:p>
            <a:pPr marL="0" indent="0">
              <a:buNone/>
            </a:pPr>
            <a:r>
              <a:rPr lang="en-US" sz="1400" dirty="0">
                <a:solidFill>
                  <a:srgbClr val="666666"/>
                </a:solidFill>
              </a:rPr>
              <a:t>Issue Management: Public Issue, classification of companies, eligibility, issue pricing, promoter’s contribution, minimum public offer, prospectus, allotment, preferential allotment, private placement, Book Building process, designing and pricing, Green Shoe Option; Right Issue: promoter’s contribution, minimum subscription, advertisements, contents of offer document, Bought out Deals, Post issue work &amp; obligations, Investor protection, Broker, sub broker and underwriters; De-mat accounts: introduction, merits and limitations.</a:t>
            </a:r>
            <a:endParaRPr lang="en-US" sz="1400" dirty="0"/>
          </a:p>
          <a:p>
            <a:pPr marL="0" indent="0">
              <a:buNone/>
            </a:pPr>
            <a:endParaRPr lang="en-US" sz="1400" dirty="0"/>
          </a:p>
          <a:p>
            <a:pPr marL="0" indent="0">
              <a:buNone/>
            </a:pPr>
            <a:r>
              <a:rPr lang="en-US" sz="1400" dirty="0">
                <a:solidFill>
                  <a:srgbClr val="666666"/>
                </a:solidFill>
              </a:rPr>
              <a:t>ISSUE MANAGEMENT</a:t>
            </a:r>
            <a:endParaRPr lang="en-US" sz="1400" dirty="0"/>
          </a:p>
          <a:p>
            <a:pPr marL="0" indent="0">
              <a:buNone/>
            </a:pPr>
            <a:endParaRPr lang="en-US" sz="1400" dirty="0"/>
          </a:p>
          <a:p>
            <a:pPr marL="0" indent="0">
              <a:buNone/>
            </a:pPr>
            <a:r>
              <a:rPr lang="en-US" sz="1400" dirty="0">
                <a:solidFill>
                  <a:srgbClr val="666666"/>
                </a:solidFill>
              </a:rPr>
              <a:t>Issue Management refers to the end-to-end process involved in raising capital from the public by issuing securities (such as equity shares or debentures). In other words, Issue management is the process of handling the sale of a company’s securities like shares and bonds. It includes promoting these securities to investors, managing new and existing shares, and dealing with things like rights issues or when the company offers more shares. It includes: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2</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Pre-Issue Planning – Structuring the offer, compliance checks, pricing strategy.</a:t>
            </a:r>
            <a:endParaRPr lang="en-US" sz="1400" dirty="0"/>
          </a:p>
          <a:p>
            <a:pPr marL="0" indent="0">
              <a:buNone/>
            </a:pPr>
            <a:endParaRPr lang="en-US" sz="1400" dirty="0"/>
          </a:p>
          <a:p>
            <a:pPr marL="0" indent="0">
              <a:buNone/>
            </a:pPr>
            <a:r>
              <a:rPr lang="en-US" sz="1400" dirty="0">
                <a:solidFill>
                  <a:srgbClr val="666666"/>
                </a:solidFill>
              </a:rPr>
              <a:t>Marketing – Drafting and circulating the prospectus, conducting roadshows.</a:t>
            </a:r>
            <a:endParaRPr lang="en-US" sz="1400" dirty="0"/>
          </a:p>
          <a:p>
            <a:pPr marL="0" indent="0">
              <a:buNone/>
            </a:pPr>
            <a:endParaRPr lang="en-US" sz="1400" dirty="0"/>
          </a:p>
          <a:p>
            <a:pPr marL="0" indent="0">
              <a:buNone/>
            </a:pPr>
            <a:r>
              <a:rPr lang="en-US" sz="1400" dirty="0">
                <a:solidFill>
                  <a:srgbClr val="666666"/>
                </a:solidFill>
              </a:rPr>
              <a:t>Allotment – Collecting applications, finalizing investors, and issuing shares.</a:t>
            </a:r>
            <a:endParaRPr lang="en-US" sz="1400" dirty="0"/>
          </a:p>
          <a:p>
            <a:pPr marL="0" indent="0">
              <a:buNone/>
            </a:pPr>
            <a:endParaRPr lang="en-US" sz="1400" dirty="0"/>
          </a:p>
          <a:p>
            <a:pPr marL="0" indent="0">
              <a:buNone/>
            </a:pPr>
            <a:r>
              <a:rPr lang="en-US" sz="1400" dirty="0">
                <a:solidFill>
                  <a:srgbClr val="666666"/>
                </a:solidFill>
              </a:rPr>
              <a:t>Post-Issue Compliance – Filing documents with SEBI, Registrar of Companies (RoC), and stock exchanges.</a:t>
            </a:r>
            <a:endParaRPr lang="en-US" sz="1400" dirty="0"/>
          </a:p>
          <a:p>
            <a:pPr marL="0" indent="0">
              <a:buNone/>
            </a:pPr>
            <a:endParaRPr lang="en-US" sz="1400" dirty="0"/>
          </a:p>
          <a:p>
            <a:pPr marL="0" indent="0">
              <a:buNone/>
            </a:pPr>
            <a:r>
              <a:rPr lang="en-US" sz="1400" dirty="0">
                <a:solidFill>
                  <a:srgbClr val="666666"/>
                </a:solidFill>
              </a:rPr>
              <a:t>Issue Management typically refers to the process of managing and overseeing securities issues, such as Initial Public Offerings (IPOs), Rights Issues, Follow-On Public Offers (FPOs), and other capital market-related offerings. </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3</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Key Regulations by SEBI</a:t>
            </a:r>
            <a:endParaRPr lang="en-US" sz="1400" dirty="0"/>
          </a:p>
          <a:p>
            <a:pPr marL="0" indent="0">
              <a:buNone/>
            </a:pPr>
            <a:endParaRPr lang="en-US" sz="1400" dirty="0"/>
          </a:p>
          <a:p>
            <a:pPr marL="0" indent="0">
              <a:buNone/>
            </a:pPr>
            <a:r>
              <a:rPr lang="en-US" sz="1400" dirty="0">
                <a:solidFill>
                  <a:srgbClr val="666666"/>
                </a:solidFill>
              </a:rPr>
              <a:t>1. SEBI (Issue of Capital and Disclosure Requirements) Regulations (ICDR), 2018</a:t>
            </a:r>
            <a:endParaRPr lang="en-US" sz="1400" dirty="0"/>
          </a:p>
          <a:p>
            <a:pPr marL="0" indent="0">
              <a:buNone/>
            </a:pPr>
            <a:endParaRPr lang="en-US" sz="1400" dirty="0"/>
          </a:p>
          <a:p>
            <a:pPr marL="0" indent="0">
              <a:buNone/>
            </a:pPr>
            <a:r>
              <a:rPr lang="en-US" sz="1400" dirty="0">
                <a:solidFill>
                  <a:srgbClr val="666666"/>
                </a:solidFill>
              </a:rPr>
              <a:t>SEBI’s ICDR Regulations are the backbone of the guidelines for managing securities issues. These regulations lay down the procedures for:</a:t>
            </a:r>
            <a:endParaRPr lang="en-US" sz="1400" dirty="0"/>
          </a:p>
          <a:p>
            <a:pPr marL="0" indent="0">
              <a:buNone/>
            </a:pPr>
            <a:endParaRPr lang="en-US" sz="1400" dirty="0"/>
          </a:p>
          <a:p>
            <a:pPr marL="0" indent="0">
              <a:buNone/>
            </a:pPr>
            <a:r>
              <a:rPr lang="en-US" sz="1400" dirty="0">
                <a:solidFill>
                  <a:srgbClr val="666666"/>
                </a:solidFill>
              </a:rPr>
              <a:t>Public Offers (IPO, FPO, Rights Issue)</a:t>
            </a:r>
            <a:endParaRPr lang="en-US" sz="1400" dirty="0"/>
          </a:p>
          <a:p>
            <a:pPr marL="0" indent="0">
              <a:buNone/>
            </a:pPr>
            <a:endParaRPr lang="en-US" sz="1400" dirty="0"/>
          </a:p>
          <a:p>
            <a:pPr marL="0" indent="0">
              <a:buNone/>
            </a:pPr>
            <a:r>
              <a:rPr lang="en-US" sz="1400" dirty="0">
                <a:solidFill>
                  <a:srgbClr val="666666"/>
                </a:solidFill>
              </a:rPr>
              <a:t>Private Placements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4</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Qualified Institutional Placements (QIP)</a:t>
            </a:r>
            <a:endParaRPr lang="en-US" sz="1400" dirty="0"/>
          </a:p>
          <a:p>
            <a:pPr marL="0" indent="0">
              <a:buNone/>
            </a:pPr>
            <a:endParaRPr lang="en-US" sz="1400" dirty="0"/>
          </a:p>
          <a:p>
            <a:pPr marL="0" indent="0">
              <a:buNone/>
            </a:pPr>
            <a:r>
              <a:rPr lang="en-US" sz="1400" dirty="0">
                <a:solidFill>
                  <a:srgbClr val="666666"/>
                </a:solidFill>
              </a:rPr>
              <a:t>Preferential Allotments</a:t>
            </a:r>
            <a:endParaRPr lang="en-US" sz="1400" dirty="0"/>
          </a:p>
          <a:p>
            <a:pPr marL="0" indent="0">
              <a:buNone/>
            </a:pPr>
            <a:endParaRPr lang="en-US" sz="1400" dirty="0"/>
          </a:p>
          <a:p>
            <a:pPr marL="0" indent="0">
              <a:buNone/>
            </a:pPr>
            <a:r>
              <a:rPr lang="en-US" sz="1400" dirty="0">
                <a:solidFill>
                  <a:srgbClr val="666666"/>
                </a:solidFill>
              </a:rPr>
              <a:t>2. SEBI (Substantial Acquisition of Shares and Takeovers) Regulations, 2011</a:t>
            </a:r>
            <a:endParaRPr lang="en-US" sz="1400" dirty="0"/>
          </a:p>
          <a:p>
            <a:pPr marL="0" indent="0">
              <a:buNone/>
            </a:pPr>
            <a:endParaRPr lang="en-US" sz="1400" dirty="0"/>
          </a:p>
          <a:p>
            <a:pPr marL="0" indent="0">
              <a:buNone/>
            </a:pPr>
            <a:r>
              <a:rPr lang="en-US" sz="1400" dirty="0">
                <a:solidFill>
                  <a:srgbClr val="666666"/>
                </a:solidFill>
              </a:rPr>
              <a:t>These regulations apply when a company issues securities that may result in a change in control, such as:</a:t>
            </a:r>
            <a:endParaRPr lang="en-US" sz="1400" dirty="0"/>
          </a:p>
          <a:p>
            <a:pPr marL="0" indent="0">
              <a:buNone/>
            </a:pPr>
            <a:endParaRPr lang="en-US" sz="1400" dirty="0"/>
          </a:p>
          <a:p>
            <a:pPr marL="0" indent="0">
              <a:buNone/>
            </a:pPr>
            <a:r>
              <a:rPr lang="en-US" sz="1400" dirty="0">
                <a:solidFill>
                  <a:srgbClr val="666666"/>
                </a:solidFill>
              </a:rPr>
              <a:t>Takeovers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5</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Mergers and Acquisitions</a:t>
            </a:r>
            <a:endParaRPr lang="en-US" sz="1400" dirty="0"/>
          </a:p>
          <a:p>
            <a:pPr marL="0" indent="0">
              <a:buNone/>
            </a:pPr>
            <a:endParaRPr lang="en-US" sz="1400" dirty="0"/>
          </a:p>
          <a:p>
            <a:pPr marL="0" indent="0">
              <a:buNone/>
            </a:pPr>
            <a:r>
              <a:rPr lang="en-US" sz="1400" dirty="0">
                <a:solidFill>
                  <a:srgbClr val="666666"/>
                </a:solidFill>
              </a:rPr>
              <a:t>It ensures that all material information is disclosed and the public is given fair access to such opportunities.</a:t>
            </a:r>
            <a:endParaRPr lang="en-US" sz="1400" dirty="0"/>
          </a:p>
          <a:p>
            <a:pPr marL="0" indent="0">
              <a:buNone/>
            </a:pPr>
            <a:endParaRPr lang="en-US" sz="1400" dirty="0"/>
          </a:p>
          <a:p>
            <a:pPr marL="0" indent="0">
              <a:buNone/>
            </a:pPr>
            <a:r>
              <a:rPr lang="en-US" sz="1400" dirty="0">
                <a:solidFill>
                  <a:srgbClr val="666666"/>
                </a:solidFill>
              </a:rPr>
              <a:t>3. SEBI (Listing Obligations and Disclosure Requirements) (LODR) Regulations, 2015</a:t>
            </a:r>
            <a:endParaRPr lang="en-US" sz="1400" dirty="0"/>
          </a:p>
          <a:p>
            <a:pPr marL="0" indent="0">
              <a:buNone/>
            </a:pPr>
            <a:endParaRPr lang="en-US" sz="1400" dirty="0"/>
          </a:p>
          <a:p>
            <a:pPr marL="0" indent="0">
              <a:buNone/>
            </a:pPr>
            <a:r>
              <a:rPr lang="en-US" sz="1400" dirty="0">
                <a:solidFill>
                  <a:srgbClr val="666666"/>
                </a:solidFill>
              </a:rPr>
              <a:t>After an offering (IPO, FPO), the company must comply with LODR Regulations for continuous disclosure and reporting obligations to the stock exchanges and investors.</a:t>
            </a:r>
            <a:endParaRPr lang="en-US" sz="1400" dirty="0"/>
          </a:p>
          <a:p>
            <a:pPr marL="0" indent="0">
              <a:buNone/>
            </a:pPr>
            <a:endParaRPr lang="en-US" sz="1400" dirty="0"/>
          </a:p>
          <a:p>
            <a:pPr marL="0" indent="0">
              <a:buNone/>
            </a:pPr>
            <a:r>
              <a:rPr lang="en-US" sz="1400" dirty="0">
                <a:solidFill>
                  <a:srgbClr val="666666"/>
                </a:solidFill>
              </a:rPr>
              <a:t>4. SEBI (Prohibition of Insider Trading) Regulations, 2015</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6</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These regulations are crucial in preventing unfair practices related to insider trading, ensuring that those involved in the offering process do not trade based on non-public, material information.</a:t>
            </a:r>
            <a:endParaRPr lang="en-US" sz="1400" dirty="0"/>
          </a:p>
          <a:p>
            <a:pPr marL="0" indent="0">
              <a:buNone/>
            </a:pPr>
            <a:endParaRPr lang="en-US" sz="1400" dirty="0"/>
          </a:p>
          <a:p>
            <a:pPr marL="0" indent="0">
              <a:buNone/>
            </a:pPr>
            <a:r>
              <a:rPr lang="en-US" sz="1400" dirty="0">
                <a:solidFill>
                  <a:srgbClr val="666666"/>
                </a:solidFill>
              </a:rPr>
              <a:t>Stages of Issue Management as per SEBI</a:t>
            </a:r>
            <a:endParaRPr lang="en-US" sz="1400" dirty="0"/>
          </a:p>
          <a:p>
            <a:pPr marL="0" indent="0">
              <a:buNone/>
            </a:pPr>
            <a:endParaRPr lang="en-US" sz="1400" dirty="0"/>
          </a:p>
          <a:p>
            <a:pPr marL="0" indent="0">
              <a:buNone/>
            </a:pPr>
            <a:r>
              <a:rPr lang="en-US" sz="1400" dirty="0">
                <a:solidFill>
                  <a:srgbClr val="666666"/>
                </a:solidFill>
              </a:rPr>
              <a:t>1. Pre-Issue Stage</a:t>
            </a:r>
            <a:endParaRPr lang="en-US" sz="1400" dirty="0"/>
          </a:p>
          <a:p>
            <a:pPr marL="0" indent="0">
              <a:buNone/>
            </a:pPr>
            <a:endParaRPr lang="en-US" sz="1400" dirty="0"/>
          </a:p>
          <a:p>
            <a:pPr marL="0" indent="0">
              <a:buNone/>
            </a:pPr>
            <a:r>
              <a:rPr lang="en-US" sz="1400" dirty="0">
                <a:solidFill>
                  <a:srgbClr val="666666"/>
                </a:solidFill>
              </a:rPr>
              <a:t>Appointing Intermediaries: Companies must appoint merchant bankers, legal advisors, registrars, and underwriters for the offering.</a:t>
            </a:r>
            <a:endParaRPr lang="en-US" sz="1400" dirty="0"/>
          </a:p>
          <a:p>
            <a:pPr marL="0" indent="0">
              <a:buNone/>
            </a:pPr>
            <a:endParaRPr lang="en-US" sz="1400" dirty="0"/>
          </a:p>
          <a:p>
            <a:pPr marL="0" indent="0">
              <a:buNone/>
            </a:pPr>
            <a:r>
              <a:rPr lang="en-US" sz="1400" dirty="0">
                <a:solidFill>
                  <a:srgbClr val="666666"/>
                </a:solidFill>
              </a:rPr>
              <a:t>Merchant bankers play a critical role in compliance and due diligence.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7</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Legal advisors ensure all filings are in line with the regulatory framework.</a:t>
            </a:r>
            <a:endParaRPr lang="en-US" sz="1400" dirty="0"/>
          </a:p>
          <a:p>
            <a:pPr marL="0" indent="0">
              <a:buNone/>
            </a:pPr>
            <a:endParaRPr lang="en-US" sz="1400" dirty="0"/>
          </a:p>
          <a:p>
            <a:pPr marL="0" indent="0">
              <a:buNone/>
            </a:pPr>
            <a:r>
              <a:rPr lang="en-US" sz="1400" dirty="0">
                <a:solidFill>
                  <a:srgbClr val="666666"/>
                </a:solidFill>
              </a:rPr>
              <a:t>Due Diligence:</a:t>
            </a:r>
            <a:endParaRPr lang="en-US" sz="1400" dirty="0"/>
          </a:p>
          <a:p>
            <a:pPr marL="0" indent="0">
              <a:buNone/>
            </a:pPr>
            <a:endParaRPr lang="en-US" sz="1400" dirty="0"/>
          </a:p>
          <a:p>
            <a:pPr marL="0" indent="0">
              <a:buNone/>
            </a:pPr>
            <a:r>
              <a:rPr lang="en-US" sz="1400" dirty="0">
                <a:solidFill>
                  <a:srgbClr val="666666"/>
                </a:solidFill>
              </a:rPr>
              <a:t>A comprehensive review of the company’s financials, operations, and legal standing.</a:t>
            </a:r>
            <a:endParaRPr lang="en-US" sz="1400" dirty="0"/>
          </a:p>
          <a:p>
            <a:pPr marL="0" indent="0">
              <a:buNone/>
            </a:pPr>
            <a:endParaRPr lang="en-US" sz="1400" dirty="0"/>
          </a:p>
          <a:p>
            <a:pPr marL="0" indent="0">
              <a:buNone/>
            </a:pPr>
            <a:r>
              <a:rPr lang="en-US" sz="1400" dirty="0">
                <a:solidFill>
                  <a:srgbClr val="666666"/>
                </a:solidFill>
              </a:rPr>
              <a:t>A Due Diligence Certificate from the merchant banker, stating the information provided is correct and in compliance with SEBI guidelines.</a:t>
            </a:r>
            <a:endParaRPr lang="en-US" sz="1400" dirty="0"/>
          </a:p>
          <a:p>
            <a:pPr marL="0" indent="0">
              <a:buNone/>
            </a:pPr>
            <a:endParaRPr lang="en-US" sz="1400" dirty="0"/>
          </a:p>
          <a:p>
            <a:pPr marL="0" indent="0">
              <a:buNone/>
            </a:pPr>
            <a:r>
              <a:rPr lang="en-US" sz="1400" dirty="0">
                <a:solidFill>
                  <a:srgbClr val="666666"/>
                </a:solidFill>
              </a:rPr>
              <a:t>Draft Red Herring Prospectus (DRHP):</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8</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DRHP is filed with SEBI for review, providing detailed information about the company, its financials, the offering, and associated risks.</a:t>
            </a:r>
            <a:endParaRPr lang="en-US" sz="1400" dirty="0"/>
          </a:p>
          <a:p>
            <a:pPr marL="0" indent="0">
              <a:buNone/>
            </a:pPr>
            <a:endParaRPr lang="en-US" sz="1400" dirty="0"/>
          </a:p>
          <a:p>
            <a:pPr marL="0" indent="0">
              <a:buNone/>
            </a:pPr>
            <a:r>
              <a:rPr lang="en-US" sz="1400" dirty="0">
                <a:solidFill>
                  <a:srgbClr val="666666"/>
                </a:solidFill>
              </a:rPr>
              <a:t>SEBI reviews the DRHP and can ask for clarifications or amendments before the Red Herring Prospectus (RHP) is finalized.</a:t>
            </a:r>
            <a:endParaRPr lang="en-US" sz="1400" dirty="0"/>
          </a:p>
          <a:p>
            <a:pPr marL="0" indent="0">
              <a:buNone/>
            </a:pPr>
            <a:endParaRPr lang="en-US" sz="1400" dirty="0"/>
          </a:p>
          <a:p>
            <a:pPr marL="0" indent="0">
              <a:buNone/>
            </a:pPr>
            <a:r>
              <a:rPr lang="en-US" sz="1400" dirty="0">
                <a:solidFill>
                  <a:srgbClr val="666666"/>
                </a:solidFill>
              </a:rPr>
              <a:t>2. Approval and Public Offer</a:t>
            </a:r>
            <a:endParaRPr lang="en-US" sz="1400" dirty="0"/>
          </a:p>
          <a:p>
            <a:pPr marL="0" indent="0">
              <a:buNone/>
            </a:pPr>
            <a:endParaRPr lang="en-US" sz="1400" dirty="0"/>
          </a:p>
          <a:p>
            <a:pPr marL="0" indent="0">
              <a:buNone/>
            </a:pPr>
            <a:r>
              <a:rPr lang="en-US" sz="1400" dirty="0">
                <a:solidFill>
                  <a:srgbClr val="666666"/>
                </a:solidFill>
              </a:rPr>
              <a:t>Filing with SEBI: Once the RHP is finalized, the company files it with the SEBI for approval. SEBI's approval is based on compliance with the ICDR regulations.</a:t>
            </a:r>
            <a:endParaRPr lang="en-US" sz="1400" dirty="0"/>
          </a:p>
          <a:p>
            <a:pPr marL="0" indent="0">
              <a:buNone/>
            </a:pPr>
            <a:endParaRPr lang="en-US" sz="1400" dirty="0"/>
          </a:p>
          <a:p>
            <a:pPr marL="0" indent="0">
              <a:buNone/>
            </a:pPr>
            <a:r>
              <a:rPr lang="en-US" sz="1400" dirty="0">
                <a:solidFill>
                  <a:srgbClr val="666666"/>
                </a:solidFill>
              </a:rPr>
              <a:t>Pricing and Issue Size: SEBI ensures that the pricing of the securities is fair, reasonable, and justifiable. The issue size and the type of securities (e.g., equity or debt) are also considered.</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9</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Opening the Offer: Once approved, the issue is opened for subscription. SEBI’s role includes ensuring all disclosures are made accurately to prevent misleading information.</a:t>
            </a:r>
            <a:endParaRPr lang="en-US" sz="1400" dirty="0"/>
          </a:p>
          <a:p>
            <a:pPr marL="0" indent="0">
              <a:buNone/>
            </a:pPr>
            <a:endParaRPr lang="en-US" sz="1400" dirty="0"/>
          </a:p>
          <a:p>
            <a:pPr marL="0" indent="0">
              <a:buNone/>
            </a:pPr>
            <a:r>
              <a:rPr lang="en-US" sz="1400" dirty="0">
                <a:solidFill>
                  <a:srgbClr val="666666"/>
                </a:solidFill>
              </a:rPr>
              <a:t>Underwriting: In case of under-subscription, underwriters (financial institutions or individuals) are responsible for buying the unsubscribed portion of the issue.</a:t>
            </a:r>
            <a:endParaRPr lang="en-US" sz="1400" dirty="0"/>
          </a:p>
          <a:p>
            <a:pPr marL="0" indent="0">
              <a:buNone/>
            </a:pPr>
            <a:endParaRPr lang="en-US" sz="1400" dirty="0"/>
          </a:p>
          <a:p>
            <a:pPr marL="0" indent="0">
              <a:buNone/>
            </a:pPr>
            <a:r>
              <a:rPr lang="en-US" sz="1400" dirty="0">
                <a:solidFill>
                  <a:srgbClr val="666666"/>
                </a:solidFill>
              </a:rPr>
              <a:t>3. Post-Issue Compliance and Closing</a:t>
            </a:r>
            <a:endParaRPr lang="en-US" sz="1400" dirty="0"/>
          </a:p>
          <a:p>
            <a:pPr marL="0" indent="0">
              <a:buNone/>
            </a:pPr>
            <a:endParaRPr lang="en-US" sz="1400" dirty="0"/>
          </a:p>
          <a:p>
            <a:pPr marL="0" indent="0">
              <a:buNone/>
            </a:pPr>
            <a:r>
              <a:rPr lang="en-US" sz="1400" dirty="0">
                <a:solidFill>
                  <a:srgbClr val="666666"/>
                </a:solidFill>
              </a:rPr>
              <a:t>Redemption and Allotment: After the issue is closed, the company must ensure proper allotment of securities to investors.</a:t>
            </a:r>
            <a:endParaRPr lang="en-US" sz="1400" dirty="0"/>
          </a:p>
          <a:p>
            <a:pPr marL="0" indent="0">
              <a:buNone/>
            </a:pPr>
            <a:endParaRPr lang="en-US" sz="1400" dirty="0"/>
          </a:p>
          <a:p>
            <a:pPr marL="0" indent="0">
              <a:buNone/>
            </a:pPr>
            <a:r>
              <a:rPr lang="en-US" sz="1400" dirty="0">
                <a:solidFill>
                  <a:srgbClr val="666666"/>
                </a:solidFill>
              </a:rPr>
              <a:t>Listing on Stock Exchange: The securities must be listed on a stock exchange to allow liquidity and trading. SEBI ensures the company meets the listing requirements.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10</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4. Continuous Disclosure Post-Issue</a:t>
            </a:r>
            <a:endParaRPr lang="en-US" sz="1400" dirty="0"/>
          </a:p>
          <a:p>
            <a:pPr marL="0" indent="0">
              <a:buNone/>
            </a:pPr>
            <a:endParaRPr lang="en-US" sz="1400" dirty="0"/>
          </a:p>
          <a:p>
            <a:pPr marL="0" indent="0">
              <a:buNone/>
            </a:pPr>
            <a:r>
              <a:rPr lang="en-US" sz="1400" dirty="0">
                <a:solidFill>
                  <a:srgbClr val="666666"/>
                </a:solidFill>
              </a:rPr>
              <a:t>Quarterly Financial Statements: The company must disclose its financial results to the public on a quarterly basis.</a:t>
            </a:r>
            <a:endParaRPr lang="en-US" sz="1400" dirty="0"/>
          </a:p>
          <a:p>
            <a:pPr marL="0" indent="0">
              <a:buNone/>
            </a:pPr>
            <a:endParaRPr lang="en-US" sz="1400" dirty="0"/>
          </a:p>
          <a:p>
            <a:pPr marL="0" indent="0">
              <a:buNone/>
            </a:pPr>
            <a:r>
              <a:rPr lang="en-US" sz="1400" dirty="0">
                <a:solidFill>
                  <a:srgbClr val="666666"/>
                </a:solidFill>
              </a:rPr>
              <a:t>Annual Reports: Comprehensive annual reports that comply with LODR regulations must be submitted.</a:t>
            </a:r>
            <a:endParaRPr lang="en-US" sz="1400" dirty="0"/>
          </a:p>
          <a:p>
            <a:pPr marL="0" indent="0">
              <a:buNone/>
            </a:pPr>
            <a:endParaRPr lang="en-US" sz="1400" dirty="0"/>
          </a:p>
          <a:p>
            <a:pPr marL="0" indent="0">
              <a:buNone/>
            </a:pPr>
            <a:r>
              <a:rPr lang="en-US" sz="1400" dirty="0">
                <a:solidFill>
                  <a:srgbClr val="666666"/>
                </a:solidFill>
              </a:rPr>
              <a:t>Important Documents in Issue Management</a:t>
            </a:r>
            <a:endParaRPr lang="en-US" sz="1400" dirty="0"/>
          </a:p>
          <a:p>
            <a:pPr marL="0" indent="0">
              <a:buNone/>
            </a:pPr>
            <a:endParaRPr lang="en-US" sz="1400" dirty="0"/>
          </a:p>
          <a:p>
            <a:pPr marL="0" indent="0">
              <a:buNone/>
            </a:pPr>
            <a:r>
              <a:rPr lang="en-US" sz="1400" dirty="0">
                <a:solidFill>
                  <a:srgbClr val="666666"/>
                </a:solidFill>
              </a:rPr>
              <a:t>Draft Red Herring Prospectus (DRHP): A preliminary document filed with SEBI that provides detailed information about the company and the offering.</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11</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Red Herring Prospectus (RHP): Final prospectus filed with the stock exchanges and SEBI, containing finalized terms of the offering.</a:t>
            </a:r>
            <a:endParaRPr lang="en-US" sz="1400" dirty="0"/>
          </a:p>
          <a:p>
            <a:pPr marL="0" indent="0">
              <a:buNone/>
            </a:pPr>
            <a:endParaRPr lang="en-US" sz="1400" dirty="0"/>
          </a:p>
          <a:p>
            <a:pPr marL="0" indent="0">
              <a:buNone/>
            </a:pPr>
            <a:r>
              <a:rPr lang="en-US" sz="1400" dirty="0">
                <a:solidFill>
                  <a:srgbClr val="666666"/>
                </a:solidFill>
              </a:rPr>
              <a:t>Prospectus: The final document issued to the public for an offering, including the company's financials, risk factors, and usage of proceeds.</a:t>
            </a:r>
            <a:endParaRPr lang="en-US" sz="1400" dirty="0"/>
          </a:p>
          <a:p>
            <a:pPr marL="0" indent="0">
              <a:buNone/>
            </a:pPr>
            <a:endParaRPr lang="en-US" sz="1400" dirty="0"/>
          </a:p>
          <a:p>
            <a:pPr marL="0" indent="0">
              <a:buNone/>
            </a:pPr>
            <a:r>
              <a:rPr lang="en-US" sz="1400" dirty="0">
                <a:solidFill>
                  <a:srgbClr val="666666"/>
                </a:solidFill>
              </a:rPr>
              <a:t>Offer Document: In the case of a rights issue or public offer, the company issues an offer document, outlining the terms and conditions of the offer.</a:t>
            </a:r>
            <a:endParaRPr lang="en-US" sz="1400" dirty="0"/>
          </a:p>
          <a:p>
            <a:pPr marL="0" indent="0">
              <a:buNone/>
            </a:pPr>
            <a:endParaRPr lang="en-US" sz="1400" dirty="0"/>
          </a:p>
          <a:p>
            <a:pPr marL="0" indent="0">
              <a:buNone/>
            </a:pPr>
            <a:r>
              <a:rPr lang="en-US" sz="1400" dirty="0">
                <a:solidFill>
                  <a:srgbClr val="666666"/>
                </a:solidFill>
              </a:rPr>
              <a:t>SEBI’s Role in Ensuring Fairness in Issue Management</a:t>
            </a:r>
            <a:endParaRPr lang="en-US" sz="1400" dirty="0"/>
          </a:p>
          <a:p>
            <a:pPr marL="0" indent="0">
              <a:buNone/>
            </a:pPr>
            <a:endParaRPr lang="en-US" sz="1400" dirty="0"/>
          </a:p>
          <a:p>
            <a:pPr marL="0" indent="0">
              <a:buNone/>
            </a:pPr>
            <a:r>
              <a:rPr lang="en-US" sz="1400" dirty="0">
                <a:solidFill>
                  <a:srgbClr val="666666"/>
                </a:solidFill>
              </a:rPr>
              <a:t>1. Investor Protection</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12</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SEBI ensures that investors have all relevant information to make informed decisions. This includes risk factors, financial performance, and corporate governance.</a:t>
            </a:r>
            <a:endParaRPr lang="en-US" sz="1400" dirty="0"/>
          </a:p>
          <a:p>
            <a:pPr marL="0" indent="0">
              <a:buNone/>
            </a:pPr>
            <a:endParaRPr lang="en-US" sz="1400" dirty="0"/>
          </a:p>
          <a:p>
            <a:pPr marL="0" indent="0">
              <a:buNone/>
            </a:pPr>
            <a:r>
              <a:rPr lang="en-US" sz="1400" dirty="0">
                <a:solidFill>
                  <a:srgbClr val="666666"/>
                </a:solidFill>
              </a:rPr>
              <a:t>Misleading information or fraudulent practices are strictly penalized under SEBI's Fraudulent and Unfair Trade Practices Regulations.</a:t>
            </a:r>
            <a:endParaRPr lang="en-US" sz="1400" dirty="0"/>
          </a:p>
          <a:p>
            <a:pPr marL="0" indent="0">
              <a:buNone/>
            </a:pPr>
            <a:endParaRPr lang="en-US" sz="1400" dirty="0"/>
          </a:p>
          <a:p>
            <a:pPr marL="0" indent="0">
              <a:buNone/>
            </a:pPr>
            <a:r>
              <a:rPr lang="en-US" sz="1400" dirty="0">
                <a:solidFill>
                  <a:srgbClr val="666666"/>
                </a:solidFill>
              </a:rPr>
              <a:t>2. Disclosure &amp; Transparency</a:t>
            </a:r>
            <a:endParaRPr lang="en-US" sz="1400" dirty="0"/>
          </a:p>
          <a:p>
            <a:pPr marL="0" indent="0">
              <a:buNone/>
            </a:pPr>
            <a:endParaRPr lang="en-US" sz="1400" dirty="0"/>
          </a:p>
          <a:p>
            <a:pPr marL="0" indent="0">
              <a:buNone/>
            </a:pPr>
            <a:r>
              <a:rPr lang="en-US" sz="1400" dirty="0">
                <a:solidFill>
                  <a:srgbClr val="666666"/>
                </a:solidFill>
              </a:rPr>
              <a:t>Full disclosure is required, including material information that could impact the valuation of securities.</a:t>
            </a:r>
            <a:endParaRPr lang="en-US" sz="1400" dirty="0"/>
          </a:p>
          <a:p>
            <a:pPr marL="0" indent="0">
              <a:buNone/>
            </a:pPr>
            <a:endParaRPr lang="en-US" sz="1400" dirty="0"/>
          </a:p>
          <a:p>
            <a:pPr marL="0" indent="0">
              <a:buNone/>
            </a:pPr>
            <a:r>
              <a:rPr lang="en-US" sz="1400" dirty="0">
                <a:solidFill>
                  <a:srgbClr val="666666"/>
                </a:solidFill>
              </a:rPr>
              <a:t>This includes details like: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13</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Promoter background</a:t>
            </a:r>
            <a:endParaRPr lang="en-US" sz="1400" dirty="0"/>
          </a:p>
          <a:p>
            <a:pPr marL="0" indent="0">
              <a:buNone/>
            </a:pPr>
            <a:endParaRPr lang="en-US" sz="1400" dirty="0"/>
          </a:p>
          <a:p>
            <a:pPr marL="0" indent="0">
              <a:buNone/>
            </a:pPr>
            <a:r>
              <a:rPr lang="en-US" sz="1400" dirty="0">
                <a:solidFill>
                  <a:srgbClr val="666666"/>
                </a:solidFill>
              </a:rPr>
              <a:t>Financial statements for the last three years</a:t>
            </a:r>
            <a:endParaRPr lang="en-US" sz="1400" dirty="0"/>
          </a:p>
          <a:p>
            <a:pPr marL="0" indent="0">
              <a:buNone/>
            </a:pPr>
            <a:endParaRPr lang="en-US" sz="1400" dirty="0"/>
          </a:p>
          <a:p>
            <a:pPr marL="0" indent="0">
              <a:buNone/>
            </a:pPr>
            <a:r>
              <a:rPr lang="en-US" sz="1400" dirty="0">
                <a:solidFill>
                  <a:srgbClr val="666666"/>
                </a:solidFill>
              </a:rPr>
              <a:t>Shareholding patterns</a:t>
            </a:r>
            <a:endParaRPr lang="en-US" sz="1400" dirty="0"/>
          </a:p>
          <a:p>
            <a:pPr marL="0" indent="0">
              <a:buNone/>
            </a:pPr>
            <a:endParaRPr lang="en-US" sz="1400" dirty="0"/>
          </a:p>
          <a:p>
            <a:pPr marL="0" indent="0">
              <a:buNone/>
            </a:pPr>
            <a:r>
              <a:rPr lang="en-US" sz="1400" dirty="0">
                <a:solidFill>
                  <a:srgbClr val="666666"/>
                </a:solidFill>
              </a:rPr>
              <a:t>Risk factors (market, regulatory, financial, etc.)</a:t>
            </a:r>
            <a:endParaRPr lang="en-US" sz="1400" dirty="0"/>
          </a:p>
          <a:p>
            <a:pPr marL="0" indent="0">
              <a:buNone/>
            </a:pPr>
            <a:endParaRPr lang="en-US" sz="1400" dirty="0"/>
          </a:p>
          <a:p>
            <a:pPr marL="0" indent="0">
              <a:buNone/>
            </a:pPr>
            <a:r>
              <a:rPr lang="en-US" sz="1400" dirty="0">
                <a:solidFill>
                  <a:srgbClr val="666666"/>
                </a:solidFill>
              </a:rPr>
              <a:t>3. Fair Pricing</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14</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SEBI ensures that pricing is not arbitrary and based on a fair valuation process.</a:t>
            </a:r>
            <a:endParaRPr lang="en-US" sz="1400" dirty="0"/>
          </a:p>
          <a:p>
            <a:pPr marL="0" indent="0">
              <a:buNone/>
            </a:pPr>
            <a:endParaRPr lang="en-US" sz="1400" dirty="0"/>
          </a:p>
          <a:p>
            <a:pPr marL="0" indent="0">
              <a:buNone/>
            </a:pPr>
            <a:r>
              <a:rPr lang="en-US" sz="1400" dirty="0">
                <a:solidFill>
                  <a:srgbClr val="666666"/>
                </a:solidFill>
              </a:rPr>
              <a:t>For IPOs, the company must disclose the method of pricing, which could be:</a:t>
            </a:r>
            <a:endParaRPr lang="en-US" sz="1400" dirty="0"/>
          </a:p>
          <a:p>
            <a:pPr marL="0" indent="0">
              <a:buNone/>
            </a:pPr>
            <a:endParaRPr lang="en-US" sz="1400" dirty="0"/>
          </a:p>
          <a:p>
            <a:pPr marL="0" indent="0">
              <a:buNone/>
            </a:pPr>
            <a:r>
              <a:rPr lang="en-US" sz="1400" dirty="0">
                <a:solidFill>
                  <a:srgbClr val="666666"/>
                </a:solidFill>
              </a:rPr>
              <a:t>Book-building (determining the price through investor bids)</a:t>
            </a:r>
            <a:endParaRPr lang="en-US" sz="1400" dirty="0"/>
          </a:p>
          <a:p>
            <a:pPr marL="0" indent="0">
              <a:buNone/>
            </a:pPr>
            <a:endParaRPr lang="en-US" sz="1400" dirty="0"/>
          </a:p>
          <a:p>
            <a:pPr marL="0" indent="0">
              <a:buNone/>
            </a:pPr>
            <a:r>
              <a:rPr lang="en-US" sz="1400" dirty="0">
                <a:solidFill>
                  <a:srgbClr val="666666"/>
                </a:solidFill>
              </a:rPr>
              <a:t>Fixed price offering</a:t>
            </a:r>
            <a:endParaRPr lang="en-US" sz="1400" dirty="0"/>
          </a:p>
          <a:p>
            <a:pPr marL="0" indent="0">
              <a:buNone/>
            </a:pPr>
            <a:endParaRPr lang="en-US" sz="1400" dirty="0"/>
          </a:p>
          <a:p>
            <a:pPr marL="0" indent="0">
              <a:buNone/>
            </a:pPr>
            <a:r>
              <a:rPr lang="en-US" sz="1400" dirty="0">
                <a:solidFill>
                  <a:srgbClr val="666666"/>
                </a:solidFill>
              </a:rPr>
              <a:t>4. Regulation of Underwriting</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15</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SEBI sets conditions for underwriters to ensure that they are financially capable of taking up the unsold portion of the securities issue, ensuring full subscription.</a:t>
            </a:r>
            <a:endParaRPr lang="en-US" sz="1400" dirty="0"/>
          </a:p>
          <a:p>
            <a:pPr marL="0" indent="0">
              <a:buNone/>
            </a:pPr>
            <a:endParaRPr lang="en-US" sz="1400" dirty="0"/>
          </a:p>
          <a:p>
            <a:pPr marL="0" indent="0">
              <a:buNone/>
            </a:pPr>
            <a:r>
              <a:rPr lang="en-US" sz="1400" dirty="0">
                <a:solidFill>
                  <a:srgbClr val="666666"/>
                </a:solidFill>
              </a:rPr>
              <a:t>Role of Merchant Bankers and Other Intermediaries</a:t>
            </a:r>
            <a:endParaRPr lang="en-US" sz="1400" dirty="0"/>
          </a:p>
          <a:p>
            <a:pPr marL="0" indent="0">
              <a:buNone/>
            </a:pPr>
            <a:endParaRPr lang="en-US" sz="1400" dirty="0"/>
          </a:p>
          <a:p>
            <a:pPr marL="0" indent="0">
              <a:buNone/>
            </a:pPr>
            <a:r>
              <a:rPr lang="en-US" sz="1400" dirty="0">
                <a:solidFill>
                  <a:srgbClr val="666666"/>
                </a:solidFill>
              </a:rPr>
              <a:t>Merchant Bankers: These are key players in issue management, responsible for ensuring compliance with SEBI regulations. They conduct due diligence, file the DRHP and RHP, and ensure the offering is fair and transparent.</a:t>
            </a:r>
            <a:endParaRPr lang="en-US" sz="1400" dirty="0"/>
          </a:p>
          <a:p>
            <a:pPr marL="0" indent="0">
              <a:buNone/>
            </a:pPr>
            <a:endParaRPr lang="en-US" sz="1400" dirty="0"/>
          </a:p>
          <a:p>
            <a:pPr marL="0" indent="0">
              <a:buNone/>
            </a:pPr>
            <a:r>
              <a:rPr lang="en-US" sz="1400" dirty="0">
                <a:solidFill>
                  <a:srgbClr val="666666"/>
                </a:solidFill>
              </a:rPr>
              <a:t>Legal Advisors: They provide legal guidance and ensure that the offering complies with all laws and regulations.</a:t>
            </a:r>
            <a:endParaRPr lang="en-US" sz="1400" dirty="0"/>
          </a:p>
          <a:p>
            <a:pPr marL="0" indent="0">
              <a:buNone/>
            </a:pPr>
            <a:endParaRPr lang="en-US" sz="1400" dirty="0"/>
          </a:p>
          <a:p>
            <a:pPr marL="0" indent="0">
              <a:buNone/>
            </a:pPr>
            <a:r>
              <a:rPr lang="en-US" sz="1400" dirty="0">
                <a:solidFill>
                  <a:srgbClr val="666666"/>
                </a:solidFill>
              </a:rPr>
              <a:t>Underwriters: They guarantee the sale of securities, offering a safety net for the company if the issue is under-subscribed.</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16</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Registrars: These firms maintain a record of investors, process applications, and ensure smooth allotment and transfer of securities.</a:t>
            </a:r>
            <a:endParaRPr lang="en-US" sz="1400" dirty="0"/>
          </a:p>
          <a:p>
            <a:pPr marL="0" indent="0">
              <a:buNone/>
            </a:pPr>
            <a:endParaRPr lang="en-US" sz="1400" dirty="0"/>
          </a:p>
          <a:p>
            <a:pPr marL="0" indent="0">
              <a:buNone/>
            </a:pPr>
            <a:r>
              <a:rPr lang="en-US" sz="1400" dirty="0">
                <a:solidFill>
                  <a:srgbClr val="666666"/>
                </a:solidFill>
              </a:rPr>
              <a:t>Post-Issue Management and Reporting Requirements</a:t>
            </a:r>
            <a:endParaRPr lang="en-US" sz="1400" dirty="0"/>
          </a:p>
          <a:p>
            <a:pPr marL="0" indent="0">
              <a:buNone/>
            </a:pPr>
            <a:endParaRPr lang="en-US" sz="1400" dirty="0"/>
          </a:p>
          <a:p>
            <a:pPr marL="0" indent="0">
              <a:buNone/>
            </a:pPr>
            <a:r>
              <a:rPr lang="en-US" sz="1400" dirty="0">
                <a:solidFill>
                  <a:srgbClr val="666666"/>
                </a:solidFill>
              </a:rPr>
              <a:t>Once the issue has been successfully completed:</a:t>
            </a:r>
            <a:endParaRPr lang="en-US" sz="1400" dirty="0"/>
          </a:p>
          <a:p>
            <a:pPr marL="0" indent="0">
              <a:buNone/>
            </a:pPr>
            <a:endParaRPr lang="en-US" sz="1400" dirty="0"/>
          </a:p>
          <a:p>
            <a:pPr marL="0" indent="0">
              <a:buNone/>
            </a:pPr>
            <a:r>
              <a:rPr lang="en-US" sz="1400" dirty="0">
                <a:solidFill>
                  <a:srgbClr val="666666"/>
                </a:solidFill>
              </a:rPr>
              <a:t>Post-Issue Reports: Regular updates on the status of the issue (e.g., allotment, refund process) are filed with SEBI.</a:t>
            </a:r>
            <a:endParaRPr lang="en-US" sz="1400" dirty="0"/>
          </a:p>
          <a:p>
            <a:pPr marL="0" indent="0">
              <a:buNone/>
            </a:pPr>
            <a:endParaRPr lang="en-US" sz="1400" dirty="0"/>
          </a:p>
          <a:p>
            <a:pPr marL="0" indent="0">
              <a:buNone/>
            </a:pPr>
            <a:r>
              <a:rPr lang="en-US" sz="1400" dirty="0">
                <a:solidFill>
                  <a:srgbClr val="666666"/>
                </a:solidFill>
              </a:rPr>
              <a:t>Compliance with LODR Regulations: The company must continue to disclose relevant financial information, updates on corporate governance, and other material developments.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17</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Shareholding Pattern: A quarterly and annual disclosure of the company’s shareholding pattern is required.</a:t>
            </a:r>
            <a:endParaRPr lang="en-US" sz="1400" dirty="0"/>
          </a:p>
          <a:p>
            <a:pPr marL="0" indent="0">
              <a:buNone/>
            </a:pPr>
            <a:endParaRPr lang="en-US" sz="1400" dirty="0"/>
          </a:p>
          <a:p>
            <a:pPr marL="0" indent="0">
              <a:buNone/>
            </a:pPr>
            <a:r>
              <a:rPr lang="en-US" sz="1400" dirty="0">
                <a:solidFill>
                  <a:srgbClr val="666666"/>
                </a:solidFill>
              </a:rPr>
              <a:t>Public Issue:</a:t>
            </a:r>
            <a:endParaRPr lang="en-US" sz="1400" dirty="0"/>
          </a:p>
          <a:p>
            <a:pPr marL="0" indent="0">
              <a:buNone/>
            </a:pPr>
            <a:endParaRPr lang="en-US" sz="1400" dirty="0"/>
          </a:p>
          <a:p>
            <a:pPr marL="0" indent="0">
              <a:buNone/>
            </a:pPr>
            <a:r>
              <a:rPr lang="en-US" sz="1400" dirty="0">
                <a:solidFill>
                  <a:srgbClr val="666666"/>
                </a:solidFill>
              </a:rPr>
              <a:t>A public issue is defined as an offer or invitation made to 200 or more persons to subscribe to securities. It requires a detailed prospectus and approval from SEBI.</a:t>
            </a:r>
            <a:endParaRPr lang="en-US" sz="1400" dirty="0"/>
          </a:p>
          <a:p>
            <a:pPr marL="0" indent="0">
              <a:buNone/>
            </a:pPr>
            <a:endParaRPr lang="en-US" sz="1400" dirty="0"/>
          </a:p>
          <a:p>
            <a:pPr marL="0" indent="0">
              <a:buNone/>
            </a:pPr>
            <a:r>
              <a:rPr lang="en-US" sz="1400" dirty="0">
                <a:solidFill>
                  <a:srgbClr val="666666"/>
                </a:solidFill>
              </a:rPr>
              <a:t>There are two primary types:</a:t>
            </a:r>
            <a:endParaRPr lang="en-US" sz="1400" dirty="0"/>
          </a:p>
          <a:p>
            <a:pPr marL="0" indent="0">
              <a:buNone/>
            </a:pPr>
            <a:endParaRPr lang="en-US" sz="1400" dirty="0"/>
          </a:p>
          <a:p>
            <a:pPr marL="0" indent="0">
              <a:buNone/>
            </a:pPr>
            <a:r>
              <a:rPr lang="en-US" sz="1400" dirty="0">
                <a:solidFill>
                  <a:srgbClr val="666666"/>
                </a:solidFill>
              </a:rPr>
              <a:t>Initial Public Offering (IPO):</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18</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Made by unlisted companies to get listed on stock exchanges.</a:t>
            </a:r>
            <a:endParaRPr lang="en-US" sz="1400" dirty="0"/>
          </a:p>
          <a:p>
            <a:pPr marL="0" indent="0">
              <a:buNone/>
            </a:pPr>
            <a:endParaRPr lang="en-US" sz="1400" dirty="0"/>
          </a:p>
          <a:p>
            <a:pPr marL="0" indent="0">
              <a:buNone/>
            </a:pPr>
            <a:r>
              <a:rPr lang="en-US" sz="1400" dirty="0">
                <a:solidFill>
                  <a:srgbClr val="666666"/>
                </a:solidFill>
              </a:rPr>
              <a:t>Aimed at raising funds for growth, expansion, or debt repayment.</a:t>
            </a:r>
            <a:endParaRPr lang="en-US" sz="1400" dirty="0"/>
          </a:p>
          <a:p>
            <a:pPr marL="0" indent="0">
              <a:buNone/>
            </a:pPr>
            <a:endParaRPr lang="en-US" sz="1400" dirty="0"/>
          </a:p>
          <a:p>
            <a:pPr marL="0" indent="0">
              <a:buNone/>
            </a:pPr>
            <a:r>
              <a:rPr lang="en-US" sz="1400" dirty="0">
                <a:solidFill>
                  <a:srgbClr val="666666"/>
                </a:solidFill>
              </a:rPr>
              <a:t>IPO marks the company's first entry into the capital markets.</a:t>
            </a:r>
            <a:endParaRPr lang="en-US" sz="1400" dirty="0"/>
          </a:p>
          <a:p>
            <a:pPr marL="0" indent="0">
              <a:buNone/>
            </a:pPr>
            <a:endParaRPr lang="en-US" sz="1400" dirty="0"/>
          </a:p>
          <a:p>
            <a:pPr marL="0" indent="0">
              <a:buNone/>
            </a:pPr>
            <a:r>
              <a:rPr lang="en-US" sz="1400" dirty="0">
                <a:solidFill>
                  <a:srgbClr val="666666"/>
                </a:solidFill>
              </a:rPr>
              <a:t>Follow-on Public Offer (FPO):</a:t>
            </a:r>
            <a:endParaRPr lang="en-US" sz="1400" dirty="0"/>
          </a:p>
          <a:p>
            <a:pPr marL="0" indent="0">
              <a:buNone/>
            </a:pPr>
            <a:endParaRPr lang="en-US" sz="1400" dirty="0"/>
          </a:p>
          <a:p>
            <a:pPr marL="0" indent="0">
              <a:buNone/>
            </a:pPr>
            <a:r>
              <a:rPr lang="en-US" sz="1400" dirty="0">
                <a:solidFill>
                  <a:srgbClr val="666666"/>
                </a:solidFill>
              </a:rPr>
              <a:t>Made by a listed company to raise additional funds.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19</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Used for expansion or debt restructuring by companies already traded on the exchange.</a:t>
            </a:r>
            <a:endParaRPr lang="en-US" sz="1400" dirty="0"/>
          </a:p>
          <a:p>
            <a:pPr marL="0" indent="0">
              <a:buNone/>
            </a:pPr>
            <a:endParaRPr lang="en-US" sz="1400" dirty="0"/>
          </a:p>
          <a:p>
            <a:pPr marL="0" indent="0">
              <a:buNone/>
            </a:pPr>
            <a:r>
              <a:rPr lang="en-US" sz="1400" dirty="0">
                <a:solidFill>
                  <a:srgbClr val="666666"/>
                </a:solidFill>
              </a:rPr>
              <a:t>Classification of Companies</a:t>
            </a:r>
            <a:endParaRPr lang="en-US" sz="1400" dirty="0"/>
          </a:p>
          <a:p>
            <a:pPr marL="0" indent="0">
              <a:buNone/>
            </a:pPr>
            <a:endParaRPr lang="en-US" sz="1400" dirty="0"/>
          </a:p>
          <a:p>
            <a:pPr marL="0" indent="0">
              <a:buNone/>
            </a:pPr>
            <a:r>
              <a:rPr lang="en-US" sz="1400" dirty="0">
                <a:solidFill>
                  <a:srgbClr val="666666"/>
                </a:solidFill>
              </a:rPr>
              <a:t>Companies eligible to make a public issue are categorized primarily based on their listing status, size, and business model. A public issue is broadly defined as an offer or invitation made to 200 or more persons to subscribe to securities, which necessitates a detailed prospectus and SEBI approval.</a:t>
            </a:r>
            <a:endParaRPr lang="en-US" sz="1400" dirty="0"/>
          </a:p>
          <a:p>
            <a:pPr marL="0" indent="0">
              <a:buNone/>
            </a:pPr>
            <a:endParaRPr lang="en-US" sz="1400" dirty="0"/>
          </a:p>
          <a:p>
            <a:pPr marL="0" indent="0">
              <a:buNone/>
            </a:pPr>
            <a:r>
              <a:rPr lang="en-US" sz="1400" dirty="0">
                <a:solidFill>
                  <a:srgbClr val="666666"/>
                </a:solidFill>
              </a:rPr>
              <a:t>The classifications include:</a:t>
            </a:r>
            <a:endParaRPr lang="en-US" sz="1400" dirty="0"/>
          </a:p>
          <a:p>
            <a:pPr marL="0" indent="0">
              <a:buNone/>
            </a:pPr>
            <a:endParaRPr lang="en-US" sz="1400" dirty="0"/>
          </a:p>
          <a:p>
            <a:pPr marL="0" indent="0">
              <a:buNone/>
            </a:pPr>
            <a:r>
              <a:rPr lang="en-US" sz="1400" dirty="0">
                <a:solidFill>
                  <a:srgbClr val="666666"/>
                </a:solidFill>
              </a:rPr>
              <a:t>Unlisted Company: This refers to a company that is not yet listed on any stock exchange and is seeking listing for the first time through an Initial Public Offering (IPO).</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20</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Listed Company: This is a company already traded on an exchange that makes an additional issue of securities, typically through a Follow-on Public Offer (FPO).</a:t>
            </a:r>
            <a:endParaRPr lang="en-US" sz="1400" dirty="0"/>
          </a:p>
          <a:p>
            <a:pPr marL="0" indent="0">
              <a:buNone/>
            </a:pPr>
            <a:endParaRPr lang="en-US" sz="1400" dirty="0"/>
          </a:p>
          <a:p>
            <a:pPr marL="0" indent="0">
              <a:buNone/>
            </a:pPr>
            <a:r>
              <a:rPr lang="en-US" sz="1400" dirty="0">
                <a:solidFill>
                  <a:srgbClr val="666666"/>
                </a:solidFill>
              </a:rPr>
              <a:t>Main Board Issuer: These are generally large companies that must comply with SEBI’s stringent eligibility norms, which are primarily related to profitability and net worth.</a:t>
            </a:r>
            <a:endParaRPr lang="en-US" sz="1400" dirty="0"/>
          </a:p>
          <a:p>
            <a:pPr marL="0" indent="0">
              <a:buNone/>
            </a:pPr>
            <a:endParaRPr lang="en-US" sz="1400" dirty="0"/>
          </a:p>
          <a:p>
            <a:pPr marL="0" indent="0">
              <a:buNone/>
            </a:pPr>
            <a:r>
              <a:rPr lang="en-US" sz="1400" dirty="0">
                <a:solidFill>
                  <a:srgbClr val="666666"/>
                </a:solidFill>
              </a:rPr>
              <a:t>SME Issuer (Small and Medium Enterprise): These companies benefit from relaxed eligibility norms and list on specialized platforms like NSE Emerge or BSE SME. For an SME IPO, the post-issue paid-up capital must be less than or equal to ₹10 crore, or between ₹10 crore and ₹25 crore. An SME issuer also needs to satisfy the specific track record and eligibility conditions of the SME Exchange where it proposes to list.</a:t>
            </a:r>
            <a:endParaRPr lang="en-US" sz="1400" dirty="0"/>
          </a:p>
          <a:p>
            <a:pPr marL="0" indent="0">
              <a:buNone/>
            </a:pPr>
            <a:endParaRPr lang="en-US" sz="1400" dirty="0"/>
          </a:p>
          <a:p>
            <a:pPr marL="0" indent="0">
              <a:buNone/>
            </a:pPr>
            <a:r>
              <a:rPr lang="en-US" sz="1400" dirty="0">
                <a:solidFill>
                  <a:srgbClr val="666666"/>
                </a:solidFill>
              </a:rPr>
              <a:t>IGP Issuer (Innovators Growth Platform): This category is for start-ups or companies with innovative business models that may not meet the profitability criteria for the Main Board. To be eligible, they require 25% investment from Qualified Institutional Buyers (QIBs) or Alternative Investment Funds (AIFs). The Innovators Growth Platform is exclusively accessible to institutional investors and non-institutional investors.</a:t>
            </a:r>
            <a:endParaRPr lang="en-US" sz="1400" dirty="0"/>
          </a:p>
          <a:p>
            <a:pPr marL="0" indent="0">
              <a:buNone/>
            </a:pPr>
            <a:endParaRPr lang="en-US" sz="1400" dirty="0"/>
          </a:p>
          <a:p>
            <a:pPr marL="0" indent="0">
              <a:buNone/>
            </a:pPr>
            <a:r>
              <a:rPr lang="en-US" sz="1400" dirty="0">
                <a:solidFill>
                  <a:srgbClr val="666666"/>
                </a:solidFill>
              </a:rPr>
              <a:t>Eligibility for Public Issues</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21</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SEBI's ICDR Regulations (Regulation 6) outline the pathways for a company's IPO eligibility, ensuring that only financially sound entities raise public money.</a:t>
            </a:r>
            <a:endParaRPr lang="en-US" sz="1400" dirty="0"/>
          </a:p>
          <a:p>
            <a:pPr marL="0" indent="0">
              <a:buNone/>
            </a:pPr>
            <a:endParaRPr lang="en-US" sz="1400" dirty="0"/>
          </a:p>
          <a:p>
            <a:pPr marL="0" indent="0">
              <a:buNone/>
            </a:pPr>
            <a:r>
              <a:rPr lang="en-US" sz="1400" dirty="0">
                <a:solidFill>
                  <a:srgbClr val="666666"/>
                </a:solidFill>
              </a:rPr>
              <a:t>For Unlisted Companies (Initial Public Offer - IPO): An unlisted company can become eligible for a public issue through one of two primary routes:</a:t>
            </a:r>
            <a:endParaRPr lang="en-US" sz="1400" dirty="0"/>
          </a:p>
          <a:p>
            <a:pPr marL="0" indent="0">
              <a:buNone/>
            </a:pPr>
            <a:endParaRPr lang="en-US" sz="1400" dirty="0"/>
          </a:p>
          <a:p>
            <a:pPr marL="0" indent="0">
              <a:buNone/>
            </a:pPr>
            <a:r>
              <a:rPr lang="en-US" sz="1400" dirty="0">
                <a:solidFill>
                  <a:srgbClr val="666666"/>
                </a:solidFill>
              </a:rPr>
              <a:t>Profitability Route (Regulation 6(1)): To qualify via this route, an unlisted company must satisfy all of the following criteria:</a:t>
            </a:r>
            <a:endParaRPr lang="en-US" sz="1400" dirty="0"/>
          </a:p>
          <a:p>
            <a:pPr marL="0" indent="0">
              <a:buNone/>
            </a:pPr>
            <a:endParaRPr lang="en-US" sz="1400" dirty="0"/>
          </a:p>
          <a:p>
            <a:pPr marL="0" indent="0">
              <a:buNone/>
            </a:pPr>
            <a:r>
              <a:rPr lang="en-US" sz="1400" dirty="0">
                <a:solidFill>
                  <a:srgbClr val="666666"/>
                </a:solidFill>
              </a:rPr>
              <a:t>It must have net tangible assets of at least ₹3 crore in each of the preceding three full years, with at least 50% of these assets held in monetary form.</a:t>
            </a:r>
            <a:endParaRPr lang="en-US" sz="1400" dirty="0"/>
          </a:p>
          <a:p>
            <a:pPr marL="0" indent="0">
              <a:buNone/>
            </a:pPr>
            <a:endParaRPr lang="en-US" sz="1400" dirty="0"/>
          </a:p>
          <a:p>
            <a:pPr marL="0" indent="0">
              <a:buNone/>
            </a:pPr>
            <a:r>
              <a:rPr lang="en-US" sz="1400" dirty="0">
                <a:solidFill>
                  <a:srgbClr val="666666"/>
                </a:solidFill>
              </a:rPr>
              <a:t>It must have a track record of distributable profits in at least three of the past five years.</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22</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It must possess a minimum net worth of at least ₹1 crore in each of the preceding three years.</a:t>
            </a:r>
            <a:endParaRPr lang="en-US" sz="1400" dirty="0"/>
          </a:p>
          <a:p>
            <a:pPr marL="0" indent="0">
              <a:buNone/>
            </a:pPr>
            <a:endParaRPr lang="en-US" sz="1400" dirty="0"/>
          </a:p>
          <a:p>
            <a:pPr marL="0" indent="0">
              <a:buNone/>
            </a:pPr>
            <a:r>
              <a:rPr lang="en-US" sz="1400" dirty="0">
                <a:solidFill>
                  <a:srgbClr val="666666"/>
                </a:solidFill>
              </a:rPr>
              <a:t>If the company has changed its name within the last year, at least 50% of its revenue for the preceding one year must have been generated from the new business activity.</a:t>
            </a:r>
            <a:endParaRPr lang="en-US" sz="1400" dirty="0"/>
          </a:p>
          <a:p>
            <a:pPr marL="0" indent="0">
              <a:buNone/>
            </a:pPr>
            <a:endParaRPr lang="en-US" sz="1400" dirty="0"/>
          </a:p>
          <a:p>
            <a:pPr marL="0" indent="0">
              <a:buNone/>
            </a:pPr>
            <a:r>
              <a:rPr lang="en-US" sz="1400" dirty="0">
                <a:solidFill>
                  <a:srgbClr val="666666"/>
                </a:solidFill>
              </a:rPr>
              <a:t>The issue size should not exceed five times the pre-issue net worth as per the last audited balance sheet.</a:t>
            </a:r>
            <a:endParaRPr lang="en-US" sz="1400" dirty="0"/>
          </a:p>
          <a:p>
            <a:pPr marL="0" indent="0">
              <a:buNone/>
            </a:pPr>
            <a:endParaRPr lang="en-US" sz="1400" dirty="0"/>
          </a:p>
          <a:p>
            <a:pPr marL="0" indent="0">
              <a:buNone/>
            </a:pPr>
            <a:r>
              <a:rPr lang="en-US" sz="1400" dirty="0">
                <a:solidFill>
                  <a:srgbClr val="666666"/>
                </a:solidFill>
              </a:rPr>
              <a:t>The company must ensure it will have at least 1,000 prospective allottees in the issue.</a:t>
            </a:r>
            <a:endParaRPr lang="en-US" sz="1400" dirty="0"/>
          </a:p>
          <a:p>
            <a:pPr marL="0" indent="0">
              <a:buNone/>
            </a:pPr>
            <a:endParaRPr lang="en-US" sz="1400" dirty="0"/>
          </a:p>
          <a:p>
            <a:pPr marL="0" indent="0">
              <a:buNone/>
            </a:pPr>
            <a:r>
              <a:rPr lang="en-US" sz="1400" dirty="0">
                <a:solidFill>
                  <a:srgbClr val="666666"/>
                </a:solidFill>
              </a:rPr>
              <a:t>If any of these conditions are not met, the company cannot proceed with a public issue through this route.</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23</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QIB Route (Regulation 6(2)): If an unlisted company does not meet the profitability criteria, it can still make an IPO if it complies with these conditions:</a:t>
            </a:r>
            <a:endParaRPr lang="en-US" sz="1400" dirty="0"/>
          </a:p>
          <a:p>
            <a:pPr marL="0" indent="0">
              <a:buNone/>
            </a:pPr>
            <a:endParaRPr lang="en-US" sz="1400" dirty="0"/>
          </a:p>
          <a:p>
            <a:pPr marL="0" indent="0">
              <a:buNone/>
            </a:pPr>
            <a:r>
              <a:rPr lang="en-US" sz="1400" dirty="0">
                <a:solidFill>
                  <a:srgbClr val="666666"/>
                </a:solidFill>
              </a:rPr>
              <a:t>The entire issue must be made through the book building process.</a:t>
            </a:r>
            <a:endParaRPr lang="en-US" sz="1400" dirty="0"/>
          </a:p>
          <a:p>
            <a:pPr marL="0" indent="0">
              <a:buNone/>
            </a:pPr>
            <a:endParaRPr lang="en-US" sz="1400" dirty="0"/>
          </a:p>
          <a:p>
            <a:pPr marL="0" indent="0">
              <a:buNone/>
            </a:pPr>
            <a:r>
              <a:rPr lang="en-US" sz="1400" dirty="0">
                <a:solidFill>
                  <a:srgbClr val="666666"/>
                </a:solidFill>
              </a:rPr>
              <a:t>The issuer must undertake to allot at least 75% of the net offer compulsorily to Qualified Institutional Buyers (QIBs).</a:t>
            </a:r>
            <a:endParaRPr lang="en-US" sz="1400" dirty="0"/>
          </a:p>
          <a:p>
            <a:pPr marL="0" indent="0">
              <a:buNone/>
            </a:pPr>
            <a:endParaRPr lang="en-US" sz="1400" dirty="0"/>
          </a:p>
          <a:p>
            <a:pPr marL="0" indent="0">
              <a:buNone/>
            </a:pPr>
            <a:r>
              <a:rPr lang="en-US" sz="1400" dirty="0">
                <a:solidFill>
                  <a:srgbClr val="666666"/>
                </a:solidFill>
              </a:rPr>
              <a:t>If the company fails to make this minimum 75% allotment to QIBs, the full subscription money received must be refunded.</a:t>
            </a:r>
            <a:endParaRPr lang="en-US" sz="1400" dirty="0"/>
          </a:p>
          <a:p>
            <a:pPr marL="0" indent="0">
              <a:buNone/>
            </a:pPr>
            <a:endParaRPr lang="en-US" sz="1400" dirty="0"/>
          </a:p>
          <a:p>
            <a:pPr marL="0" indent="0">
              <a:buNone/>
            </a:pPr>
            <a:r>
              <a:rPr lang="en-US" sz="1400" dirty="0">
                <a:solidFill>
                  <a:srgbClr val="666666"/>
                </a:solidFill>
              </a:rPr>
              <a:t>This route exists because QIBs are considered informed investors who can better assess risk, thereby instilling confidence in the issue and mitigating risk for retail investors.</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24</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In addition to these, alternative routes like the Appraisal Route (project appraised by public financial institutions/scheduled commercial banks with 15% participation, including 10% from appraisers, plus 10% to QIBs) and Market Making (post-issue size minimum ₹10 crore or market making for at least two years) are mentioned for unlisted companies.</a:t>
            </a:r>
            <a:endParaRPr lang="en-US" sz="1400" dirty="0"/>
          </a:p>
          <a:p>
            <a:pPr marL="0" indent="0">
              <a:buNone/>
            </a:pPr>
            <a:endParaRPr lang="en-US" sz="1400" dirty="0"/>
          </a:p>
          <a:p>
            <a:pPr marL="0" indent="0">
              <a:buNone/>
            </a:pPr>
            <a:r>
              <a:rPr lang="en-US" sz="1400" dirty="0">
                <a:solidFill>
                  <a:srgbClr val="666666"/>
                </a:solidFill>
              </a:rPr>
              <a:t>For Listed Companies (Further Public Offer - FPO): A listed company is eligible to make a public issue of equity shares or convertible securities if it satisfies specific conditions:</a:t>
            </a:r>
            <a:endParaRPr lang="en-US" sz="1400" dirty="0"/>
          </a:p>
          <a:p>
            <a:pPr marL="0" indent="0">
              <a:buNone/>
            </a:pPr>
            <a:endParaRPr lang="en-US" sz="1400" dirty="0"/>
          </a:p>
          <a:p>
            <a:pPr marL="0" indent="0">
              <a:buNone/>
            </a:pPr>
            <a:r>
              <a:rPr lang="en-US" sz="1400" dirty="0">
                <a:solidFill>
                  <a:srgbClr val="666666"/>
                </a:solidFill>
              </a:rPr>
              <a:t>The issue size does not exceed five times its pre-issue net worth as per the audited balance sheet of the last year.</a:t>
            </a:r>
            <a:endParaRPr lang="en-US" sz="1400" dirty="0"/>
          </a:p>
          <a:p>
            <a:pPr marL="0" indent="0">
              <a:buNone/>
            </a:pPr>
            <a:endParaRPr lang="en-US" sz="1400" dirty="0"/>
          </a:p>
          <a:p>
            <a:pPr marL="0" indent="0">
              <a:buNone/>
            </a:pPr>
            <a:r>
              <a:rPr lang="en-US" sz="1400" dirty="0">
                <a:solidFill>
                  <a:srgbClr val="666666"/>
                </a:solidFill>
              </a:rPr>
              <a:t>If the issue size does exceed five times the company's pre-issue net worth, the listed company must make the issue through the book building process and allot 50% of shares to QIBs; otherwise, the collected subscription money must be refunded.</a:t>
            </a:r>
            <a:endParaRPr lang="en-US" sz="1400" dirty="0"/>
          </a:p>
          <a:p>
            <a:pPr marL="0" indent="0">
              <a:buNone/>
            </a:pPr>
            <a:endParaRPr lang="en-US" sz="1400" dirty="0"/>
          </a:p>
          <a:p>
            <a:pPr marL="0" indent="0">
              <a:buNone/>
            </a:pPr>
            <a:r>
              <a:rPr lang="en-US" sz="1400" dirty="0">
                <a:solidFill>
                  <a:srgbClr val="666666"/>
                </a:solidFill>
              </a:rPr>
              <a:t>Similar to unlisted companies, if the company has changed its name, at least 50% of its revenue for the preceding one year must be from the new activity.</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25</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For Fast Track Issues (FTIs), which allow listed companies quicker access to the market, shares must have been listed on a nationwide terminal for at least three years preceding the reference date. The average market capitalization of public shareholding for a fast track further public offer must be at least ₹1,000 crore.</a:t>
            </a:r>
            <a:endParaRPr lang="en-US" sz="1400" dirty="0"/>
          </a:p>
          <a:p>
            <a:pPr marL="0" indent="0">
              <a:buNone/>
            </a:pPr>
            <a:endParaRPr lang="en-US" sz="1400" dirty="0"/>
          </a:p>
          <a:p>
            <a:pPr marL="0" indent="0">
              <a:buNone/>
            </a:pPr>
            <a:r>
              <a:rPr lang="en-US" sz="1400" dirty="0">
                <a:solidFill>
                  <a:srgbClr val="666666"/>
                </a:solidFill>
              </a:rPr>
              <a:t>Issue Pricing</a:t>
            </a:r>
            <a:endParaRPr lang="en-US" sz="1400" dirty="0"/>
          </a:p>
          <a:p>
            <a:pPr marL="0" indent="0">
              <a:buNone/>
            </a:pPr>
            <a:endParaRPr lang="en-US" sz="1400" dirty="0"/>
          </a:p>
          <a:p>
            <a:pPr marL="0" indent="0">
              <a:buNone/>
            </a:pPr>
            <a:r>
              <a:rPr lang="en-US" sz="1400" dirty="0">
                <a:solidFill>
                  <a:srgbClr val="666666"/>
                </a:solidFill>
              </a:rPr>
              <a:t>SEBI permits two primary mechanisms for offering securities in public issues: Fixed Price Issue and Book Building.</a:t>
            </a:r>
            <a:endParaRPr lang="en-US" sz="1400" dirty="0"/>
          </a:p>
          <a:p>
            <a:pPr marL="0" indent="0">
              <a:buNone/>
            </a:pPr>
            <a:endParaRPr lang="en-US" sz="1400" dirty="0"/>
          </a:p>
          <a:p>
            <a:pPr marL="0" indent="0">
              <a:buNone/>
            </a:pPr>
            <a:r>
              <a:rPr lang="en-US" sz="1400" dirty="0">
                <a:solidFill>
                  <a:srgbClr val="666666"/>
                </a:solidFill>
              </a:rPr>
              <a:t>1. Fixed Price Issue:</a:t>
            </a:r>
            <a:endParaRPr lang="en-US" sz="1400" dirty="0"/>
          </a:p>
          <a:p>
            <a:pPr marL="0" indent="0">
              <a:buNone/>
            </a:pPr>
            <a:endParaRPr lang="en-US" sz="1400" dirty="0"/>
          </a:p>
          <a:p>
            <a:pPr marL="0" indent="0">
              <a:buNone/>
            </a:pPr>
            <a:r>
              <a:rPr lang="en-US" sz="1400" dirty="0">
                <a:solidFill>
                  <a:srgbClr val="666666"/>
                </a:solidFill>
              </a:rPr>
              <a:t>The issue price is predetermined and explicitly stated in the prospectus upfront.</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26</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Investors are aware of the exact price they will pay when they apply.</a:t>
            </a:r>
            <a:endParaRPr lang="en-US" sz="1400" dirty="0"/>
          </a:p>
          <a:p>
            <a:pPr marL="0" indent="0">
              <a:buNone/>
            </a:pPr>
            <a:endParaRPr lang="en-US" sz="1400" dirty="0"/>
          </a:p>
          <a:p>
            <a:pPr marL="0" indent="0">
              <a:buNone/>
            </a:pPr>
            <a:r>
              <a:rPr lang="en-US" sz="1400" dirty="0">
                <a:solidFill>
                  <a:srgbClr val="666666"/>
                </a:solidFill>
              </a:rPr>
              <a:t>While simpler for small investors, this method carries the risk of under-pricing (if demand is high, the company misses out on raising more funds) or overpricing.</a:t>
            </a:r>
            <a:endParaRPr lang="en-US" sz="1400" dirty="0"/>
          </a:p>
          <a:p>
            <a:pPr marL="0" indent="0">
              <a:buNone/>
            </a:pPr>
            <a:endParaRPr lang="en-US" sz="1400" dirty="0"/>
          </a:p>
          <a:p>
            <a:pPr marL="0" indent="0">
              <a:buNone/>
            </a:pPr>
            <a:r>
              <a:rPr lang="en-US" sz="1400" dirty="0">
                <a:solidFill>
                  <a:srgbClr val="666666"/>
                </a:solidFill>
              </a:rPr>
              <a:t>2. Book Building Issue:</a:t>
            </a:r>
            <a:endParaRPr lang="en-US" sz="1400" dirty="0"/>
          </a:p>
          <a:p>
            <a:pPr marL="0" indent="0">
              <a:buNone/>
            </a:pPr>
            <a:endParaRPr lang="en-US" sz="1400" dirty="0"/>
          </a:p>
          <a:p>
            <a:pPr marL="0" indent="0">
              <a:buNone/>
            </a:pPr>
            <a:r>
              <a:rPr lang="en-US" sz="1400" dirty="0">
                <a:solidFill>
                  <a:srgbClr val="666666"/>
                </a:solidFill>
              </a:rPr>
              <a:t>This is a market-driven pricing mechanism aimed at eliciting demand and assessing the price for the securities.</a:t>
            </a:r>
            <a:endParaRPr lang="en-US" sz="1400" dirty="0"/>
          </a:p>
          <a:p>
            <a:pPr marL="0" indent="0">
              <a:buNone/>
            </a:pPr>
            <a:endParaRPr lang="en-US" sz="1400" dirty="0"/>
          </a:p>
          <a:p>
            <a:pPr marL="0" indent="0">
              <a:buNone/>
            </a:pPr>
            <a:r>
              <a:rPr lang="en-US" sz="1400" dirty="0">
                <a:solidFill>
                  <a:srgbClr val="666666"/>
                </a:solidFill>
              </a:rPr>
              <a:t>The company specifies a price band (e.g., ₹100 to ₹120) with a floor price (minimum bid price) and a cap price (upper limit). The cap price cannot be more than 120% of the floor price and must be at least 105% of the floor price.</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27</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Investors bid within this declared price band, indicating both the quantity of shares and their desired price.</a:t>
            </a:r>
            <a:endParaRPr lang="en-US" sz="1400" dirty="0"/>
          </a:p>
          <a:p>
            <a:pPr marL="0" indent="0">
              <a:buNone/>
            </a:pPr>
            <a:endParaRPr lang="en-US" sz="1400" dirty="0"/>
          </a:p>
          <a:p>
            <a:pPr marL="0" indent="0">
              <a:buNone/>
            </a:pPr>
            <a:r>
              <a:rPr lang="en-US" sz="1400" dirty="0">
                <a:solidFill>
                  <a:srgbClr val="666666"/>
                </a:solidFill>
              </a:rPr>
              <a:t>The final issue price, known as the cut-off price, is determined by the issuer in consultation with the lead managers based on the demand received within the band.</a:t>
            </a:r>
            <a:endParaRPr lang="en-US" sz="1400" dirty="0"/>
          </a:p>
          <a:p>
            <a:pPr marL="0" indent="0">
              <a:buNone/>
            </a:pPr>
            <a:endParaRPr lang="en-US" sz="1400" dirty="0"/>
          </a:p>
          <a:p>
            <a:pPr marL="0" indent="0">
              <a:buNone/>
            </a:pPr>
            <a:r>
              <a:rPr lang="en-US" sz="1400" dirty="0">
                <a:solidFill>
                  <a:srgbClr val="666666"/>
                </a:solidFill>
              </a:rPr>
              <a:t>Retail Individual Investors (RIIs) have the option to bid at the "cut-off price," signifying their willingness to accept shares at any price within the band, and they are required to pay the highest price of the band along with their application.</a:t>
            </a:r>
            <a:endParaRPr lang="en-US" sz="1400" dirty="0"/>
          </a:p>
          <a:p>
            <a:pPr marL="0" indent="0">
              <a:buNone/>
            </a:pPr>
            <a:endParaRPr lang="en-US" sz="1400" dirty="0"/>
          </a:p>
          <a:p>
            <a:pPr marL="0" indent="0">
              <a:buNone/>
            </a:pPr>
            <a:r>
              <a:rPr lang="en-US" sz="1400" dirty="0">
                <a:solidFill>
                  <a:srgbClr val="666666"/>
                </a:solidFill>
              </a:rPr>
              <a:t>The Red Herring Prospectus (RHP) typically contains the floor price or price band but not the final issue price or number of shares. The floor price or price band is announced via advertisement at least two working days before the issue opening.</a:t>
            </a:r>
            <a:endParaRPr lang="en-US" sz="1400" dirty="0"/>
          </a:p>
          <a:p>
            <a:pPr marL="0" indent="0">
              <a:buNone/>
            </a:pPr>
            <a:endParaRPr lang="en-US" sz="1400" dirty="0"/>
          </a:p>
          <a:p>
            <a:pPr marL="0" indent="0">
              <a:buNone/>
            </a:pPr>
            <a:r>
              <a:rPr lang="en-US" sz="1400" dirty="0">
                <a:solidFill>
                  <a:srgbClr val="666666"/>
                </a:solidFill>
              </a:rPr>
              <a:t>Book building is mandatory for many public issues, especially if the company does not meet certain profitability criteria.</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28</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Allocation in Book Building Issues (Regulatory Quotas): To ensure broad participation and fair allotment, SEBI mandates specific allocations for different investor categories:</a:t>
            </a:r>
            <a:endParaRPr lang="en-US" sz="1400" dirty="0"/>
          </a:p>
          <a:p>
            <a:pPr marL="0" indent="0">
              <a:buNone/>
            </a:pPr>
            <a:endParaRPr lang="en-US" sz="1400" dirty="0"/>
          </a:p>
          <a:p>
            <a:pPr marL="0" indent="0">
              <a:buNone/>
            </a:pPr>
            <a:r>
              <a:rPr lang="en-US" sz="1400" dirty="0">
                <a:solidFill>
                  <a:srgbClr val="666666"/>
                </a:solidFill>
              </a:rPr>
              <a:t>Qualified Institutional Buyers (QIBs): A minimum of 50% of the net offer is reserved for QIBs. However, in issues made under the QIB Route (for companies not meeting profitability norms), at least 75% of the net offer must be allotted to QIBs. A portion of the QIB category, up to 60%, may be allocated to anchor investors on a discretionary basis, with their bidding opening one day before the issue.</a:t>
            </a:r>
            <a:endParaRPr lang="en-US" sz="1400" dirty="0"/>
          </a:p>
          <a:p>
            <a:pPr marL="0" indent="0">
              <a:buNone/>
            </a:pPr>
            <a:endParaRPr lang="en-US" sz="1400" dirty="0"/>
          </a:p>
          <a:p>
            <a:pPr marL="0" indent="0">
              <a:buNone/>
            </a:pPr>
            <a:r>
              <a:rPr lang="en-US" sz="1400" dirty="0">
                <a:solidFill>
                  <a:srgbClr val="666666"/>
                </a:solidFill>
              </a:rPr>
              <a:t>Retail Individual Investors (RIIs): A minimum of 35% of the net offer is reserved for RIIs, who are individuals applying for securities valued at not more than ₹2 lakh. For issues under the QIB Route, this reservation is not more than 10%.</a:t>
            </a:r>
            <a:endParaRPr lang="en-US" sz="1400" dirty="0"/>
          </a:p>
          <a:p>
            <a:pPr marL="0" indent="0">
              <a:buNone/>
            </a:pPr>
            <a:endParaRPr lang="en-US" sz="1400" dirty="0"/>
          </a:p>
          <a:p>
            <a:pPr marL="0" indent="0">
              <a:buNone/>
            </a:pPr>
            <a:r>
              <a:rPr lang="en-US" sz="1400" dirty="0">
                <a:solidFill>
                  <a:srgbClr val="666666"/>
                </a:solidFill>
              </a:rPr>
              <a:t>Non-Institutional Investors (NIIs): 15% of the net offer is reserved for NIIs, who are individuals or corporates applying for securities valued above ₹2 lakh. For issues under the QIB Route, this is not more than 15%. Within the NII category, the allocation is further split: one-third for application sizes between ₹2 lakh and ₹10 lakh, and two-thirds for application sizes above ₹10 lakh.</a:t>
            </a:r>
            <a:endParaRPr lang="en-US" sz="1400" dirty="0"/>
          </a:p>
          <a:p>
            <a:pPr marL="0" indent="0">
              <a:buNone/>
            </a:pPr>
            <a:endParaRPr lang="en-US" sz="1400" dirty="0"/>
          </a:p>
          <a:p>
            <a:pPr marL="0" indent="0">
              <a:buNone/>
            </a:pPr>
            <a:r>
              <a:rPr lang="en-US" sz="1400" dirty="0">
                <a:solidFill>
                  <a:srgbClr val="666666"/>
                </a:solidFill>
              </a:rPr>
              <a:t>Flexibility in Allotment: Unsubscribed portions in the RII or NII categories can be allocated to applicants in other categories. However, in issues via the QIB route, the unsubscribed portion in the QIB category is not available for subscription to other categories.</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29</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Differential Pricing: Issuers may offer securities at different prices to various categories. RIIs or employees entitled to reservation may be offered securities at a price not more than 10% lower than the net offer price to other categories (excluding anchor investors).</a:t>
            </a:r>
            <a:endParaRPr lang="en-US" sz="1400" dirty="0"/>
          </a:p>
          <a:p>
            <a:pPr marL="0" indent="0">
              <a:buNone/>
            </a:pPr>
            <a:endParaRPr lang="en-US" sz="1400" dirty="0"/>
          </a:p>
          <a:p>
            <a:pPr marL="0" indent="0">
              <a:buNone/>
            </a:pPr>
            <a:r>
              <a:rPr lang="en-US" sz="1400" dirty="0">
                <a:solidFill>
                  <a:srgbClr val="666666"/>
                </a:solidFill>
              </a:rPr>
              <a:t>Promoter’s Contribution</a:t>
            </a:r>
            <a:endParaRPr lang="en-US" sz="1400" dirty="0"/>
          </a:p>
          <a:p>
            <a:pPr marL="0" indent="0">
              <a:buNone/>
            </a:pPr>
            <a:endParaRPr lang="en-US" sz="1400" dirty="0"/>
          </a:p>
          <a:p>
            <a:pPr marL="0" indent="0">
              <a:buNone/>
            </a:pPr>
            <a:r>
              <a:rPr lang="en-US" sz="1400" dirty="0">
                <a:solidFill>
                  <a:srgbClr val="666666"/>
                </a:solidFill>
              </a:rPr>
              <a:t>Promoter’s contribution refers to the mandatory minimum holding that promoters must invest in the post-issue capital of the company.</a:t>
            </a:r>
            <a:endParaRPr lang="en-US" sz="1400" dirty="0"/>
          </a:p>
          <a:p>
            <a:pPr marL="0" indent="0">
              <a:buNone/>
            </a:pPr>
            <a:endParaRPr lang="en-US" sz="1400" dirty="0"/>
          </a:p>
          <a:p>
            <a:pPr marL="0" indent="0">
              <a:buNone/>
            </a:pPr>
            <a:r>
              <a:rPr lang="en-US" sz="1400" dirty="0">
                <a:solidFill>
                  <a:srgbClr val="666666"/>
                </a:solidFill>
              </a:rPr>
              <a:t>For IPOs by Unlisted Issuers: Promoters are required to contribute not less than 20% of the post-issue capital. This contribution is subject to a lock-in period of three years from the date of allotment. Any promoters' holding exceeding this minimum 20% is locked in for six months from the allotment date. However, if many of the issue proceeds (excluding the offer for sale portion) are proposed to be utilized for capital expenditure, the lock-in period for the minimum promoters' contribution is three years, and for the excess holding, it's one year from the allotment date.</a:t>
            </a:r>
            <a:endParaRPr lang="en-US" sz="1400" dirty="0"/>
          </a:p>
          <a:p>
            <a:pPr marL="0" indent="0">
              <a:buNone/>
            </a:pPr>
            <a:endParaRPr lang="en-US" sz="1400" dirty="0"/>
          </a:p>
          <a:p>
            <a:pPr marL="0" indent="0">
              <a:buNone/>
            </a:pPr>
            <a:r>
              <a:rPr lang="en-US" sz="1400" dirty="0">
                <a:solidFill>
                  <a:srgbClr val="666666"/>
                </a:solidFill>
              </a:rPr>
              <a:t>For FPOs by Listed Issuers: Promoters shall contribute 20% of the proposed issue size or 20% of the post-issue capital. The lock-in rules for FPOs are like IPOs, with longer lock-ins (three years for minimum contribution, one year for excess) if the majority of proceeds are for capital expenditure.</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30</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Purpose: This provision is crucial to ensure that promoters maintain a minimum stake and commitment to the company for a specified period after the issue, or after the project for which funds were raised commences.</a:t>
            </a:r>
            <a:endParaRPr lang="en-US" sz="1400" dirty="0"/>
          </a:p>
          <a:p>
            <a:pPr marL="0" indent="0">
              <a:buNone/>
            </a:pPr>
            <a:endParaRPr lang="en-US" sz="1400" dirty="0"/>
          </a:p>
          <a:p>
            <a:pPr marL="0" indent="0">
              <a:buNone/>
            </a:pPr>
            <a:r>
              <a:rPr lang="en-US" sz="1400" dirty="0">
                <a:solidFill>
                  <a:srgbClr val="666666"/>
                </a:solidFill>
              </a:rPr>
              <a:t>Exceptions: The requirement for minimum promoters' contribution does not apply if an issuer does not have any identifiable promoter (e.g., a professionally managed company).</a:t>
            </a:r>
            <a:endParaRPr lang="en-US" sz="1400" dirty="0"/>
          </a:p>
          <a:p>
            <a:pPr marL="0" indent="0">
              <a:buNone/>
            </a:pPr>
            <a:endParaRPr lang="en-US" sz="1400" dirty="0"/>
          </a:p>
          <a:p>
            <a:pPr marL="0" indent="0">
              <a:buNone/>
            </a:pPr>
            <a:r>
              <a:rPr lang="en-US" sz="1400" dirty="0">
                <a:solidFill>
                  <a:srgbClr val="666666"/>
                </a:solidFill>
              </a:rPr>
              <a:t>Form of Contribution: Promoters' contribution can be made through equity shares (including SR equity shares) or convertible securities.</a:t>
            </a:r>
            <a:endParaRPr lang="en-US" sz="1400" dirty="0"/>
          </a:p>
          <a:p>
            <a:pPr marL="0" indent="0">
              <a:buNone/>
            </a:pPr>
            <a:endParaRPr lang="en-US" sz="1400" dirty="0"/>
          </a:p>
          <a:p>
            <a:pPr marL="0" indent="0">
              <a:buNone/>
            </a:pPr>
            <a:r>
              <a:rPr lang="en-US" sz="1400" dirty="0">
                <a:solidFill>
                  <a:srgbClr val="666666"/>
                </a:solidFill>
              </a:rPr>
              <a:t>Ineligible Securities: Certain specified securities are not eligible for computing minimum promoters' contribution, such as those acquired for consideration other than cash involving revaluation of assets or capitalization of intangible assets, or those pledged with any creditor other than for issuer/subsidiary borrowings. However, securities acquired through schemes approved by a High Court or tribunal may be eligible.</a:t>
            </a:r>
            <a:endParaRPr lang="en-US" sz="1400" dirty="0"/>
          </a:p>
          <a:p>
            <a:pPr marL="0" indent="0">
              <a:buNone/>
            </a:pPr>
            <a:endParaRPr lang="en-US" sz="1400" dirty="0"/>
          </a:p>
          <a:p>
            <a:pPr marL="0" indent="0">
              <a:buNone/>
            </a:pPr>
            <a:r>
              <a:rPr lang="en-US" sz="1400" dirty="0">
                <a:solidFill>
                  <a:srgbClr val="666666"/>
                </a:solidFill>
              </a:rPr>
              <a:t>Process: The promoters must satisfy these contribution requirements at least one day prior to the date of opening of the issue. The amount of promoters' contribution must be kept in an escrow account with a scheduled commercial bank, to be released along with the issue proceeds.</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31</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Bought Out Deals</a:t>
            </a:r>
            <a:endParaRPr lang="en-US" sz="1400" dirty="0"/>
          </a:p>
          <a:p>
            <a:pPr marL="0" indent="0">
              <a:buNone/>
            </a:pPr>
            <a:endParaRPr lang="en-US" sz="1400" dirty="0"/>
          </a:p>
          <a:p>
            <a:pPr marL="0" indent="0">
              <a:buNone/>
            </a:pPr>
            <a:r>
              <a:rPr lang="en-US" sz="1400" dirty="0">
                <a:solidFill>
                  <a:srgbClr val="666666"/>
                </a:solidFill>
              </a:rPr>
              <a:t>A Bought Out Deal (BOD) is a method of raising capital where a promoter or company sells a large block of shares to a single investor (typically a merchant banker) before the shares are listed on a stock exchange. It is inherently private and does not involve a public issue at the time of the initial transaction. This method is popular for unlisted companies seeking fast and less-regulated funding.</a:t>
            </a:r>
            <a:endParaRPr lang="en-US" sz="1400" dirty="0"/>
          </a:p>
          <a:p>
            <a:pPr marL="0" indent="0">
              <a:buNone/>
            </a:pPr>
            <a:endParaRPr lang="en-US" sz="1400" dirty="0"/>
          </a:p>
          <a:p>
            <a:pPr marL="0" indent="0">
              <a:buNone/>
            </a:pPr>
            <a:r>
              <a:rPr lang="en-US" sz="1400" dirty="0">
                <a:solidFill>
                  <a:srgbClr val="666666"/>
                </a:solidFill>
              </a:rPr>
              <a:t>Key Features:</a:t>
            </a:r>
            <a:endParaRPr lang="en-US" sz="1400" dirty="0"/>
          </a:p>
          <a:p>
            <a:pPr marL="0" indent="0">
              <a:buNone/>
            </a:pPr>
            <a:endParaRPr lang="en-US" sz="1400" dirty="0"/>
          </a:p>
          <a:p>
            <a:pPr marL="0" indent="0">
              <a:buNone/>
            </a:pPr>
            <a:r>
              <a:rPr lang="en-US" sz="1400" dirty="0">
                <a:solidFill>
                  <a:srgbClr val="666666"/>
                </a:solidFill>
              </a:rPr>
              <a:t>Pre-IPO Arrangement: The investor buys shares at a negotiated price from promoters or the company. The investor then lists these shares later (post-IPO) to exit their investment.</a:t>
            </a:r>
            <a:endParaRPr lang="en-US" sz="1400" dirty="0"/>
          </a:p>
          <a:p>
            <a:pPr marL="0" indent="0">
              <a:buNone/>
            </a:pPr>
            <a:endParaRPr lang="en-US" sz="1400" dirty="0"/>
          </a:p>
          <a:p>
            <a:pPr marL="0" indent="0">
              <a:buNone/>
            </a:pPr>
            <a:r>
              <a:rPr lang="en-US" sz="1400" dirty="0">
                <a:solidFill>
                  <a:srgbClr val="666666"/>
                </a:solidFill>
              </a:rPr>
              <a:t>Negotiated Pricing: The price is mutually agreed upon, based on the company's valuation, and is not influenced by immediate market demand.</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32</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Liquidity Arrangement: Bought-out shares are typically locked in for a fixed period before they can be offloaded in the market.</a:t>
            </a:r>
            <a:endParaRPr lang="en-US" sz="1400" dirty="0"/>
          </a:p>
          <a:p>
            <a:pPr marL="0" indent="0">
              <a:buNone/>
            </a:pPr>
            <a:endParaRPr lang="en-US" sz="1400" dirty="0"/>
          </a:p>
          <a:p>
            <a:pPr marL="0" indent="0">
              <a:buNone/>
            </a:pPr>
            <a:r>
              <a:rPr lang="en-US" sz="1400" dirty="0">
                <a:solidFill>
                  <a:srgbClr val="666666"/>
                </a:solidFill>
              </a:rPr>
              <a:t>No Immediate Public Issue: Unlike IPOs, there is no public participation in the initial transaction.</a:t>
            </a:r>
            <a:endParaRPr lang="en-US" sz="1400" dirty="0"/>
          </a:p>
          <a:p>
            <a:pPr marL="0" indent="0">
              <a:buNone/>
            </a:pPr>
            <a:endParaRPr lang="en-US" sz="1400" dirty="0"/>
          </a:p>
          <a:p>
            <a:pPr marL="0" indent="0">
              <a:buNone/>
            </a:pPr>
            <a:r>
              <a:rPr lang="en-US" sz="1400" dirty="0">
                <a:solidFill>
                  <a:srgbClr val="666666"/>
                </a:solidFill>
              </a:rPr>
              <a:t>Parties Involved:</a:t>
            </a:r>
            <a:endParaRPr lang="en-US" sz="1400" dirty="0"/>
          </a:p>
          <a:p>
            <a:pPr marL="0" indent="0">
              <a:buNone/>
            </a:pPr>
            <a:endParaRPr lang="en-US" sz="1400" dirty="0"/>
          </a:p>
          <a:p>
            <a:pPr marL="0" indent="0">
              <a:buNone/>
            </a:pPr>
            <a:r>
              <a:rPr lang="en-US" sz="1400" dirty="0">
                <a:solidFill>
                  <a:srgbClr val="666666"/>
                </a:solidFill>
              </a:rPr>
              <a:t>Issuer Company</a:t>
            </a:r>
            <a:endParaRPr lang="en-US" sz="1400" dirty="0"/>
          </a:p>
          <a:p>
            <a:pPr marL="0" indent="0">
              <a:buNone/>
            </a:pPr>
            <a:endParaRPr lang="en-US" sz="1400" dirty="0"/>
          </a:p>
          <a:p>
            <a:pPr marL="0" indent="0">
              <a:buNone/>
            </a:pPr>
            <a:r>
              <a:rPr lang="en-US" sz="1400" dirty="0">
                <a:solidFill>
                  <a:srgbClr val="666666"/>
                </a:solidFill>
              </a:rPr>
              <a:t>Merchant Banker / Institutional Investor</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33</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SEBI and Stock Exchanges (indirectly involved post-listing)</a:t>
            </a:r>
            <a:endParaRPr lang="en-US" sz="1400" dirty="0"/>
          </a:p>
          <a:p>
            <a:pPr marL="0" indent="0">
              <a:buNone/>
            </a:pPr>
            <a:endParaRPr lang="en-US" sz="1400" dirty="0"/>
          </a:p>
          <a:p>
            <a:pPr marL="0" indent="0">
              <a:buNone/>
            </a:pPr>
            <a:r>
              <a:rPr lang="en-US" sz="1400" dirty="0">
                <a:solidFill>
                  <a:srgbClr val="666666"/>
                </a:solidFill>
              </a:rPr>
              <a:t>Advantages:</a:t>
            </a:r>
            <a:endParaRPr lang="en-US" sz="1400" dirty="0"/>
          </a:p>
          <a:p>
            <a:pPr marL="0" indent="0">
              <a:buNone/>
            </a:pPr>
            <a:endParaRPr lang="en-US" sz="1400" dirty="0"/>
          </a:p>
          <a:p>
            <a:pPr marL="0" indent="0">
              <a:buNone/>
            </a:pPr>
            <a:r>
              <a:rPr lang="en-US" sz="1400" dirty="0">
                <a:solidFill>
                  <a:srgbClr val="666666"/>
                </a:solidFill>
              </a:rPr>
              <a:t>Fast access to capital</a:t>
            </a:r>
            <a:endParaRPr lang="en-US" sz="1400" dirty="0"/>
          </a:p>
          <a:p>
            <a:pPr marL="0" indent="0">
              <a:buNone/>
            </a:pPr>
            <a:endParaRPr lang="en-US" sz="1400" dirty="0"/>
          </a:p>
          <a:p>
            <a:pPr marL="0" indent="0">
              <a:buNone/>
            </a:pPr>
            <a:r>
              <a:rPr lang="en-US" sz="1400" dirty="0">
                <a:solidFill>
                  <a:srgbClr val="666666"/>
                </a:solidFill>
              </a:rPr>
              <a:t>Lower compliance cost compared to a public issue in the early phase</a:t>
            </a:r>
            <a:endParaRPr lang="en-US" sz="1400" dirty="0"/>
          </a:p>
          <a:p>
            <a:pPr marL="0" indent="0">
              <a:buNone/>
            </a:pPr>
            <a:endParaRPr lang="en-US" sz="1400" dirty="0"/>
          </a:p>
          <a:p>
            <a:pPr marL="0" indent="0">
              <a:buNone/>
            </a:pPr>
            <a:r>
              <a:rPr lang="en-US" sz="1400" dirty="0">
                <a:solidFill>
                  <a:srgbClr val="666666"/>
                </a:solidFill>
              </a:rPr>
              <a:t>No immediate burden of public issue regulations</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34</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Limitations:</a:t>
            </a:r>
            <a:endParaRPr lang="en-US" sz="1400" dirty="0"/>
          </a:p>
          <a:p>
            <a:pPr marL="0" indent="0">
              <a:buNone/>
            </a:pPr>
            <a:endParaRPr lang="en-US" sz="1400" dirty="0"/>
          </a:p>
          <a:p>
            <a:pPr marL="0" indent="0">
              <a:buNone/>
            </a:pPr>
            <a:r>
              <a:rPr lang="en-US" sz="1400" dirty="0">
                <a:solidFill>
                  <a:srgbClr val="666666"/>
                </a:solidFill>
              </a:rPr>
              <a:t>Concentration risk: A single buyer holds a large stake.</a:t>
            </a:r>
            <a:endParaRPr lang="en-US" sz="1400" dirty="0"/>
          </a:p>
          <a:p>
            <a:pPr marL="0" indent="0">
              <a:buNone/>
            </a:pPr>
            <a:endParaRPr lang="en-US" sz="1400" dirty="0"/>
          </a:p>
          <a:p>
            <a:pPr marL="0" indent="0">
              <a:buNone/>
            </a:pPr>
            <a:r>
              <a:rPr lang="en-US" sz="1400" dirty="0">
                <a:solidFill>
                  <a:srgbClr val="666666"/>
                </a:solidFill>
              </a:rPr>
              <a:t>Valuation concerns: The valuation is not market-discovered.</a:t>
            </a:r>
            <a:endParaRPr lang="en-US" sz="1400" dirty="0"/>
          </a:p>
          <a:p>
            <a:pPr marL="0" indent="0">
              <a:buNone/>
            </a:pPr>
            <a:endParaRPr lang="en-US" sz="1400" dirty="0"/>
          </a:p>
          <a:p>
            <a:pPr marL="0" indent="0">
              <a:buNone/>
            </a:pPr>
            <a:r>
              <a:rPr lang="en-US" sz="1400" dirty="0">
                <a:solidFill>
                  <a:srgbClr val="666666"/>
                </a:solidFill>
              </a:rPr>
              <a:t>Limited transparency compared to a public issue.</a:t>
            </a:r>
            <a:endParaRPr lang="en-US" sz="1400" dirty="0"/>
          </a:p>
          <a:p>
            <a:pPr marL="0" indent="0">
              <a:buNone/>
            </a:pPr>
            <a:endParaRPr lang="en-US" sz="1400" dirty="0"/>
          </a:p>
          <a:p>
            <a:pPr marL="0" indent="0">
              <a:buNone/>
            </a:pPr>
            <a:r>
              <a:rPr lang="en-US" sz="1400" dirty="0">
                <a:solidFill>
                  <a:srgbClr val="666666"/>
                </a:solidFill>
              </a:rPr>
              <a:t>Post-Issue Work &amp; Obligations</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35</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After a public or rights issue is completed, the company and the intermediaries involved have several responsibilities and obligations to fulfil, governed by SEBI (ICDR) Regulations and Listing Obligations.</a:t>
            </a:r>
            <a:endParaRPr lang="en-US" sz="1400" dirty="0"/>
          </a:p>
          <a:p>
            <a:pPr marL="0" indent="0">
              <a:buNone/>
            </a:pPr>
            <a:endParaRPr lang="en-US" sz="1400" dirty="0"/>
          </a:p>
          <a:p>
            <a:pPr marL="0" indent="0">
              <a:buNone/>
            </a:pPr>
            <a:r>
              <a:rPr lang="en-US" sz="1400" dirty="0">
                <a:solidFill>
                  <a:srgbClr val="666666"/>
                </a:solidFill>
              </a:rPr>
              <a:t>Key Aspects of Post-Issue Management:</a:t>
            </a:r>
            <a:endParaRPr lang="en-US" sz="1400" dirty="0"/>
          </a:p>
          <a:p>
            <a:pPr marL="0" indent="0">
              <a:buNone/>
            </a:pPr>
            <a:endParaRPr lang="en-US" sz="1400" dirty="0"/>
          </a:p>
          <a:p>
            <a:pPr marL="0" indent="0">
              <a:buNone/>
            </a:pPr>
            <a:r>
              <a:rPr lang="en-US" sz="1400" dirty="0">
                <a:solidFill>
                  <a:srgbClr val="666666"/>
                </a:solidFill>
              </a:rPr>
              <a:t>Allotment Procedure and Basis of Allotment: </a:t>
            </a:r>
            <a:endParaRPr lang="en-US" sz="1400" dirty="0"/>
          </a:p>
          <a:p>
            <a:pPr marL="0" indent="0">
              <a:buNone/>
            </a:pPr>
            <a:endParaRPr lang="en-US" sz="1400" dirty="0"/>
          </a:p>
          <a:p>
            <a:pPr marL="0" indent="0">
              <a:buNone/>
            </a:pPr>
            <a:r>
              <a:rPr lang="en-US" sz="1400" dirty="0">
                <a:solidFill>
                  <a:srgbClr val="666666"/>
                </a:solidFill>
              </a:rPr>
              <a:t>The basis of allotment must be finalized in a fair and proper manner in consultation with the Designated Stock Exchange.</a:t>
            </a:r>
            <a:endParaRPr lang="en-US" sz="1400" dirty="0"/>
          </a:p>
          <a:p>
            <a:pPr marL="0" indent="0">
              <a:buNone/>
            </a:pPr>
            <a:endParaRPr lang="en-US" sz="1400" dirty="0"/>
          </a:p>
          <a:p>
            <a:pPr marL="0" indent="0">
              <a:buNone/>
            </a:pPr>
            <a:r>
              <a:rPr lang="en-US" sz="1400" dirty="0">
                <a:solidFill>
                  <a:srgbClr val="666666"/>
                </a:solidFill>
              </a:rPr>
              <a:t>Allotment is based on valid applications received and the demand across different investor categories.</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36</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The process must be completed within 6 working days of the issue closure (T+6).</a:t>
            </a:r>
            <a:endParaRPr lang="en-US" sz="1400" dirty="0"/>
          </a:p>
          <a:p>
            <a:pPr marL="0" indent="0">
              <a:buNone/>
            </a:pPr>
            <a:endParaRPr lang="en-US" sz="1400" dirty="0"/>
          </a:p>
          <a:p>
            <a:pPr marL="0" indent="0">
              <a:buNone/>
            </a:pPr>
            <a:r>
              <a:rPr lang="en-US" sz="1400" dirty="0">
                <a:solidFill>
                  <a:srgbClr val="666666"/>
                </a:solidFill>
              </a:rPr>
              <a:t>Allotment and credit of dematerialized securities should be done electronically.</a:t>
            </a:r>
            <a:endParaRPr lang="en-US" sz="1400" dirty="0"/>
          </a:p>
          <a:p>
            <a:pPr marL="0" indent="0">
              <a:buNone/>
            </a:pPr>
            <a:endParaRPr lang="en-US" sz="1400" dirty="0"/>
          </a:p>
          <a:p>
            <a:pPr marL="0" indent="0">
              <a:buNone/>
            </a:pPr>
            <a:r>
              <a:rPr lang="en-US" sz="1400" dirty="0">
                <a:solidFill>
                  <a:srgbClr val="666666"/>
                </a:solidFill>
              </a:rPr>
              <a:t>Refunds: </a:t>
            </a:r>
            <a:endParaRPr lang="en-US" sz="1400" dirty="0"/>
          </a:p>
          <a:p>
            <a:pPr marL="0" indent="0">
              <a:buNone/>
            </a:pPr>
            <a:endParaRPr lang="en-US" sz="1400" dirty="0"/>
          </a:p>
          <a:p>
            <a:pPr marL="0" indent="0">
              <a:buNone/>
            </a:pPr>
            <a:r>
              <a:rPr lang="en-US" sz="1400" dirty="0">
                <a:solidFill>
                  <a:srgbClr val="666666"/>
                </a:solidFill>
              </a:rPr>
              <a:t>Application money must be refunded or unblocked electronically within 6 working days of issue closure (T+6) if shares are not allotted or if the minimum subscription requirement is not met.</a:t>
            </a:r>
            <a:endParaRPr lang="en-US" sz="1400" dirty="0"/>
          </a:p>
          <a:p>
            <a:pPr marL="0" indent="0">
              <a:buNone/>
            </a:pPr>
            <a:endParaRPr lang="en-US" sz="1400" dirty="0"/>
          </a:p>
          <a:p>
            <a:pPr marL="0" indent="0">
              <a:buNone/>
            </a:pPr>
            <a:r>
              <a:rPr lang="en-US" sz="1400" dirty="0">
                <a:solidFill>
                  <a:srgbClr val="666666"/>
                </a:solidFill>
              </a:rPr>
              <a:t>If there is a delay in refunding or unblocking, the issuer must pay interest at the rate of 15% per annum to the investors from the stipulated period.</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37</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Refunds are typically processed via the Application Supported by Blocked Amount (ASBA) mechanism.</a:t>
            </a:r>
            <a:endParaRPr lang="en-US" sz="1400" dirty="0"/>
          </a:p>
          <a:p>
            <a:pPr marL="0" indent="0">
              <a:buNone/>
            </a:pPr>
            <a:endParaRPr lang="en-US" sz="1400" dirty="0"/>
          </a:p>
          <a:p>
            <a:pPr marL="0" indent="0">
              <a:buNone/>
            </a:pPr>
            <a:r>
              <a:rPr lang="en-US" sz="1400" dirty="0">
                <a:solidFill>
                  <a:srgbClr val="666666"/>
                </a:solidFill>
              </a:rPr>
              <a:t>Listing and Trading: </a:t>
            </a:r>
            <a:endParaRPr lang="en-US" sz="1400" dirty="0"/>
          </a:p>
          <a:p>
            <a:pPr marL="0" indent="0">
              <a:buNone/>
            </a:pPr>
            <a:endParaRPr lang="en-US" sz="1400" dirty="0"/>
          </a:p>
          <a:p>
            <a:pPr marL="0" indent="0">
              <a:buNone/>
            </a:pPr>
            <a:r>
              <a:rPr lang="en-US" sz="1400" dirty="0">
                <a:solidFill>
                  <a:srgbClr val="666666"/>
                </a:solidFill>
              </a:rPr>
              <a:t>The specified securities must be listed on a stock exchange to allow liquidity and trading.</a:t>
            </a:r>
            <a:endParaRPr lang="en-US" sz="1400" dirty="0"/>
          </a:p>
          <a:p>
            <a:pPr marL="0" indent="0">
              <a:buNone/>
            </a:pPr>
            <a:endParaRPr lang="en-US" sz="1400" dirty="0"/>
          </a:p>
          <a:p>
            <a:pPr marL="0" indent="0">
              <a:buNone/>
            </a:pPr>
            <a:r>
              <a:rPr lang="en-US" sz="1400" dirty="0">
                <a:solidFill>
                  <a:srgbClr val="666666"/>
                </a:solidFill>
              </a:rPr>
              <a:t>Shares must be credited to demat accounts within 6 days post issue.</a:t>
            </a:r>
            <a:endParaRPr lang="en-US" sz="1400" dirty="0"/>
          </a:p>
          <a:p>
            <a:pPr marL="0" indent="0">
              <a:buNone/>
            </a:pPr>
            <a:endParaRPr lang="en-US" sz="1400" dirty="0"/>
          </a:p>
          <a:p>
            <a:pPr marL="0" indent="0">
              <a:buNone/>
            </a:pPr>
            <a:r>
              <a:rPr lang="en-US" sz="1400" dirty="0">
                <a:solidFill>
                  <a:srgbClr val="666666"/>
                </a:solidFill>
              </a:rPr>
              <a:t>Monitoring Agency: </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38</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If the issue size (excluding offer for sale) exceeds one hundred crore rupees, the issuer must appoint a monitoring agency (e.g., a credit rating agency or public financial institution) to monitor the use of issue proceeds [80, 137, 173A].</a:t>
            </a:r>
            <a:endParaRPr lang="en-US" sz="1400" dirty="0"/>
          </a:p>
          <a:p>
            <a:pPr marL="0" indent="0">
              <a:buNone/>
            </a:pPr>
            <a:endParaRPr lang="en-US" sz="1400" dirty="0"/>
          </a:p>
          <a:p>
            <a:pPr marL="0" indent="0">
              <a:buNone/>
            </a:pPr>
            <a:r>
              <a:rPr lang="en-US" sz="1400" dirty="0">
                <a:solidFill>
                  <a:srgbClr val="666666"/>
                </a:solidFill>
              </a:rPr>
              <a:t>The monitoring agency submits reports on the utilization of funds, including any deviations from the stated objects.</a:t>
            </a:r>
            <a:endParaRPr lang="en-US" sz="1400" dirty="0"/>
          </a:p>
          <a:p>
            <a:pPr marL="0" indent="0">
              <a:buNone/>
            </a:pPr>
            <a:endParaRPr lang="en-US" sz="1400" dirty="0"/>
          </a:p>
          <a:p>
            <a:pPr marL="0" indent="0">
              <a:buNone/>
            </a:pPr>
            <a:r>
              <a:rPr lang="en-US" sz="1400" dirty="0">
                <a:solidFill>
                  <a:srgbClr val="666666"/>
                </a:solidFill>
              </a:rPr>
              <a:t>Post-Issue Reports and Compliance: </a:t>
            </a:r>
            <a:endParaRPr lang="en-US" sz="1400" dirty="0"/>
          </a:p>
          <a:p>
            <a:pPr marL="0" indent="0">
              <a:buNone/>
            </a:pPr>
            <a:endParaRPr lang="en-US" sz="1400" dirty="0"/>
          </a:p>
          <a:p>
            <a:pPr marL="0" indent="0">
              <a:buNone/>
            </a:pPr>
            <a:r>
              <a:rPr lang="en-US" sz="1400" dirty="0">
                <a:solidFill>
                  <a:srgbClr val="666666"/>
                </a:solidFill>
              </a:rPr>
              <a:t>Regular updates on the status of the issue (allotment, refund process) must be filed with SEBI.</a:t>
            </a:r>
            <a:endParaRPr lang="en-US" sz="1400" dirty="0"/>
          </a:p>
          <a:p>
            <a:pPr marL="0" indent="0">
              <a:buNone/>
            </a:pPr>
            <a:endParaRPr lang="en-US" sz="1400" dirty="0"/>
          </a:p>
          <a:p>
            <a:pPr marL="0" indent="0">
              <a:buNone/>
            </a:pPr>
            <a:r>
              <a:rPr lang="en-US" sz="1400" dirty="0">
                <a:solidFill>
                  <a:srgbClr val="666666"/>
                </a:solidFill>
              </a:rPr>
              <a:t>The lead manager(s) must ensure that an advertisement detailing subscription, basis of allotment, refunds, and listing application is released within ten days from the completion of these activities in specified newspapers.</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39</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The lead manager(s) responsibility continues until the completion of the issue process and for any issue-related matter thereafter.</a:t>
            </a:r>
            <a:endParaRPr lang="en-US" sz="1400" dirty="0"/>
          </a:p>
          <a:p>
            <a:pPr marL="0" indent="0">
              <a:buNone/>
            </a:pPr>
            <a:endParaRPr lang="en-US" sz="1400" dirty="0"/>
          </a:p>
          <a:p>
            <a:pPr marL="0" indent="0">
              <a:buNone/>
            </a:pPr>
            <a:r>
              <a:rPr lang="en-US" sz="1400" dirty="0">
                <a:solidFill>
                  <a:srgbClr val="666666"/>
                </a:solidFill>
              </a:rPr>
              <a:t>The lead manager(s) must confirm to bankers that all formalities are completed and funds can be released to the issuer or for refunds.</a:t>
            </a:r>
            <a:endParaRPr lang="en-US" sz="1400" dirty="0"/>
          </a:p>
          <a:p>
            <a:pPr marL="0" indent="0">
              <a:buNone/>
            </a:pPr>
            <a:endParaRPr lang="en-US" sz="1400" dirty="0"/>
          </a:p>
          <a:p>
            <a:pPr marL="0" indent="0">
              <a:buNone/>
            </a:pPr>
            <a:r>
              <a:rPr lang="en-US" sz="1400" dirty="0">
                <a:solidFill>
                  <a:srgbClr val="666666"/>
                </a:solidFill>
              </a:rPr>
              <a:t>In case of underwriting devolvement, the lead manager(s) ensures that the notice is issued within ten days of issue closure.</a:t>
            </a:r>
            <a:endParaRPr lang="en-US" sz="1400" dirty="0"/>
          </a:p>
          <a:p>
            <a:pPr marL="0" indent="0">
              <a:buNone/>
            </a:pPr>
            <a:endParaRPr lang="en-US" sz="1400" dirty="0"/>
          </a:p>
          <a:p>
            <a:pPr marL="0" indent="0">
              <a:buNone/>
            </a:pPr>
            <a:r>
              <a:rPr lang="en-US" sz="1400" dirty="0">
                <a:solidFill>
                  <a:srgbClr val="666666"/>
                </a:solidFill>
              </a:rPr>
              <a:t>For undersubscribed underwritten issues, the lead manager(s) must furnish information to SEBI about underwriters who failed to meet their obligations.</a:t>
            </a:r>
            <a:endParaRPr lang="en-US" sz="1400" dirty="0"/>
          </a:p>
          <a:p>
            <a:pPr marL="0" indent="0">
              <a:buNone/>
            </a:pPr>
            <a:endParaRPr lang="en-US" sz="1400" dirty="0"/>
          </a:p>
          <a:p>
            <a:pPr marL="0" indent="0">
              <a:buNone/>
            </a:pPr>
            <a:r>
              <a:rPr lang="en-US" sz="1400" dirty="0">
                <a:solidFill>
                  <a:srgbClr val="666666"/>
                </a:solidFill>
              </a:rPr>
              <a:t>Continuous Disclosure Post-Issue: </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40</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The company must continue to disclose relevant financial information, updates on corporate governance, and other material developments as per SEBI (Listing Obligations and Disclosure Requirements) Regulations, 2015.</a:t>
            </a:r>
            <a:endParaRPr lang="en-US" sz="1400" dirty="0"/>
          </a:p>
          <a:p>
            <a:pPr marL="0" indent="0">
              <a:buNone/>
            </a:pPr>
            <a:endParaRPr lang="en-US" sz="1400" dirty="0"/>
          </a:p>
          <a:p>
            <a:pPr marL="0" indent="0">
              <a:buNone/>
            </a:pPr>
            <a:r>
              <a:rPr lang="en-US" sz="1400" dirty="0">
                <a:solidFill>
                  <a:srgbClr val="666666"/>
                </a:solidFill>
              </a:rPr>
              <a:t>Quarterly financial statements and comprehensive annual reports are required.</a:t>
            </a:r>
            <a:endParaRPr lang="en-US" sz="1400" dirty="0"/>
          </a:p>
          <a:p>
            <a:pPr marL="0" indent="0">
              <a:buNone/>
            </a:pPr>
            <a:endParaRPr lang="en-US" sz="1400" dirty="0"/>
          </a:p>
          <a:p>
            <a:pPr marL="0" indent="0">
              <a:buNone/>
            </a:pPr>
            <a:r>
              <a:rPr lang="en-US" sz="1400" dirty="0">
                <a:solidFill>
                  <a:srgbClr val="666666"/>
                </a:solidFill>
              </a:rPr>
              <a:t>A quarterly and annual disclosure of the company’s shareholding pattern is required.</a:t>
            </a:r>
            <a:endParaRPr lang="en-US" sz="1400" dirty="0"/>
          </a:p>
          <a:p>
            <a:pPr marL="0" indent="0">
              <a:buNone/>
            </a:pPr>
            <a:endParaRPr lang="en-US" sz="1400" dirty="0"/>
          </a:p>
          <a:p>
            <a:pPr marL="0" indent="0">
              <a:buNone/>
            </a:pPr>
            <a:r>
              <a:rPr lang="en-US" sz="1400" dirty="0">
                <a:solidFill>
                  <a:srgbClr val="666666"/>
                </a:solidFill>
              </a:rPr>
              <a:t>Green Shoe Option (GSO)</a:t>
            </a:r>
            <a:endParaRPr lang="en-US" sz="1400" dirty="0"/>
          </a:p>
          <a:p>
            <a:pPr marL="0" indent="0">
              <a:buNone/>
            </a:pPr>
            <a:endParaRPr lang="en-US" sz="1400" dirty="0"/>
          </a:p>
          <a:p>
            <a:pPr marL="0" indent="0">
              <a:buNone/>
            </a:pPr>
            <a:r>
              <a:rPr lang="en-US" sz="1400" dirty="0">
                <a:solidFill>
                  <a:srgbClr val="666666"/>
                </a:solidFill>
              </a:rPr>
              <a:t>The Green Shoe Option is a stabilization mechanism where the company allows underwriters to sell up to 15% extra shares during an IPO to cover over-subscription and manage post-listing price volatility.</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41</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Named after Green Shoe Manufacturing Co., the first company to use this option in the U.S.</a:t>
            </a:r>
            <a:endParaRPr lang="en-US" sz="1400" dirty="0"/>
          </a:p>
          <a:p>
            <a:pPr marL="0" indent="0">
              <a:buNone/>
            </a:pPr>
            <a:endParaRPr lang="en-US" sz="1400" dirty="0"/>
          </a:p>
          <a:p>
            <a:pPr marL="0" indent="0">
              <a:buNone/>
            </a:pPr>
            <a:r>
              <a:rPr lang="en-US" sz="1400" dirty="0">
                <a:solidFill>
                  <a:srgbClr val="666666"/>
                </a:solidFill>
              </a:rPr>
              <a:t>Purpose and Benefits</a:t>
            </a:r>
            <a:endParaRPr lang="en-US" sz="1400" dirty="0"/>
          </a:p>
          <a:p>
            <a:pPr marL="0" indent="0">
              <a:buNone/>
            </a:pPr>
            <a:endParaRPr lang="en-US" sz="1400" dirty="0"/>
          </a:p>
          <a:p>
            <a:pPr marL="0" indent="0">
              <a:buNone/>
            </a:pPr>
            <a:r>
              <a:rPr lang="en-US" sz="1400" dirty="0">
                <a:solidFill>
                  <a:srgbClr val="666666"/>
                </a:solidFill>
              </a:rPr>
              <a:t>Stabilizes post-listing price of specified securities.</a:t>
            </a:r>
            <a:endParaRPr lang="en-US" sz="1400" dirty="0"/>
          </a:p>
          <a:p>
            <a:pPr marL="0" indent="0">
              <a:buNone/>
            </a:pPr>
            <a:endParaRPr lang="en-US" sz="1400" dirty="0"/>
          </a:p>
          <a:p>
            <a:pPr marL="0" indent="0">
              <a:buNone/>
            </a:pPr>
            <a:r>
              <a:rPr lang="en-US" sz="1400" dirty="0">
                <a:solidFill>
                  <a:srgbClr val="666666"/>
                </a:solidFill>
              </a:rPr>
              <a:t>Provides liquidity support in the secondary market.</a:t>
            </a:r>
            <a:endParaRPr lang="en-US" sz="1400" dirty="0"/>
          </a:p>
          <a:p>
            <a:pPr marL="0" indent="0">
              <a:buNone/>
            </a:pPr>
            <a:endParaRPr lang="en-US" sz="1400" dirty="0"/>
          </a:p>
          <a:p>
            <a:pPr marL="0" indent="0">
              <a:buNone/>
            </a:pPr>
            <a:r>
              <a:rPr lang="en-US" sz="1400" dirty="0">
                <a:solidFill>
                  <a:srgbClr val="666666"/>
                </a:solidFill>
              </a:rPr>
              <a:t>Prevents the share price from falling below the issue price.</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42</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Enhances investor confidence post-listing.</a:t>
            </a:r>
            <a:endParaRPr lang="en-US" sz="1400" dirty="0"/>
          </a:p>
          <a:p>
            <a:pPr marL="0" indent="0">
              <a:buNone/>
            </a:pPr>
            <a:endParaRPr lang="en-US" sz="1400" dirty="0"/>
          </a:p>
          <a:p>
            <a:pPr marL="0" indent="0">
              <a:buNone/>
            </a:pPr>
            <a:r>
              <a:rPr lang="en-US" sz="1400" dirty="0">
                <a:solidFill>
                  <a:srgbClr val="666666"/>
                </a:solidFill>
              </a:rPr>
              <a:t>How it Works</a:t>
            </a:r>
            <a:endParaRPr lang="en-US" sz="1400" dirty="0"/>
          </a:p>
          <a:p>
            <a:pPr marL="0" indent="0">
              <a:buNone/>
            </a:pPr>
            <a:endParaRPr lang="en-US" sz="1400" dirty="0"/>
          </a:p>
          <a:p>
            <a:pPr marL="0" indent="0">
              <a:buNone/>
            </a:pPr>
            <a:r>
              <a:rPr lang="en-US" sz="1400" dirty="0">
                <a:solidFill>
                  <a:srgbClr val="666666"/>
                </a:solidFill>
              </a:rPr>
              <a:t>Over-Allotment: Underwriters are allowed to issue 15% more shares than originally offered.</a:t>
            </a:r>
            <a:endParaRPr lang="en-US" sz="1400" dirty="0"/>
          </a:p>
          <a:p>
            <a:pPr marL="0" indent="0">
              <a:buNone/>
            </a:pPr>
            <a:endParaRPr lang="en-US" sz="1400" dirty="0"/>
          </a:p>
          <a:p>
            <a:pPr marL="0" indent="0">
              <a:buNone/>
            </a:pPr>
            <a:r>
              <a:rPr lang="en-US" sz="1400" dirty="0">
                <a:solidFill>
                  <a:srgbClr val="666666"/>
                </a:solidFill>
              </a:rPr>
              <a:t>Price Stabilization Period: The stabilization process is typically available for a period not exceeding thirty days from the date trading permission is given by the stock exchanges for the allotted securities.</a:t>
            </a:r>
            <a:endParaRPr lang="en-US" sz="1400" dirty="0"/>
          </a:p>
          <a:p>
            <a:pPr marL="0" indent="0">
              <a:buNone/>
            </a:pPr>
            <a:endParaRPr lang="en-US" sz="1400" dirty="0"/>
          </a:p>
          <a:p>
            <a:pPr marL="0" indent="0">
              <a:buNone/>
            </a:pPr>
            <a:r>
              <a:rPr lang="en-US" sz="1400" dirty="0">
                <a:solidFill>
                  <a:srgbClr val="666666"/>
                </a:solidFill>
              </a:rPr>
              <a:t>Stabilizing Agent: The issuer appoints a lead manager as a stabilizing agent, who is responsible for the price stabilization process.</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43</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Agreement: Prior to filing the draft offer document, the issuer and the stabilizing agent must enter into an agreement detailing the terms and conditions, including fees and expenses.</a:t>
            </a:r>
            <a:endParaRPr lang="en-US" sz="1400" dirty="0"/>
          </a:p>
          <a:p>
            <a:pPr marL="0" indent="0">
              <a:buNone/>
            </a:pPr>
            <a:endParaRPr lang="en-US" sz="1400" dirty="0"/>
          </a:p>
          <a:p>
            <a:pPr marL="0" indent="0">
              <a:buNone/>
            </a:pPr>
            <a:r>
              <a:rPr lang="en-US" sz="1400" dirty="0">
                <a:solidFill>
                  <a:srgbClr val="666666"/>
                </a:solidFill>
              </a:rPr>
              <a:t>Borrowing Shares: Before filing the offer document, the stabilizing agent enters into an agreement with promoters or pre-issue shareholders (or both) to borrow specified securities for the purpose of over-allotment, not exceeding 15% of the issue size. </a:t>
            </a:r>
            <a:endParaRPr lang="en-US" sz="1400" dirty="0"/>
          </a:p>
          <a:p>
            <a:pPr marL="0" indent="0">
              <a:buNone/>
            </a:pPr>
            <a:endParaRPr lang="en-US" sz="1400" dirty="0"/>
          </a:p>
          <a:p>
            <a:pPr marL="0" indent="0">
              <a:buNone/>
            </a:pPr>
            <a:r>
              <a:rPr lang="en-US" sz="1400" dirty="0">
                <a:solidFill>
                  <a:srgbClr val="666666"/>
                </a:solidFill>
              </a:rPr>
              <a:t>In an initial public offer, pre-issue shareholders and promoters may lend securities.</a:t>
            </a:r>
            <a:endParaRPr lang="en-US" sz="1400" dirty="0"/>
          </a:p>
          <a:p>
            <a:pPr marL="0" indent="0">
              <a:buNone/>
            </a:pPr>
            <a:endParaRPr lang="en-US" sz="1400" dirty="0"/>
          </a:p>
          <a:p>
            <a:pPr marL="0" indent="0">
              <a:buNone/>
            </a:pPr>
            <a:r>
              <a:rPr lang="en-US" sz="1400" dirty="0">
                <a:solidFill>
                  <a:srgbClr val="666666"/>
                </a:solidFill>
              </a:rPr>
              <a:t>In a further public offer, pre-issue shareholders holding more than five percent of specified securities and promoters may lend securities.</a:t>
            </a:r>
            <a:endParaRPr lang="en-US" sz="1400" dirty="0"/>
          </a:p>
          <a:p>
            <a:pPr marL="0" indent="0">
              <a:buNone/>
            </a:pPr>
            <a:endParaRPr lang="en-US" sz="1400" dirty="0"/>
          </a:p>
          <a:p>
            <a:pPr marL="0" indent="0">
              <a:buNone/>
            </a:pPr>
            <a:r>
              <a:rPr lang="en-US" sz="1400" dirty="0">
                <a:solidFill>
                  <a:srgbClr val="666666"/>
                </a:solidFill>
              </a:rPr>
              <a:t>Dematerialized Form: The borrowed specified securities must be in dematerialized form, and their allocation is made pro-rata to all successful applicants.</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44</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Special Accounts: The stabilizing agent opens a special bank account (distinct from the issue account) for monies from over-allotment and a special depository participant account for securities bought from the market during stabilization.</a:t>
            </a:r>
            <a:endParaRPr lang="en-US" sz="1400" dirty="0"/>
          </a:p>
          <a:p>
            <a:pPr marL="0" indent="0">
              <a:buNone/>
            </a:pPr>
            <a:endParaRPr lang="en-US" sz="1400" dirty="0"/>
          </a:p>
          <a:p>
            <a:pPr marL="0" indent="0">
              <a:buNone/>
            </a:pPr>
            <a:r>
              <a:rPr lang="en-US" sz="1400" dirty="0">
                <a:solidFill>
                  <a:srgbClr val="666666"/>
                </a:solidFill>
              </a:rPr>
              <a:t>Market Purchases: The stabilizing agent determines when, how many, and at what price to buy securities from the market to stabilize post-listing price.</a:t>
            </a:r>
            <a:endParaRPr lang="en-US" sz="1400" dirty="0"/>
          </a:p>
          <a:p>
            <a:pPr marL="0" indent="0">
              <a:buNone/>
            </a:pPr>
            <a:endParaRPr lang="en-US" sz="1400" dirty="0"/>
          </a:p>
          <a:p>
            <a:pPr marL="0" indent="0">
              <a:buNone/>
            </a:pPr>
            <a:r>
              <a:rPr lang="en-US" sz="1400" dirty="0">
                <a:solidFill>
                  <a:srgbClr val="666666"/>
                </a:solidFill>
              </a:rPr>
              <a:t>Returning Shares: Securities bought from the market are returned to the promoters or pre-issue shareholders usually within two working days after the stabilization period ends.</a:t>
            </a:r>
            <a:endParaRPr lang="en-US" sz="1400" dirty="0"/>
          </a:p>
          <a:p>
            <a:pPr marL="0" indent="0">
              <a:buNone/>
            </a:pPr>
            <a:endParaRPr lang="en-US" sz="1400" dirty="0"/>
          </a:p>
          <a:p>
            <a:pPr marL="0" indent="0">
              <a:buNone/>
            </a:pPr>
            <a:r>
              <a:rPr lang="en-US" sz="1400" dirty="0">
                <a:solidFill>
                  <a:srgbClr val="666666"/>
                </a:solidFill>
              </a:rPr>
              <a:t>Shortfall Allotment: If the stabilizing agent cannot buy enough securities from the market, the issuer may allot further specified securities at the issue price in dematerialized form to cover the shortfall. These are then returned to the promoters or pre-issue shareholders in place of the borrowed securities.</a:t>
            </a:r>
            <a:endParaRPr lang="en-US" sz="1400" dirty="0"/>
          </a:p>
          <a:p>
            <a:pPr marL="0" indent="0">
              <a:buNone/>
            </a:pPr>
            <a:endParaRPr lang="en-US" sz="1400" dirty="0"/>
          </a:p>
          <a:p>
            <a:pPr marL="0" indent="0">
              <a:buNone/>
            </a:pPr>
            <a:r>
              <a:rPr lang="en-US" sz="1400" dirty="0">
                <a:solidFill>
                  <a:srgbClr val="666666"/>
                </a:solidFill>
              </a:rPr>
              <a:t>Lock-in Exemption: The usual lock-in provisions do not apply to securities lent to the stabilizing agent for the green shoe option during the lending period, but they are locked-in for the remaining period once returned to the lender.</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45</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The draft offer document and offer document must contain all material disclosures about the green shoe option, as specified in Part A of Schedule VI.</a:t>
            </a:r>
            <a:endParaRPr lang="en-US" sz="1400" dirty="0"/>
          </a:p>
          <a:p>
            <a:pPr marL="0" indent="0">
              <a:buNone/>
            </a:pPr>
            <a:endParaRPr lang="en-US" sz="1400" dirty="0"/>
          </a:p>
          <a:p>
            <a:pPr marL="0" indent="0">
              <a:buNone/>
            </a:pPr>
            <a:r>
              <a:rPr lang="en-US" sz="1400" dirty="0">
                <a:solidFill>
                  <a:srgbClr val="666666"/>
                </a:solidFill>
              </a:rPr>
              <a:t>Example</a:t>
            </a:r>
            <a:endParaRPr lang="en-US" sz="1400" dirty="0"/>
          </a:p>
          <a:p>
            <a:pPr marL="0" indent="0">
              <a:buNone/>
            </a:pPr>
            <a:endParaRPr lang="en-US" sz="1400" dirty="0"/>
          </a:p>
          <a:p>
            <a:pPr marL="0" indent="0">
              <a:buNone/>
            </a:pPr>
            <a:r>
              <a:rPr lang="en-US" sz="1400" dirty="0">
                <a:solidFill>
                  <a:srgbClr val="666666"/>
                </a:solidFill>
              </a:rPr>
              <a:t>If an IPO has an issue size of ₹1,000 crore, underwriters might be allowed to allot ₹1,150 crore worth of shares. The excess ₹150 crore helps manage supply-demand after listing. The Green Shoe Option (GSO) is a stabilization mechanism used in public offerings, such as Initial Public Offerings (IPOs) and Further Public Offers (FPOs), to help stabilize the post-listing price of specified securities. It allows underwriters to sell up to 15% extra shares beyond the original issue size to cover over-subscription and manage price volatility after the shares begin trading.</a:t>
            </a:r>
            <a:endParaRPr lang="en-US" sz="1400" dirty="0"/>
          </a:p>
          <a:p>
            <a:pPr marL="0" indent="0">
              <a:buNone/>
            </a:pPr>
            <a:endParaRPr lang="en-US" sz="1400" dirty="0"/>
          </a:p>
          <a:p>
            <a:pPr marL="0" indent="0">
              <a:buNone/>
            </a:pPr>
            <a:r>
              <a:rPr lang="en-US" sz="1400" dirty="0">
                <a:solidFill>
                  <a:srgbClr val="666666"/>
                </a:solidFill>
              </a:rPr>
              <a:t>Investor Protection</a:t>
            </a:r>
            <a:endParaRPr lang="en-US" sz="1400" dirty="0"/>
          </a:p>
          <a:p>
            <a:pPr marL="0" indent="0">
              <a:buNone/>
            </a:pPr>
            <a:endParaRPr lang="en-US" sz="1400" dirty="0"/>
          </a:p>
          <a:p>
            <a:pPr marL="0" indent="0">
              <a:buNone/>
            </a:pPr>
            <a:r>
              <a:rPr lang="en-US" sz="1400" dirty="0">
                <a:solidFill>
                  <a:srgbClr val="666666"/>
                </a:solidFill>
              </a:rPr>
              <a:t>SEBI's primary objective in capital issue management is to protect the interests of investors through regulations and guidelines, establishing transparency in market dealings.</a:t>
            </a:r>
            <a:endParaRPr lang="en-US" sz="1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46</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Key Mechanisms for Investor Protection:</a:t>
            </a:r>
            <a:endParaRPr lang="en-US" sz="1400" dirty="0"/>
          </a:p>
          <a:p>
            <a:pPr marL="0" indent="0">
              <a:buNone/>
            </a:pPr>
            <a:endParaRPr lang="en-US" sz="1400" dirty="0"/>
          </a:p>
          <a:p>
            <a:pPr marL="0" indent="0">
              <a:buNone/>
            </a:pPr>
            <a:r>
              <a:rPr lang="en-US" sz="1400" dirty="0">
                <a:solidFill>
                  <a:srgbClr val="666666"/>
                </a:solidFill>
              </a:rPr>
              <a:t>Disclosure Requirements: SEBI mandates full and accurate disclosure of all material information in the offer document (prospectus), including financial statements, risk factors (market, regulatory, financial, operational, etc.), business model, and promoter/management profiles.</a:t>
            </a:r>
            <a:endParaRPr lang="en-US" sz="1400" dirty="0"/>
          </a:p>
          <a:p>
            <a:pPr marL="0" indent="0">
              <a:buNone/>
            </a:pPr>
            <a:endParaRPr lang="en-US" sz="1400" dirty="0"/>
          </a:p>
          <a:p>
            <a:pPr marL="0" indent="0">
              <a:buNone/>
            </a:pPr>
            <a:r>
              <a:rPr lang="en-US" sz="1400" dirty="0">
                <a:solidFill>
                  <a:srgbClr val="666666"/>
                </a:solidFill>
              </a:rPr>
              <a:t>Fair Pricing: SEBI ensures that pricing is not arbitrary and is based on a fair valuation process. For IPOs, the company must disclose the method of pricing (book-building or fixed price).</a:t>
            </a:r>
            <a:endParaRPr lang="en-US" sz="1400" dirty="0"/>
          </a:p>
          <a:p>
            <a:pPr marL="0" indent="0">
              <a:buNone/>
            </a:pPr>
            <a:endParaRPr lang="en-US" sz="1400" dirty="0"/>
          </a:p>
          <a:p>
            <a:pPr marL="0" indent="0">
              <a:buNone/>
            </a:pPr>
            <a:r>
              <a:rPr lang="en-US" sz="1400" dirty="0">
                <a:solidFill>
                  <a:srgbClr val="666666"/>
                </a:solidFill>
              </a:rPr>
              <a:t>Underwriting Regulation: SEBI sets conditions for underwriters to ensure they are financially capable of taking up any unsold portion of the securities issue, thereby guaranteeing full subscription and reducing issuer risk.</a:t>
            </a:r>
            <a:endParaRPr lang="en-US" sz="1400" dirty="0"/>
          </a:p>
          <a:p>
            <a:pPr marL="0" indent="0">
              <a:buNone/>
            </a:pPr>
            <a:endParaRPr lang="en-US" sz="1400" dirty="0"/>
          </a:p>
          <a:p>
            <a:pPr marL="0" indent="0">
              <a:buNone/>
            </a:pPr>
            <a:r>
              <a:rPr lang="en-US" sz="1400" dirty="0">
                <a:solidFill>
                  <a:srgbClr val="666666"/>
                </a:solidFill>
              </a:rPr>
              <a:t>Allotment Guidelines: SEBI specifies detailed guidelines for the allotment process to ensure fair and proportionate distribution of securities to different investor categories (QIBs, RIIs, NIIs). Allotment must be completed within a strict timeline (T+6).</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47</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Refund Timelines and Penalties: Strict timelines are set for refunds of application money if shares are not allotted or minimum subscription is not met, with a penalty interest rate of 15% per annum for delays.</a:t>
            </a:r>
            <a:endParaRPr lang="en-US" sz="1400" dirty="0"/>
          </a:p>
          <a:p>
            <a:pPr marL="0" indent="0">
              <a:buNone/>
            </a:pPr>
            <a:endParaRPr lang="en-US" sz="1400" dirty="0"/>
          </a:p>
          <a:p>
            <a:pPr marL="0" indent="0">
              <a:buNone/>
            </a:pPr>
            <a:r>
              <a:rPr lang="en-US" sz="1400" dirty="0">
                <a:solidFill>
                  <a:srgbClr val="666666"/>
                </a:solidFill>
              </a:rPr>
              <a:t>Application Supported by Blocked Amount (ASBA): The ASBA facility is mandatory for accepting bids in public issues, where application money remains blocked in the investor's bank account until allotment, ensuring safety and electronic refunds.</a:t>
            </a:r>
            <a:endParaRPr lang="en-US" sz="1400" dirty="0"/>
          </a:p>
          <a:p>
            <a:pPr marL="0" indent="0">
              <a:buNone/>
            </a:pPr>
            <a:endParaRPr lang="en-US" sz="1400" dirty="0"/>
          </a:p>
          <a:p>
            <a:pPr marL="0" indent="0">
              <a:buNone/>
            </a:pPr>
            <a:r>
              <a:rPr lang="en-US" sz="1400" dirty="0">
                <a:solidFill>
                  <a:srgbClr val="666666"/>
                </a:solidFill>
              </a:rPr>
              <a:t>Demat Account Mandate: Securities are allotted only in dematerialized form, reducing risks associated with physical certificates like loss, theft, or forgery, and facilitating faster settlements.</a:t>
            </a:r>
            <a:endParaRPr lang="en-US" sz="1400" dirty="0"/>
          </a:p>
          <a:p>
            <a:pPr marL="0" indent="0">
              <a:buNone/>
            </a:pPr>
            <a:endParaRPr lang="en-US" sz="1400" dirty="0"/>
          </a:p>
          <a:p>
            <a:pPr marL="0" indent="0">
              <a:buNone/>
            </a:pPr>
            <a:r>
              <a:rPr lang="en-US" sz="1400" dirty="0">
                <a:solidFill>
                  <a:srgbClr val="666666"/>
                </a:solidFill>
              </a:rPr>
              <a:t>Restrictions on Public Advertisements (for private placements): To prevent general public solicitation, companies undertaking private placements are prohibited from public advertisements or using general media/marketing channels.</a:t>
            </a:r>
            <a:endParaRPr lang="en-US" sz="1400" dirty="0"/>
          </a:p>
          <a:p>
            <a:pPr marL="0" indent="0">
              <a:buNone/>
            </a:pPr>
            <a:endParaRPr lang="en-US" sz="1400" dirty="0"/>
          </a:p>
          <a:p>
            <a:pPr marL="0" indent="0">
              <a:buNone/>
            </a:pPr>
            <a:r>
              <a:rPr lang="en-US" sz="1400" dirty="0">
                <a:solidFill>
                  <a:srgbClr val="666666"/>
                </a:solidFill>
              </a:rPr>
              <a:t>Due Diligence: Lead managers and other intermediaries are required to exercise due diligence to ensure the veracity and adequacy of disclosures in the offer documents.</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48</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Lock-in Periods: Promoters' contributions and pre-issue capital are subject to lock-in periods to ensure their continued commitment to the company post-issue.</a:t>
            </a:r>
            <a:endParaRPr lang="en-US" sz="1400" dirty="0"/>
          </a:p>
          <a:p>
            <a:pPr marL="0" indent="0">
              <a:buNone/>
            </a:pPr>
            <a:endParaRPr lang="en-US" sz="1400" dirty="0"/>
          </a:p>
          <a:p>
            <a:pPr marL="0" indent="0">
              <a:buNone/>
            </a:pPr>
            <a:r>
              <a:rPr lang="en-US" sz="1400" dirty="0">
                <a:solidFill>
                  <a:srgbClr val="666666"/>
                </a:solidFill>
              </a:rPr>
              <a:t>Broker, Sub-Broker, and Underwriters</a:t>
            </a:r>
            <a:endParaRPr lang="en-US" sz="1400" dirty="0"/>
          </a:p>
          <a:p>
            <a:pPr marL="0" indent="0">
              <a:buNone/>
            </a:pPr>
            <a:endParaRPr lang="en-US" sz="1400" dirty="0"/>
          </a:p>
          <a:p>
            <a:pPr marL="0" indent="0">
              <a:buNone/>
            </a:pPr>
            <a:r>
              <a:rPr lang="en-US" sz="1400" dirty="0">
                <a:solidFill>
                  <a:srgbClr val="666666"/>
                </a:solidFill>
              </a:rPr>
              <a:t>These are key intermediaries involved in the capital issuance process, each with distinct roles.</a:t>
            </a:r>
            <a:endParaRPr lang="en-US" sz="1400" dirty="0"/>
          </a:p>
          <a:p>
            <a:pPr marL="0" indent="0">
              <a:buNone/>
            </a:pPr>
            <a:endParaRPr lang="en-US" sz="1400" dirty="0"/>
          </a:p>
          <a:p>
            <a:pPr marL="0" indent="0">
              <a:buNone/>
            </a:pPr>
            <a:r>
              <a:rPr lang="en-US" sz="1400" dirty="0">
                <a:solidFill>
                  <a:srgbClr val="666666"/>
                </a:solidFill>
              </a:rPr>
              <a:t>Broker:</a:t>
            </a:r>
            <a:endParaRPr lang="en-US" sz="1400" dirty="0"/>
          </a:p>
          <a:p>
            <a:pPr marL="0" indent="0">
              <a:buNone/>
            </a:pPr>
            <a:endParaRPr lang="en-US" sz="1400" dirty="0"/>
          </a:p>
          <a:p>
            <a:pPr marL="0" indent="0">
              <a:buNone/>
            </a:pPr>
            <a:r>
              <a:rPr lang="en-US" sz="1400" dirty="0">
                <a:solidFill>
                  <a:srgbClr val="666666"/>
                </a:solidFill>
              </a:rPr>
              <a:t>A broker is a SEBI-registered entity that facilitates the trading of securities on stock exchanges. Investors place their buy or sell orders through brokers.</a:t>
            </a:r>
            <a:endParaRPr 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49</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Sub-Broker / Authorised Person (AP):</a:t>
            </a:r>
            <a:endParaRPr lang="en-US" sz="1400" dirty="0"/>
          </a:p>
          <a:p>
            <a:pPr marL="0" indent="0">
              <a:buNone/>
            </a:pPr>
            <a:endParaRPr lang="en-US" sz="1400" dirty="0"/>
          </a:p>
          <a:p>
            <a:pPr marL="0" indent="0">
              <a:buNone/>
            </a:pPr>
            <a:r>
              <a:rPr lang="en-US" sz="1400" dirty="0">
                <a:solidFill>
                  <a:srgbClr val="666666"/>
                </a:solidFill>
              </a:rPr>
              <a:t>A sub-broker (or Authorised Person) acts as an agent of a broker.</a:t>
            </a:r>
            <a:endParaRPr lang="en-US" sz="1400" dirty="0"/>
          </a:p>
          <a:p>
            <a:pPr marL="0" indent="0">
              <a:buNone/>
            </a:pPr>
            <a:endParaRPr lang="en-US" sz="1400" dirty="0"/>
          </a:p>
          <a:p>
            <a:pPr marL="0" indent="0">
              <a:buNone/>
            </a:pPr>
            <a:r>
              <a:rPr lang="en-US" sz="1400" dirty="0">
                <a:solidFill>
                  <a:srgbClr val="666666"/>
                </a:solidFill>
              </a:rPr>
              <a:t>Their primary role is to connect retail investors to the main broker.</a:t>
            </a:r>
            <a:endParaRPr lang="en-US" sz="1400" dirty="0"/>
          </a:p>
          <a:p>
            <a:pPr marL="0" indent="0">
              <a:buNone/>
            </a:pPr>
            <a:endParaRPr lang="en-US" sz="1400" dirty="0"/>
          </a:p>
          <a:p>
            <a:pPr marL="0" indent="0">
              <a:buNone/>
            </a:pPr>
            <a:r>
              <a:rPr lang="en-US" sz="1400" dirty="0">
                <a:solidFill>
                  <a:srgbClr val="666666"/>
                </a:solidFill>
              </a:rPr>
              <a:t>They help reach underserved investors, collect Know Your Customer (KYC) details, and forward orders to the main broker.</a:t>
            </a:r>
            <a:endParaRPr lang="en-US" sz="1400" dirty="0"/>
          </a:p>
          <a:p>
            <a:pPr marL="0" indent="0">
              <a:buNone/>
            </a:pPr>
            <a:endParaRPr lang="en-US" sz="1400" dirty="0"/>
          </a:p>
          <a:p>
            <a:pPr marL="0" indent="0">
              <a:buNone/>
            </a:pPr>
            <a:r>
              <a:rPr lang="en-US" sz="1400" dirty="0">
                <a:solidFill>
                  <a:srgbClr val="666666"/>
                </a:solidFill>
              </a:rPr>
              <a:t>Sub-brokers cannot operate independently but work under the umbrella of a larger broking firm.</a:t>
            </a:r>
            <a:endParaRPr lang="en-US" sz="1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50</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Underwriters:</a:t>
            </a:r>
            <a:endParaRPr lang="en-US" sz="1400" dirty="0"/>
          </a:p>
          <a:p>
            <a:pPr marL="0" indent="0">
              <a:buNone/>
            </a:pPr>
            <a:endParaRPr lang="en-US" sz="1400" dirty="0"/>
          </a:p>
          <a:p>
            <a:pPr marL="0" indent="0">
              <a:buNone/>
            </a:pPr>
            <a:r>
              <a:rPr lang="en-US" sz="1400" dirty="0">
                <a:solidFill>
                  <a:srgbClr val="666666"/>
                </a:solidFill>
              </a:rPr>
              <a:t>Underwriters are entities that guarantee to subscribe to any shortfall in a public issue. They provide issue assurance and reduce the risk for the issuer.</a:t>
            </a:r>
            <a:endParaRPr lang="en-US" sz="1400" dirty="0"/>
          </a:p>
          <a:p>
            <a:pPr marL="0" indent="0">
              <a:buNone/>
            </a:pPr>
            <a:endParaRPr lang="en-US" sz="1400" dirty="0"/>
          </a:p>
          <a:p>
            <a:pPr marL="0" indent="0">
              <a:buNone/>
            </a:pPr>
            <a:r>
              <a:rPr lang="en-US" sz="1400" dirty="0">
                <a:solidFill>
                  <a:srgbClr val="666666"/>
                </a:solidFill>
              </a:rPr>
              <a:t>They must be registered under SEBI (Underwriters) Regulations, 1993.</a:t>
            </a:r>
            <a:endParaRPr lang="en-US" sz="1400" dirty="0"/>
          </a:p>
          <a:p>
            <a:pPr marL="0" indent="0">
              <a:buNone/>
            </a:pPr>
            <a:endParaRPr lang="en-US" sz="1400" dirty="0"/>
          </a:p>
          <a:p>
            <a:pPr marL="0" indent="0">
              <a:buNone/>
            </a:pPr>
            <a:r>
              <a:rPr lang="en-US" sz="1400" dirty="0">
                <a:solidFill>
                  <a:srgbClr val="666666"/>
                </a:solidFill>
              </a:rPr>
              <a:t>Key Functions and Obligations: </a:t>
            </a:r>
            <a:endParaRPr lang="en-US" sz="1400" dirty="0"/>
          </a:p>
          <a:p>
            <a:pPr marL="0" indent="0">
              <a:buNone/>
            </a:pPr>
            <a:endParaRPr lang="en-US" sz="1400" dirty="0"/>
          </a:p>
          <a:p>
            <a:pPr marL="0" indent="0">
              <a:buNone/>
            </a:pPr>
            <a:r>
              <a:rPr lang="en-US" sz="1400" dirty="0">
                <a:solidFill>
                  <a:srgbClr val="666666"/>
                </a:solidFill>
              </a:rPr>
              <a:t>Assess demand and risk of the issue.</a:t>
            </a:r>
            <a:endParaRPr lang="en-US" sz="1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51</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Enter into an underwriting agreement with the issuer prior to filing the prospectus, indicating the maximum number of securities they will subscribe to at a predetermined price not less than the issue price.</a:t>
            </a:r>
            <a:endParaRPr lang="en-US" sz="1400" dirty="0"/>
          </a:p>
          <a:p>
            <a:pPr marL="0" indent="0">
              <a:buNone/>
            </a:pPr>
            <a:endParaRPr lang="en-US" sz="1400" dirty="0"/>
          </a:p>
          <a:p>
            <a:pPr marL="0" indent="0">
              <a:buNone/>
            </a:pPr>
            <a:r>
              <a:rPr lang="en-US" sz="1400" dirty="0">
                <a:solidFill>
                  <a:srgbClr val="666666"/>
                </a:solidFill>
              </a:rPr>
              <a:t>In a book-built issue, the lead manager(s) compulsorily underwrite the issue, and syndicate member(s) sub-underwrite with the lead manager(s).</a:t>
            </a:r>
            <a:endParaRPr lang="en-US" sz="1400" dirty="0"/>
          </a:p>
          <a:p>
            <a:pPr marL="0" indent="0">
              <a:buNone/>
            </a:pPr>
            <a:endParaRPr lang="en-US" sz="1400" dirty="0"/>
          </a:p>
          <a:p>
            <a:pPr marL="0" indent="0">
              <a:buNone/>
            </a:pPr>
            <a:r>
              <a:rPr lang="en-US" sz="1400" dirty="0">
                <a:solidFill>
                  <a:srgbClr val="666666"/>
                </a:solidFill>
              </a:rPr>
              <a:t>A significant portion of the Qualified Institutional Buyer (QIB) allocation (at least 75% for certain issues) cannot be underwritten.</a:t>
            </a:r>
            <a:endParaRPr lang="en-US" sz="1400" dirty="0"/>
          </a:p>
          <a:p>
            <a:pPr marL="0" indent="0">
              <a:buNone/>
            </a:pPr>
            <a:endParaRPr lang="en-US" sz="1400" dirty="0"/>
          </a:p>
          <a:p>
            <a:pPr marL="0" indent="0">
              <a:buNone/>
            </a:pPr>
            <a:r>
              <a:rPr lang="en-US" sz="1400" dirty="0">
                <a:solidFill>
                  <a:srgbClr val="666666"/>
                </a:solidFill>
              </a:rPr>
              <a:t>If the issue is under-subscribed, the underwriters are responsible for buying the unsubscribed portion.</a:t>
            </a:r>
            <a:endParaRPr lang="en-US" sz="1400" dirty="0"/>
          </a:p>
          <a:p>
            <a:pPr marL="0" indent="0">
              <a:buNone/>
            </a:pPr>
            <a:endParaRPr lang="en-US" sz="1400" dirty="0"/>
          </a:p>
          <a:p>
            <a:pPr marL="0" indent="0">
              <a:buNone/>
            </a:pPr>
            <a:r>
              <a:rPr lang="en-US" sz="1400" dirty="0">
                <a:solidFill>
                  <a:srgbClr val="666666"/>
                </a:solidFill>
              </a:rPr>
              <a:t>If syndicate members fail to fulfill their underwriting obligations, the lead manager(s) must fulfill those obligations.</a:t>
            </a:r>
            <a:endParaRPr lang="en-US" sz="1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52</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Lead manager(s) and syndicate members cannot subscribe to the issue except for fulfilling their underwriting obligations.</a:t>
            </a:r>
            <a:endParaRPr lang="en-US" sz="1400" dirty="0"/>
          </a:p>
          <a:p>
            <a:pPr marL="0" indent="0">
              <a:buNone/>
            </a:pPr>
            <a:endParaRPr lang="en-US" sz="1400" dirty="0"/>
          </a:p>
          <a:p>
            <a:pPr marL="0" indent="0">
              <a:buNone/>
            </a:pPr>
            <a:r>
              <a:rPr lang="en-US" sz="1400" dirty="0">
                <a:solidFill>
                  <a:srgbClr val="666666"/>
                </a:solidFill>
              </a:rPr>
              <a:t>The underwriting obligations must be at least to the extent of minimum subscription.</a:t>
            </a:r>
            <a:endParaRPr lang="en-US" sz="1400" dirty="0"/>
          </a:p>
          <a:p>
            <a:pPr marL="0" indent="0">
              <a:buNone/>
            </a:pPr>
            <a:endParaRPr lang="en-US" sz="1400" dirty="0"/>
          </a:p>
          <a:p>
            <a:pPr marL="0" indent="0">
              <a:buNone/>
            </a:pPr>
            <a:r>
              <a:rPr lang="en-US" sz="1400" dirty="0">
                <a:solidFill>
                  <a:srgbClr val="666666"/>
                </a:solidFill>
              </a:rPr>
              <a:t>In an SME IPO, the initial public offer must be underwritten for 100% of the offer, not just up to the minimum subscription level. The lead manager(s) must underwrite at least 15% of the issue size themselves.</a:t>
            </a:r>
            <a:endParaRPr lang="en-US" sz="1400" dirty="0"/>
          </a:p>
          <a:p>
            <a:pPr marL="0" indent="0">
              <a:buNone/>
            </a:pPr>
            <a:endParaRPr lang="en-US" sz="1400" dirty="0"/>
          </a:p>
          <a:p>
            <a:pPr marL="0" indent="0">
              <a:buNone/>
            </a:pPr>
            <a:r>
              <a:rPr lang="en-US" sz="1400" dirty="0">
                <a:solidFill>
                  <a:srgbClr val="666666"/>
                </a:solidFill>
              </a:rPr>
              <a:t>Demat Accounts</a:t>
            </a:r>
            <a:endParaRPr lang="en-US" sz="1400" dirty="0"/>
          </a:p>
          <a:p>
            <a:pPr marL="0" indent="0">
              <a:buNone/>
            </a:pPr>
            <a:endParaRPr lang="en-US" sz="1400" dirty="0"/>
          </a:p>
          <a:p>
            <a:pPr marL="0" indent="0">
              <a:buNone/>
            </a:pPr>
            <a:r>
              <a:rPr lang="en-US" sz="1400" dirty="0">
                <a:solidFill>
                  <a:srgbClr val="666666"/>
                </a:solidFill>
              </a:rPr>
              <a:t>A Demat Account (Dematerialised Account) is an electronic account used to hold financial securities like shares, bonds, and ETFs in digital form, as an alternative to physical certificates. It is regulated by SEBI, along with depositories like NSDL (National Securities Depository Ltd) and CDSL (Central Depository Services Ltd). Agreements are entered into with depositories for dematerialization of securities.</a:t>
            </a:r>
            <a:endParaRPr lang="en-US" sz="1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53</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Merits of Demat Account:</a:t>
            </a:r>
            <a:endParaRPr lang="en-US" sz="1400" dirty="0"/>
          </a:p>
          <a:p>
            <a:pPr marL="0" indent="0">
              <a:buNone/>
            </a:pPr>
            <a:endParaRPr lang="en-US" sz="1400" dirty="0"/>
          </a:p>
          <a:p>
            <a:pPr marL="0" indent="0">
              <a:buNone/>
            </a:pPr>
            <a:r>
              <a:rPr lang="en-US" sz="1400" dirty="0">
                <a:solidFill>
                  <a:srgbClr val="666666"/>
                </a:solidFill>
              </a:rPr>
              <a:t>Safety: Eliminates the risks associated with physical certificates such as loss, theft, forgery, or damage.</a:t>
            </a:r>
            <a:endParaRPr lang="en-US" sz="1400" dirty="0"/>
          </a:p>
          <a:p>
            <a:pPr marL="0" indent="0">
              <a:buNone/>
            </a:pPr>
            <a:endParaRPr lang="en-US" sz="1400" dirty="0"/>
          </a:p>
          <a:p>
            <a:pPr marL="0" indent="0">
              <a:buNone/>
            </a:pPr>
            <a:r>
              <a:rPr lang="en-US" sz="1400" dirty="0">
                <a:solidFill>
                  <a:srgbClr val="666666"/>
                </a:solidFill>
              </a:rPr>
              <a:t>Faster Settlement: Facilitates quicker settlement of trades, typically on a T+1 or T+2 basis.</a:t>
            </a:r>
            <a:endParaRPr lang="en-US" sz="1400" dirty="0"/>
          </a:p>
          <a:p>
            <a:pPr marL="0" indent="0">
              <a:buNone/>
            </a:pPr>
            <a:endParaRPr lang="en-US" sz="1400" dirty="0"/>
          </a:p>
          <a:p>
            <a:pPr marL="0" indent="0">
              <a:buNone/>
            </a:pPr>
            <a:r>
              <a:rPr lang="en-US" sz="1400" dirty="0">
                <a:solidFill>
                  <a:srgbClr val="666666"/>
                </a:solidFill>
              </a:rPr>
              <a:t>Convenience: Allows for easy transfer and trading of securities without the need for physical paperwork.</a:t>
            </a:r>
            <a:endParaRPr lang="en-US" sz="1400" dirty="0"/>
          </a:p>
          <a:p>
            <a:pPr marL="0" indent="0">
              <a:buNone/>
            </a:pPr>
            <a:endParaRPr lang="en-US" sz="1400" dirty="0"/>
          </a:p>
          <a:p>
            <a:pPr marL="0" indent="0">
              <a:buNone/>
            </a:pPr>
            <a:r>
              <a:rPr lang="en-US" sz="1400" dirty="0">
                <a:solidFill>
                  <a:srgbClr val="666666"/>
                </a:solidFill>
              </a:rPr>
              <a:t>Reduced Transaction Costs: May reduce stamp duty and other costs associated with physical share transfers.</a:t>
            </a:r>
            <a:endParaRPr lang="en-US" sz="1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54</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Ease of Holding: All securities are held in one electronic account, simplifying portfolio management.</a:t>
            </a:r>
            <a:endParaRPr lang="en-US" sz="1400" dirty="0"/>
          </a:p>
          <a:p>
            <a:pPr marL="0" indent="0">
              <a:buNone/>
            </a:pPr>
            <a:endParaRPr lang="en-US" sz="1400" dirty="0"/>
          </a:p>
          <a:p>
            <a:pPr marL="0" indent="0">
              <a:buNone/>
            </a:pPr>
            <a:r>
              <a:rPr lang="en-US" sz="1400" dirty="0">
                <a:solidFill>
                  <a:srgbClr val="666666"/>
                </a:solidFill>
              </a:rPr>
              <a:t>Direct Credit of Corporate Benefits: Dividends, bonus shares, rights entitlements, and other corporate actions are directly credited to the demat account.</a:t>
            </a:r>
            <a:endParaRPr lang="en-US" sz="1400" dirty="0"/>
          </a:p>
          <a:p>
            <a:pPr marL="0" indent="0">
              <a:buNone/>
            </a:pPr>
            <a:endParaRPr lang="en-US" sz="1400" dirty="0"/>
          </a:p>
          <a:p>
            <a:pPr marL="0" indent="0">
              <a:buNone/>
            </a:pPr>
            <a:r>
              <a:rPr lang="en-US" sz="1400" dirty="0">
                <a:solidFill>
                  <a:srgbClr val="666666"/>
                </a:solidFill>
              </a:rPr>
              <a:t>Limitations (as inferred from focus on merits in sources): While the provided sources primarily highlight the merits and regulatory aspects of Demat accounts, common limitations (not explicitly detailed in the sources but generally understood) include:</a:t>
            </a:r>
            <a:endParaRPr lang="en-US" sz="1400" dirty="0"/>
          </a:p>
          <a:p>
            <a:pPr marL="0" indent="0">
              <a:buNone/>
            </a:pPr>
            <a:endParaRPr lang="en-US" sz="1400" dirty="0"/>
          </a:p>
          <a:p>
            <a:pPr marL="0" indent="0">
              <a:buNone/>
            </a:pPr>
            <a:r>
              <a:rPr lang="en-US" sz="1400" dirty="0">
                <a:solidFill>
                  <a:srgbClr val="666666"/>
                </a:solidFill>
              </a:rPr>
              <a:t>Charges: Demat accounts typically incur annual maintenance charges, transaction charges, and other fees.</a:t>
            </a:r>
            <a:endParaRPr lang="en-US" sz="1400" dirty="0"/>
          </a:p>
          <a:p>
            <a:pPr marL="0" indent="0">
              <a:buNone/>
            </a:pPr>
            <a:endParaRPr lang="en-US" sz="1400" dirty="0"/>
          </a:p>
          <a:p>
            <a:pPr marL="0" indent="0">
              <a:buNone/>
            </a:pPr>
            <a:r>
              <a:rPr lang="en-US" sz="1400" dirty="0">
                <a:solidFill>
                  <a:srgbClr val="666666"/>
                </a:solidFill>
              </a:rPr>
              <a:t>Technological Dependence: Requires access to internet and digital platforms, which might be a barrier for some investors.</a:t>
            </a:r>
            <a:endParaRPr lang="en-US" sz="1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marL="0" indent="0">
              <a:buNone/>
            </a:pPr>
            <a:r>
              <a:rPr lang="en-US" sz="2400" b="1" dirty="0">
                <a:solidFill>
                  <a:srgbClr val="363636"/>
                </a:solidFill>
              </a:rPr>
              <a:t>Slide 55</a:t>
            </a:r>
            <a:endParaRPr lang="en-US" sz="2400" dirty="0"/>
          </a:p>
        </p:txBody>
      </p:sp>
      <p:sp>
        <p:nvSpPr>
          <p:cNvPr id="3" name="Text 1"/>
          <p:cNvSpPr/>
          <p:nvPr/>
        </p:nvSpPr>
        <p:spPr>
          <a:xfrm>
            <a:off x="457200" y="914400"/>
            <a:ext cx="8229600" cy="0"/>
          </a:xfrm>
          <a:prstGeom prst="rect">
            <a:avLst/>
          </a:prstGeom>
          <a:noFill/>
          <a:ln/>
        </p:spPr>
        <p:txBody>
          <a:bodyPr wrap="square" rtlCol="0" anchor="t"/>
          <a:lstStyle/>
          <a:p>
            <a:pPr marL="0" indent="0">
              <a:buNone/>
            </a:pPr>
            <a:r>
              <a:rPr lang="en-US" sz="1400" dirty="0">
                <a:solidFill>
                  <a:srgbClr val="666666"/>
                </a:solidFill>
              </a:rPr>
              <a:t>Security Risks: Though generally safe, electronic accounts are subject to cyber risks like hacking or phishing if proper security measures are not followed by the user.</a:t>
            </a:r>
            <a:endParaRPr lang="en-US" sz="1400" dirty="0"/>
          </a:p>
          <a:p>
            <a:pPr marL="0" indent="0">
              <a:buNone/>
            </a:pPr>
            <a:endParaRPr lang="en-US" sz="1400" dirty="0"/>
          </a:p>
          <a:p>
            <a:pPr marL="0" indent="0">
              <a:buNone/>
            </a:pPr>
            <a:r>
              <a:rPr lang="en-US" sz="1400" dirty="0">
                <a:solidFill>
                  <a:srgbClr val="666666"/>
                </a:solidFill>
              </a:rPr>
              <a:t>All specified securities offered through an issue are required to be in dematerialized form, and allotment is also made electronically. Investors are instructed to provide their Permanent Account Number (PAN) in the application form, and applications without PAN may be rejected.</a:t>
            </a:r>
            <a:endParaRPr lang="en-US" sz="1400" dirty="0"/>
          </a:p>
          <a:p>
            <a:pPr marL="0" indent="0">
              <a:buNone/>
            </a:pPr>
            <a:endParaRPr lang="en-US" sz="1400" dirty="0"/>
          </a:p>
          <a:p>
            <a:pPr marL="0" indent="0">
              <a:buNone/>
            </a:pPr>
            <a:r>
              <a:rPr lang="en-US" sz="1400" dirty="0">
                <a:solidFill>
                  <a:srgbClr val="666666"/>
                </a:solidFill>
              </a:rPr>
              <a:t>Here's an explanation of the connections between the topics you've listed, drawing information from the provided sources:</a:t>
            </a:r>
            <a:endParaRPr lang="en-US" sz="1400" dirty="0"/>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Gallery</Template>
  <TotalTime>1</TotalTime>
  <Words>6113</Words>
  <Application>Microsoft Office PowerPoint</Application>
  <PresentationFormat>On-screen Show (16:9)</PresentationFormat>
  <Paragraphs>601</Paragraphs>
  <Slides>56</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Gill Sans MT</vt:lpstr>
      <vt:lpstr>Gallery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Ifra Fathima</cp:lastModifiedBy>
  <cp:revision>2</cp:revision>
  <dcterms:created xsi:type="dcterms:W3CDTF">2026-02-26T13:35:56Z</dcterms:created>
  <dcterms:modified xsi:type="dcterms:W3CDTF">2026-02-26T14:01:00Z</dcterms:modified>
</cp:coreProperties>
</file>