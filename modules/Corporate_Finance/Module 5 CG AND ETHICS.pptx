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106" d="100"/>
          <a:sy n="106" d="100"/>
        </p:scale>
        <p:origin x="-168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Rectangle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Rectangle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Rectangle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Rectangle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Rounded Rectangle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Rounded Rectangle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1DC97689-314A-4C2E-A218-F68C6D2503F2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1761CCA4-F6CA-4322-8B9E-20A88E6DFB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97689-314A-4C2E-A218-F68C6D2503F2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1CCA4-F6CA-4322-8B9E-20A88E6DFB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97689-314A-4C2E-A218-F68C6D2503F2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1CCA4-F6CA-4322-8B9E-20A88E6DFB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97689-314A-4C2E-A218-F68C6D2503F2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1CCA4-F6CA-4322-8B9E-20A88E6DFB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6" name="Date Placeholder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DC97689-314A-4C2E-A218-F68C6D2503F2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1761CCA4-F6CA-4322-8B9E-20A88E6DFBD6}" type="slidenum">
              <a:rPr lang="en-US" smtClean="0"/>
              <a:t>‹#›</a:t>
            </a:fld>
            <a:endParaRPr lang="en-US"/>
          </a:p>
        </p:txBody>
      </p:sp>
      <p:sp>
        <p:nvSpPr>
          <p:cNvPr id="28" name="Footer Placeholder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1DC97689-314A-4C2E-A218-F68C6D2503F2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1761CCA4-F6CA-4322-8B9E-20A88E6DFB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97689-314A-4C2E-A218-F68C6D2503F2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1CCA4-F6CA-4322-8B9E-20A88E6DFB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97689-314A-4C2E-A218-F68C6D2503F2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1CCA4-F6CA-4322-8B9E-20A88E6DFB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97689-314A-4C2E-A218-F68C6D2503F2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1CCA4-F6CA-4322-8B9E-20A88E6DFB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97689-314A-4C2E-A218-F68C6D2503F2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1CCA4-F6CA-4322-8B9E-20A88E6DFB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C97689-314A-4C2E-A218-F68C6D2503F2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61CCA4-F6CA-4322-8B9E-20A88E6DFBD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Rectangle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Rectangle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Rectangle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Rounded Rectangle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Rounded Rectangle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Rectangle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Rectangle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Rectangle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Rectangle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Rectangle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Rectangle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1DC97689-314A-4C2E-A218-F68C6D2503F2}" type="datetimeFigureOut">
              <a:rPr lang="en-US" smtClean="0"/>
              <a:t>3/24/2025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1761CCA4-F6CA-4322-8B9E-20A88E6DFBD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CORPORATE GOVERNANCE, ETHICS AND CSR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Module 5</a:t>
            </a:r>
          </a:p>
          <a:p>
            <a:r>
              <a:rPr lang="en-US" dirty="0" smtClean="0"/>
              <a:t>Ms. </a:t>
            </a:r>
            <a:r>
              <a:rPr lang="en-US" dirty="0" err="1" smtClean="0"/>
              <a:t>Ifra</a:t>
            </a:r>
            <a:r>
              <a:rPr lang="en-US" dirty="0" smtClean="0"/>
              <a:t> </a:t>
            </a:r>
            <a:r>
              <a:rPr lang="en-US" dirty="0" err="1" smtClean="0"/>
              <a:t>Fathima</a:t>
            </a:r>
            <a:r>
              <a:rPr lang="en-US" dirty="0" smtClean="0"/>
              <a:t> I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The role and key objectives of corporate governance, agency theory; </a:t>
            </a:r>
            <a:endParaRPr lang="en-US" dirty="0" smtClean="0"/>
          </a:p>
          <a:p>
            <a:r>
              <a:rPr lang="en-US" dirty="0" smtClean="0"/>
              <a:t>Objectivity </a:t>
            </a:r>
            <a:r>
              <a:rPr lang="en-US" dirty="0" smtClean="0"/>
              <a:t>and independence;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/>
              <a:t>interaction of corporate governance, ethics and the law,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/>
              <a:t>purpose, definition and status of the OECD Corporate Governance Code; </a:t>
            </a:r>
            <a:endParaRPr lang="en-US" dirty="0" smtClean="0"/>
          </a:p>
          <a:p>
            <a:r>
              <a:rPr lang="en-US" dirty="0" smtClean="0"/>
              <a:t>Rules </a:t>
            </a:r>
            <a:r>
              <a:rPr lang="en-US" dirty="0" smtClean="0"/>
              <a:t>and principles based approaches to governance; The role of the board in establishing corporate governance standards; </a:t>
            </a:r>
            <a:endParaRPr lang="en-US" dirty="0" smtClean="0"/>
          </a:p>
          <a:p>
            <a:r>
              <a:rPr lang="en-US" dirty="0" smtClean="0"/>
              <a:t>The </a:t>
            </a:r>
            <a:r>
              <a:rPr lang="en-US" dirty="0" smtClean="0"/>
              <a:t>impact of corporate governance on directors’ powers and duties; Audit, Appointments and Remuneration Committee; the role of external and internal audit; the nature of errors and frauds; </a:t>
            </a:r>
            <a:endParaRPr lang="en-US" dirty="0" smtClean="0"/>
          </a:p>
          <a:p>
            <a:r>
              <a:rPr lang="en-US" dirty="0" smtClean="0"/>
              <a:t>Corporate </a:t>
            </a:r>
            <a:r>
              <a:rPr lang="en-US" dirty="0" smtClean="0"/>
              <a:t>Social Responsibility (CSR); a political and corporate perspective; e role of CSR within company reporting.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Corporate Governance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dirty="0" smtClean="0"/>
              <a:t>Corporate </a:t>
            </a:r>
            <a:r>
              <a:rPr lang="en-US" dirty="0" smtClean="0"/>
              <a:t>governance refers to the </a:t>
            </a:r>
            <a:r>
              <a:rPr lang="en-US" b="1" dirty="0" smtClean="0"/>
              <a:t>system of rules, policies, and processes</a:t>
            </a:r>
            <a:r>
              <a:rPr lang="en-US" dirty="0" smtClean="0"/>
              <a:t> by which companies are directed and controlled. It ensures </a:t>
            </a:r>
            <a:r>
              <a:rPr lang="en-US" b="1" dirty="0" smtClean="0"/>
              <a:t>accountability, fairness, and transparency</a:t>
            </a:r>
            <a:r>
              <a:rPr lang="en-US" dirty="0" smtClean="0"/>
              <a:t> in a company’s relationship with its stakeholders, including shareholders, employees, customers, and regulators.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Objectives </a:t>
            </a:r>
            <a:r>
              <a:rPr lang="en-US" b="1" dirty="0" smtClean="0"/>
              <a:t>of Corporate Governance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 smtClean="0"/>
              <a:t>Accountability</a:t>
            </a:r>
            <a:r>
              <a:rPr lang="en-US" b="1" dirty="0" smtClean="0"/>
              <a:t>:</a:t>
            </a:r>
            <a:r>
              <a:rPr lang="en-US" dirty="0" smtClean="0"/>
              <a:t> Ensuring company executives are accountable to shareholders and stakeholders.</a:t>
            </a:r>
          </a:p>
          <a:p>
            <a:r>
              <a:rPr lang="en-US" b="1" dirty="0" smtClean="0"/>
              <a:t>Transparency:</a:t>
            </a:r>
            <a:r>
              <a:rPr lang="en-US" dirty="0" smtClean="0"/>
              <a:t> Providing clear, accurate, and timely financial and operational information.</a:t>
            </a:r>
          </a:p>
          <a:p>
            <a:r>
              <a:rPr lang="en-US" b="1" dirty="0" smtClean="0"/>
              <a:t>Risk Management:</a:t>
            </a:r>
            <a:r>
              <a:rPr lang="en-US" dirty="0" smtClean="0"/>
              <a:t> Identifying and mitigating business risks.</a:t>
            </a:r>
          </a:p>
          <a:p>
            <a:r>
              <a:rPr lang="en-US" b="1" dirty="0" smtClean="0"/>
              <a:t>Fairness:</a:t>
            </a:r>
            <a:r>
              <a:rPr lang="en-US" dirty="0" smtClean="0"/>
              <a:t> Protecting the rights of all shareholders, especially minority investors.</a:t>
            </a:r>
          </a:p>
          <a:p>
            <a:r>
              <a:rPr lang="en-US" b="1" dirty="0" smtClean="0"/>
              <a:t>Ethical Business Conduct:</a:t>
            </a:r>
            <a:r>
              <a:rPr lang="en-US" dirty="0" smtClean="0"/>
              <a:t> Ensuring ethical decision-making and compliance with laws.</a:t>
            </a:r>
          </a:p>
          <a:p>
            <a:r>
              <a:rPr lang="en-US" b="1" dirty="0" smtClean="0"/>
              <a:t>Sustainability:</a:t>
            </a:r>
            <a:r>
              <a:rPr lang="en-US" dirty="0" smtClean="0"/>
              <a:t> Encouraging long-term business growth while considering environmental and social responsibilities.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Importance of Corporate </a:t>
            </a:r>
            <a:r>
              <a:rPr lang="en-US" b="1" dirty="0" smtClean="0"/>
              <a:t>Governance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Prevents </a:t>
            </a:r>
            <a:r>
              <a:rPr lang="en-US" dirty="0" smtClean="0"/>
              <a:t>corporate fraud and scandals (e.g., Enron, Lehman Brothers).</a:t>
            </a:r>
          </a:p>
          <a:p>
            <a:r>
              <a:rPr lang="en-US" dirty="0" smtClean="0"/>
              <a:t>Enhances investor confidence and company reputation.</a:t>
            </a:r>
          </a:p>
          <a:p>
            <a:r>
              <a:rPr lang="en-US" dirty="0" smtClean="0"/>
              <a:t>Reduces the cost of capital by improving trust among financial institutions.</a:t>
            </a:r>
          </a:p>
          <a:p>
            <a:r>
              <a:rPr lang="en-US" dirty="0" smtClean="0"/>
              <a:t>Promotes sustainable economic development.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Agency Theory in Corporate </a:t>
            </a:r>
            <a:r>
              <a:rPr lang="en-US" b="1" dirty="0" smtClean="0"/>
              <a:t>Governance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dirty="0" smtClean="0"/>
              <a:t>Agency </a:t>
            </a:r>
            <a:r>
              <a:rPr lang="en-US" dirty="0" smtClean="0"/>
              <a:t>theory explains the </a:t>
            </a:r>
            <a:r>
              <a:rPr lang="en-US" b="1" dirty="0" smtClean="0"/>
              <a:t>conflict of interest between company owners (shareholders) and managers (executives).</a:t>
            </a:r>
            <a:r>
              <a:rPr lang="en-US" dirty="0" smtClean="0"/>
              <a:t> Since executives manage the company but do not own it, their decisions may </a:t>
            </a:r>
            <a:r>
              <a:rPr lang="en-US" b="1" dirty="0" smtClean="0"/>
              <a:t>not always align</a:t>
            </a:r>
            <a:r>
              <a:rPr lang="en-US" dirty="0" smtClean="0"/>
              <a:t> with shareholder interests.</a:t>
            </a:r>
          </a:p>
          <a:p>
            <a:pPr>
              <a:buNone/>
            </a:pPr>
            <a:r>
              <a:rPr lang="en-US" b="1" dirty="0" smtClean="0"/>
              <a:t>Agency </a:t>
            </a:r>
            <a:r>
              <a:rPr lang="en-US" b="1" dirty="0" smtClean="0"/>
              <a:t>Problems and Solutions</a:t>
            </a:r>
          </a:p>
          <a:p>
            <a:r>
              <a:rPr lang="en-US" b="1" dirty="0" smtClean="0"/>
              <a:t>Conflicts of Interest:</a:t>
            </a:r>
            <a:r>
              <a:rPr lang="en-US" dirty="0" smtClean="0"/>
              <a:t> Managers may prioritize personal gain over company growth.</a:t>
            </a:r>
          </a:p>
          <a:p>
            <a:r>
              <a:rPr lang="en-US" b="1" dirty="0" smtClean="0"/>
              <a:t>Excessive Risk-Taking:</a:t>
            </a:r>
            <a:r>
              <a:rPr lang="en-US" dirty="0" smtClean="0"/>
              <a:t> Managers may engage in high-risk projects for short-term gains.</a:t>
            </a:r>
          </a:p>
          <a:p>
            <a:r>
              <a:rPr lang="en-US" b="1" dirty="0" smtClean="0"/>
              <a:t>Information Asymmetry:</a:t>
            </a:r>
            <a:r>
              <a:rPr lang="en-US" dirty="0" smtClean="0"/>
              <a:t> Managers may withhold information from shareholders.</a:t>
            </a:r>
          </a:p>
          <a:p>
            <a:pPr>
              <a:buNone/>
            </a:pPr>
            <a:r>
              <a:rPr lang="en-US" b="1" dirty="0" smtClean="0"/>
              <a:t>Solutions:</a:t>
            </a:r>
            <a:endParaRPr lang="en-US" dirty="0" smtClean="0"/>
          </a:p>
          <a:p>
            <a:pPr lvl="1"/>
            <a:r>
              <a:rPr lang="en-US" dirty="0" smtClean="0">
                <a:solidFill>
                  <a:schemeClr val="accent1"/>
                </a:solidFill>
              </a:rPr>
              <a:t>Aligning executive compensation with company performance.</a:t>
            </a:r>
          </a:p>
          <a:p>
            <a:pPr lvl="1"/>
            <a:r>
              <a:rPr lang="en-US" dirty="0" smtClean="0">
                <a:solidFill>
                  <a:schemeClr val="accent1"/>
                </a:solidFill>
              </a:rPr>
              <a:t>Strengthening board oversight.</a:t>
            </a:r>
          </a:p>
          <a:p>
            <a:pPr lvl="1"/>
            <a:r>
              <a:rPr lang="en-US" dirty="0" smtClean="0">
                <a:solidFill>
                  <a:schemeClr val="accent1"/>
                </a:solidFill>
              </a:rPr>
              <a:t>Implementing shareholder activism and voting rights.</a:t>
            </a:r>
          </a:p>
          <a:p>
            <a:pPr>
              <a:buNone/>
            </a:pPr>
            <a:r>
              <a:rPr lang="en-US" dirty="0" smtClean="0"/>
              <a:t>Example: The </a:t>
            </a:r>
            <a:r>
              <a:rPr lang="en-US" dirty="0" smtClean="0"/>
              <a:t>Enron scandal occurred due to a lack of accountability, where executives manipulated financial statements for personal gains.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Objectivity and Independence in Corporate </a:t>
            </a:r>
            <a:r>
              <a:rPr lang="en-US" b="1" dirty="0" smtClean="0"/>
              <a:t>Governance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Objectivity</a:t>
            </a:r>
            <a:r>
              <a:rPr lang="en-US" b="1" dirty="0" smtClean="0"/>
              <a:t>:</a:t>
            </a:r>
            <a:r>
              <a:rPr lang="en-US" dirty="0" smtClean="0"/>
              <a:t> Making decisions based on facts, free from bias.</a:t>
            </a:r>
          </a:p>
          <a:p>
            <a:r>
              <a:rPr lang="en-US" b="1" dirty="0" smtClean="0"/>
              <a:t>Independence:</a:t>
            </a:r>
            <a:r>
              <a:rPr lang="en-US" dirty="0" smtClean="0"/>
              <a:t> Ensuring corporate boards and auditors operate without external influence.</a:t>
            </a:r>
          </a:p>
          <a:p>
            <a:pPr>
              <a:buNone/>
            </a:pPr>
            <a:r>
              <a:rPr lang="en-US" b="1" dirty="0" smtClean="0"/>
              <a:t>Role </a:t>
            </a:r>
            <a:r>
              <a:rPr lang="en-US" b="1" dirty="0" smtClean="0"/>
              <a:t>of Independent Directors</a:t>
            </a:r>
          </a:p>
          <a:p>
            <a:r>
              <a:rPr lang="en-US" dirty="0" smtClean="0"/>
              <a:t>Monitor management performance.</a:t>
            </a:r>
          </a:p>
          <a:p>
            <a:r>
              <a:rPr lang="en-US" dirty="0" smtClean="0"/>
              <a:t>Provide unbiased opinions on corporate strategy and financial reporting.</a:t>
            </a:r>
          </a:p>
          <a:p>
            <a:pPr>
              <a:buNone/>
            </a:pPr>
            <a:r>
              <a:rPr lang="en-US" b="1" dirty="0" smtClean="0"/>
              <a:t>Importance </a:t>
            </a:r>
            <a:r>
              <a:rPr lang="en-US" b="1" dirty="0" smtClean="0"/>
              <a:t>of Auditor Independence</a:t>
            </a:r>
          </a:p>
          <a:p>
            <a:r>
              <a:rPr lang="en-US" dirty="0" smtClean="0"/>
              <a:t>Ensures reliability of financial statements.</a:t>
            </a:r>
          </a:p>
          <a:p>
            <a:r>
              <a:rPr lang="en-US" dirty="0" smtClean="0"/>
              <a:t>Prevents manipulation of financial data.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Interaction of Corporate Governance, Ethics, and the </a:t>
            </a:r>
            <a:r>
              <a:rPr lang="en-US" b="1" dirty="0" smtClean="0"/>
              <a:t>Law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Ethical </a:t>
            </a:r>
            <a:r>
              <a:rPr lang="en-US" dirty="0" smtClean="0"/>
              <a:t>leadership promotes good governance.</a:t>
            </a:r>
          </a:p>
          <a:p>
            <a:r>
              <a:rPr lang="en-US" dirty="0" smtClean="0"/>
              <a:t>Ethical failures result in corporate collapses and legal actions.</a:t>
            </a:r>
          </a:p>
          <a:p>
            <a:pPr>
              <a:buNone/>
            </a:pPr>
            <a:r>
              <a:rPr lang="en-US" b="1" dirty="0" smtClean="0"/>
              <a:t>Legal </a:t>
            </a:r>
            <a:r>
              <a:rPr lang="en-US" b="1" dirty="0" smtClean="0"/>
              <a:t>Frameworks for Governance</a:t>
            </a:r>
          </a:p>
          <a:p>
            <a:r>
              <a:rPr lang="en-US" b="1" dirty="0" smtClean="0"/>
              <a:t>Sarbanes-Oxley Act (USA):</a:t>
            </a:r>
            <a:r>
              <a:rPr lang="en-US" dirty="0" smtClean="0"/>
              <a:t> Enforces corporate accountability.</a:t>
            </a:r>
          </a:p>
          <a:p>
            <a:r>
              <a:rPr lang="en-US" b="1" dirty="0" smtClean="0"/>
              <a:t>UK Corporate Governance Code:</a:t>
            </a:r>
            <a:r>
              <a:rPr lang="en-US" dirty="0" smtClean="0"/>
              <a:t> Provides principles for best governance practices.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OECD Corporate Governance </a:t>
            </a:r>
            <a:r>
              <a:rPr lang="en-US" b="1" dirty="0" smtClean="0"/>
              <a:t>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The </a:t>
            </a:r>
            <a:r>
              <a:rPr lang="en-US" b="1" dirty="0" smtClean="0"/>
              <a:t>OECD Corporate Governance Code</a:t>
            </a:r>
            <a:r>
              <a:rPr lang="en-US" dirty="0" smtClean="0"/>
              <a:t> is a globally recognized framework that outlines principles for corporate governance, aiming to promote </a:t>
            </a:r>
            <a:r>
              <a:rPr lang="en-US" b="1" dirty="0" smtClean="0"/>
              <a:t>transparency, accountability, and efficiency</a:t>
            </a:r>
            <a:r>
              <a:rPr lang="en-US" dirty="0" smtClean="0"/>
              <a:t> in businesses. The code helps companies align with best practices to enhance </a:t>
            </a:r>
            <a:r>
              <a:rPr lang="en-US" b="1" dirty="0" smtClean="0"/>
              <a:t>investor confidence, financial stability, and sustainable growth</a:t>
            </a:r>
            <a:r>
              <a:rPr lang="en-US" dirty="0" smtClean="0"/>
              <a:t>. It is widely used by </a:t>
            </a:r>
            <a:r>
              <a:rPr lang="en-US" b="1" dirty="0" smtClean="0"/>
              <a:t>governments, regulators, and corporations</a:t>
            </a:r>
            <a:r>
              <a:rPr lang="en-US" dirty="0" smtClean="0"/>
              <a:t> to establish governance structures that protect stakeholders' interests.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Key Principles of the OECD </a:t>
            </a:r>
            <a:r>
              <a:rPr lang="en-US" b="1" dirty="0" smtClean="0"/>
              <a:t>Code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 smtClean="0"/>
              <a:t>Shareholder </a:t>
            </a:r>
            <a:r>
              <a:rPr lang="en-US" b="1" dirty="0" smtClean="0"/>
              <a:t>Rights &amp; Equitable Treatment</a:t>
            </a:r>
            <a:endParaRPr lang="en-US" dirty="0" smtClean="0"/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Ensures all shareholders, including minority investors, have fair access to corporate information and voting rights.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Prevents insider trading and abuse of power by major shareholders.</a:t>
            </a:r>
          </a:p>
          <a:p>
            <a:r>
              <a:rPr lang="en-US" b="1" dirty="0" smtClean="0"/>
              <a:t>Stakeholder Responsibilities</a:t>
            </a:r>
            <a:endParaRPr lang="en-US" dirty="0" smtClean="0"/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Encourages businesses to act in the best interests of employees, creditors, and the community.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Supports corporate social responsibility (CSR) and ethical business conduct.</a:t>
            </a:r>
          </a:p>
          <a:p>
            <a:r>
              <a:rPr lang="en-US" b="1" dirty="0" smtClean="0"/>
              <a:t>Transparency and Disclosure</a:t>
            </a:r>
            <a:endParaRPr lang="en-US" dirty="0" smtClean="0"/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Companies must provide accurate, timely, and comprehensive financial and non-financial information to stakeholders.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Regular disclosure of risk management policies, executive compensation, and governance structures.</a:t>
            </a:r>
          </a:p>
          <a:p>
            <a:r>
              <a:rPr lang="en-US" b="1" dirty="0" smtClean="0"/>
              <a:t>Board Responsibilities</a:t>
            </a:r>
            <a:endParaRPr lang="en-US" dirty="0" smtClean="0"/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The board of directors must oversee the company’s strategic direction and ensure compliance with legal and ethical standards.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Requires independence of directors to prevent conflicts of interest.</a:t>
            </a:r>
          </a:p>
          <a:p>
            <a:r>
              <a:rPr lang="en-US" b="1" dirty="0" smtClean="0"/>
              <a:t>Integrity in Financial Reporting</a:t>
            </a:r>
            <a:endParaRPr lang="en-US" dirty="0" smtClean="0"/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Ensures that companies maintain honest and transparent financial statements.</a:t>
            </a:r>
          </a:p>
          <a:p>
            <a:pPr lvl="1"/>
            <a:r>
              <a:rPr lang="en-US" dirty="0" smtClean="0">
                <a:solidFill>
                  <a:schemeClr val="tx1"/>
                </a:solidFill>
              </a:rPr>
              <a:t>Encourages external audits and the implementation of strong internal controls to prevent fraud.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Implementation and Global </a:t>
            </a:r>
            <a:r>
              <a:rPr lang="en-US" b="1" dirty="0" smtClean="0"/>
              <a:t>Impact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dirty="0" smtClean="0"/>
              <a:t>The </a:t>
            </a:r>
            <a:r>
              <a:rPr lang="en-US" dirty="0" smtClean="0"/>
              <a:t>OECD Code serves as a guideline for </a:t>
            </a:r>
            <a:r>
              <a:rPr lang="en-US" b="1" dirty="0" smtClean="0"/>
              <a:t>national corporate governance regulations</a:t>
            </a:r>
            <a:r>
              <a:rPr lang="en-US" dirty="0" smtClean="0"/>
              <a:t> in various countries.</a:t>
            </a:r>
          </a:p>
          <a:p>
            <a:r>
              <a:rPr lang="en-US" dirty="0" smtClean="0"/>
              <a:t>It influences major frameworks such as the </a:t>
            </a:r>
            <a:r>
              <a:rPr lang="en-US" b="1" dirty="0" smtClean="0"/>
              <a:t>UK Corporate Governance Code, Sarbanes-Oxley Act (USA), and EU governance policies</a:t>
            </a:r>
            <a:r>
              <a:rPr lang="en-US" dirty="0" smtClean="0"/>
              <a:t>.</a:t>
            </a:r>
          </a:p>
          <a:p>
            <a:r>
              <a:rPr lang="en-US" dirty="0" smtClean="0"/>
              <a:t>Many stock exchanges require companies to </a:t>
            </a:r>
            <a:r>
              <a:rPr lang="en-US" b="1" dirty="0" smtClean="0"/>
              <a:t>adhere to OECD principles</a:t>
            </a:r>
            <a:r>
              <a:rPr lang="en-US" dirty="0" smtClean="0"/>
              <a:t> for listing compliance.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b="1" dirty="0" smtClean="0"/>
              <a:t>Case Study examples of OECD </a:t>
            </a:r>
            <a:r>
              <a:rPr lang="en-US" b="1" dirty="0" smtClean="0"/>
              <a:t>Governance in Action</a:t>
            </a:r>
          </a:p>
          <a:p>
            <a:r>
              <a:rPr lang="en-US" b="1" dirty="0" smtClean="0"/>
              <a:t>Japan’s Corporate Governance Reform (2015)</a:t>
            </a:r>
            <a:r>
              <a:rPr lang="en-US" dirty="0" smtClean="0"/>
              <a:t>: The OECD guidelines influenced Japan’s governance code, leading to increased board independence and better investor protection.</a:t>
            </a:r>
          </a:p>
          <a:p>
            <a:r>
              <a:rPr lang="en-US" b="1" dirty="0" smtClean="0"/>
              <a:t>G20 &amp; OECD Principles (2015 Update)</a:t>
            </a:r>
            <a:r>
              <a:rPr lang="en-US" dirty="0" smtClean="0"/>
              <a:t>: These principles were adopted globally to address issues like executive pay, shareholder activism, and ethical </a:t>
            </a:r>
            <a:r>
              <a:rPr lang="en-US" dirty="0" smtClean="0"/>
              <a:t>leadership.</a:t>
            </a:r>
          </a:p>
          <a:p>
            <a:pPr>
              <a:buNone/>
            </a:pPr>
            <a:r>
              <a:rPr lang="en-US" dirty="0" smtClean="0"/>
              <a:t>By </a:t>
            </a:r>
            <a:r>
              <a:rPr lang="en-US" dirty="0" smtClean="0"/>
              <a:t>implementing the OECD Corporate Governance Code, companies can </a:t>
            </a:r>
            <a:r>
              <a:rPr lang="en-US" b="1" dirty="0" smtClean="0"/>
              <a:t>reduce financial risks, improve governance structures, and enhance global competitiveness</a:t>
            </a:r>
            <a:r>
              <a:rPr lang="en-US" dirty="0" smtClean="0"/>
              <a:t>.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 smtClean="0"/>
              <a:t>Rules vs. Principles-Based Approaches to </a:t>
            </a:r>
            <a:r>
              <a:rPr lang="en-US" sz="2400" b="1" dirty="0" smtClean="0"/>
              <a:t>Governance</a:t>
            </a:r>
            <a:endParaRPr lang="en-US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49424"/>
            <a:ext cx="8229600" cy="210827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/>
              <a:t>Rules-Based Approach: </a:t>
            </a:r>
            <a:r>
              <a:rPr lang="en-US" dirty="0" smtClean="0"/>
              <a:t>Strict </a:t>
            </a:r>
            <a:r>
              <a:rPr lang="en-US" dirty="0" smtClean="0"/>
              <a:t>legal requirements enforced by </a:t>
            </a:r>
            <a:r>
              <a:rPr lang="en-US" dirty="0" smtClean="0"/>
              <a:t>governments. Example</a:t>
            </a:r>
            <a:r>
              <a:rPr lang="en-US" dirty="0" smtClean="0"/>
              <a:t>: </a:t>
            </a:r>
            <a:r>
              <a:rPr lang="en-US" b="1" dirty="0" smtClean="0"/>
              <a:t>Sarbanes-Oxley Act (USA).</a:t>
            </a:r>
            <a:endParaRPr lang="en-US" dirty="0" smtClean="0"/>
          </a:p>
          <a:p>
            <a:pPr>
              <a:buNone/>
            </a:pPr>
            <a:r>
              <a:rPr lang="en-US" b="1" dirty="0" smtClean="0"/>
              <a:t>Principles-Based Approach : </a:t>
            </a:r>
            <a:r>
              <a:rPr lang="en-US" dirty="0" smtClean="0"/>
              <a:t>Flexible </a:t>
            </a:r>
            <a:r>
              <a:rPr lang="en-US" dirty="0" smtClean="0"/>
              <a:t>guidelines allowing companies to adapt governance </a:t>
            </a:r>
            <a:r>
              <a:rPr lang="en-US" dirty="0" smtClean="0"/>
              <a:t>practices. Example</a:t>
            </a:r>
            <a:r>
              <a:rPr lang="en-US" dirty="0" smtClean="0"/>
              <a:t>: </a:t>
            </a:r>
            <a:r>
              <a:rPr lang="en-US" b="1" dirty="0" smtClean="0"/>
              <a:t>UK Corporate Governance Code</a:t>
            </a:r>
            <a:r>
              <a:rPr lang="en-US" b="1" dirty="0" smtClean="0"/>
              <a:t>.</a:t>
            </a:r>
            <a:endParaRPr lang="en-US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2910" y="4500570"/>
          <a:ext cx="8215371" cy="1691640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2738457"/>
                <a:gridCol w="2738457"/>
                <a:gridCol w="2738457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Aspect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Rules-Based Approach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Principles-Based Approach</a:t>
                      </a:r>
                      <a:endParaRPr lang="en-US" sz="1600" dirty="0">
                        <a:latin typeface="+mn-lt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Flexibility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/>
                        <a:t>Low</a:t>
                      </a:r>
                      <a:endParaRPr lang="en-US" sz="1600" b="0" i="0" u="none" strike="noStrike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High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Compliance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Mandatory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Voluntary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Adaptability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Rigid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/>
                        <a:t>Adaptive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Board of Directors &amp; Corporate </a:t>
            </a:r>
            <a:r>
              <a:rPr lang="en-US" b="1" dirty="0" smtClean="0"/>
              <a:t>Governance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 smtClean="0"/>
              <a:t>Role </a:t>
            </a:r>
            <a:r>
              <a:rPr lang="en-US" b="1" dirty="0" smtClean="0"/>
              <a:t>of the Board</a:t>
            </a:r>
          </a:p>
          <a:p>
            <a:r>
              <a:rPr lang="en-US" dirty="0" smtClean="0"/>
              <a:t>Set corporate strategy and objectives.</a:t>
            </a:r>
          </a:p>
          <a:p>
            <a:r>
              <a:rPr lang="en-US" dirty="0" smtClean="0"/>
              <a:t>Oversee management and corporate performance.</a:t>
            </a:r>
          </a:p>
          <a:p>
            <a:r>
              <a:rPr lang="en-US" dirty="0" smtClean="0"/>
              <a:t>Ensure financial integrity and transparency.</a:t>
            </a:r>
          </a:p>
          <a:p>
            <a:pPr>
              <a:buNone/>
            </a:pPr>
            <a:r>
              <a:rPr lang="en-US" b="1" dirty="0" smtClean="0"/>
              <a:t>Board </a:t>
            </a:r>
            <a:r>
              <a:rPr lang="en-US" b="1" dirty="0" smtClean="0"/>
              <a:t>Committees</a:t>
            </a:r>
          </a:p>
          <a:p>
            <a:r>
              <a:rPr lang="en-US" b="1" dirty="0" smtClean="0"/>
              <a:t>Audit Committee:</a:t>
            </a:r>
            <a:r>
              <a:rPr lang="en-US" dirty="0" smtClean="0"/>
              <a:t> Monitors financial reporting and internal controls.</a:t>
            </a:r>
          </a:p>
          <a:p>
            <a:r>
              <a:rPr lang="en-US" b="1" dirty="0" smtClean="0"/>
              <a:t>Remuneration Committee:</a:t>
            </a:r>
            <a:r>
              <a:rPr lang="en-US" dirty="0" smtClean="0"/>
              <a:t> Oversees executive compensation.</a:t>
            </a:r>
          </a:p>
          <a:p>
            <a:r>
              <a:rPr lang="en-US" b="1" dirty="0" smtClean="0"/>
              <a:t>Nominations Committee:</a:t>
            </a:r>
            <a:r>
              <a:rPr lang="en-US" dirty="0" smtClean="0"/>
              <a:t> Recommends new board members.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Internal and External </a:t>
            </a:r>
            <a:r>
              <a:rPr lang="en-US" b="1" dirty="0" smtClean="0"/>
              <a:t>Audit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 smtClean="0"/>
              <a:t>Role </a:t>
            </a:r>
            <a:r>
              <a:rPr lang="en-US" b="1" dirty="0" smtClean="0"/>
              <a:t>of Internal Audit</a:t>
            </a:r>
          </a:p>
          <a:p>
            <a:r>
              <a:rPr lang="en-US" dirty="0" smtClean="0"/>
              <a:t>Ensures compliance with internal controls.</a:t>
            </a:r>
          </a:p>
          <a:p>
            <a:r>
              <a:rPr lang="en-US" dirty="0" smtClean="0"/>
              <a:t>Identifies risks and fraud.</a:t>
            </a:r>
          </a:p>
          <a:p>
            <a:pPr>
              <a:buNone/>
            </a:pPr>
            <a:r>
              <a:rPr lang="en-US" b="1" dirty="0" smtClean="0"/>
              <a:t>Role </a:t>
            </a:r>
            <a:r>
              <a:rPr lang="en-US" b="1" dirty="0" smtClean="0"/>
              <a:t>of External Audit</a:t>
            </a:r>
          </a:p>
          <a:p>
            <a:r>
              <a:rPr lang="en-US" dirty="0" smtClean="0"/>
              <a:t>Independent assessment of financial statements.</a:t>
            </a:r>
          </a:p>
          <a:p>
            <a:r>
              <a:rPr lang="en-US" dirty="0" smtClean="0"/>
              <a:t>Ensures transparency and stakeholder trust.</a:t>
            </a:r>
          </a:p>
          <a:p>
            <a:pPr>
              <a:buNone/>
            </a:pPr>
            <a:r>
              <a:rPr lang="en-US" b="1" dirty="0" smtClean="0"/>
              <a:t>The </a:t>
            </a:r>
            <a:r>
              <a:rPr lang="en-US" b="1" dirty="0" smtClean="0"/>
              <a:t>Nature of Errors and Frauds</a:t>
            </a:r>
          </a:p>
          <a:p>
            <a:r>
              <a:rPr lang="en-US" b="1" dirty="0" smtClean="0"/>
              <a:t>Errors:</a:t>
            </a:r>
            <a:r>
              <a:rPr lang="en-US" dirty="0" smtClean="0"/>
              <a:t> Unintentional mistakes in financial reporting.</a:t>
            </a:r>
          </a:p>
          <a:p>
            <a:r>
              <a:rPr lang="en-US" b="1" dirty="0" smtClean="0"/>
              <a:t>Fraud:</a:t>
            </a:r>
            <a:r>
              <a:rPr lang="en-US" dirty="0" smtClean="0"/>
              <a:t> Intentional manipulation of financial records.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Corporate Social Responsibility (CSR</a:t>
            </a:r>
            <a:r>
              <a:rPr lang="en-US" b="1" dirty="0" smtClean="0"/>
              <a:t>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 smtClean="0"/>
              <a:t>CSR </a:t>
            </a:r>
            <a:r>
              <a:rPr lang="en-US" dirty="0" smtClean="0"/>
              <a:t>refers to businesses </a:t>
            </a:r>
            <a:r>
              <a:rPr lang="en-US" b="1" dirty="0" smtClean="0"/>
              <a:t>taking responsibility for their social and environmental impact</a:t>
            </a:r>
            <a:r>
              <a:rPr lang="en-US" dirty="0" smtClean="0"/>
              <a:t> beyond legal requirements.</a:t>
            </a:r>
          </a:p>
          <a:p>
            <a:pPr>
              <a:buNone/>
            </a:pPr>
            <a:r>
              <a:rPr lang="en-US" b="1" dirty="0" smtClean="0"/>
              <a:t>CSR </a:t>
            </a:r>
            <a:r>
              <a:rPr lang="en-US" b="1" dirty="0" smtClean="0"/>
              <a:t>Perspectives</a:t>
            </a:r>
          </a:p>
          <a:p>
            <a:r>
              <a:rPr lang="en-US" b="1" dirty="0" smtClean="0"/>
              <a:t>Political Perspective:</a:t>
            </a:r>
            <a:r>
              <a:rPr lang="en-US" dirty="0" smtClean="0"/>
              <a:t> Governments encourage CSR to promote sustainability.</a:t>
            </a:r>
          </a:p>
          <a:p>
            <a:r>
              <a:rPr lang="en-US" b="1" dirty="0" smtClean="0"/>
              <a:t>Corporate Perspective:</a:t>
            </a:r>
            <a:r>
              <a:rPr lang="en-US" dirty="0" smtClean="0"/>
              <a:t> Enhances brand reputation and stakeholder </a:t>
            </a:r>
            <a:r>
              <a:rPr lang="en-US" dirty="0" smtClean="0"/>
              <a:t>trust.</a:t>
            </a:r>
          </a:p>
          <a:p>
            <a:pPr>
              <a:buNone/>
            </a:pPr>
            <a:r>
              <a:rPr lang="en-US" b="1" dirty="0" smtClean="0"/>
              <a:t>Role </a:t>
            </a:r>
            <a:r>
              <a:rPr lang="en-US" b="1" dirty="0" smtClean="0"/>
              <a:t>of CSR in Company Reporting</a:t>
            </a:r>
          </a:p>
          <a:p>
            <a:r>
              <a:rPr lang="en-US" dirty="0" smtClean="0"/>
              <a:t>CSR disclosures in annual reports demonstrate commitment to ethical practices</a:t>
            </a:r>
            <a:r>
              <a:rPr lang="en-US" dirty="0" smtClean="0"/>
              <a:t>. Example</a:t>
            </a:r>
            <a:r>
              <a:rPr lang="en-US" dirty="0" smtClean="0"/>
              <a:t>: </a:t>
            </a:r>
            <a:r>
              <a:rPr lang="en-US" b="1" dirty="0" smtClean="0"/>
              <a:t>Unilever’s Sustainability Reports</a:t>
            </a:r>
            <a:r>
              <a:rPr lang="en-US" dirty="0" smtClean="0"/>
              <a:t> focus on environmental and social impact.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Urban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Urban">
      <a:majorFont>
        <a:latin typeface="Trebuchet MS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eorgia"/>
        <a:ea typeface=""/>
        <a:cs typeface=""/>
        <a:font script="Jpan" typeface="HG明朝B"/>
        <a:font script="Hang" typeface="맑은 고딕"/>
        <a:font script="Hans" typeface="宋体"/>
        <a:font script="Hant" typeface="新細明體"/>
        <a:font script="Arab" typeface="Arial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Urban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117</TotalTime>
  <Words>1154</Words>
  <Application>Microsoft Office PowerPoint</Application>
  <PresentationFormat>On-screen Show (4:3)</PresentationFormat>
  <Paragraphs>120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Urban</vt:lpstr>
      <vt:lpstr>CORPORATE GOVERNANCE, ETHICS AND CSR </vt:lpstr>
      <vt:lpstr>Objectives</vt:lpstr>
      <vt:lpstr>Corporate Governance</vt:lpstr>
      <vt:lpstr>Objectives of Corporate Governance</vt:lpstr>
      <vt:lpstr>Importance of Corporate Governance</vt:lpstr>
      <vt:lpstr>Agency Theory in Corporate Governance</vt:lpstr>
      <vt:lpstr>Objectivity and Independence in Corporate Governance</vt:lpstr>
      <vt:lpstr>Interaction of Corporate Governance, Ethics, and the Law</vt:lpstr>
      <vt:lpstr>OECD Corporate Governance Code</vt:lpstr>
      <vt:lpstr>Key Principles of the OECD Code</vt:lpstr>
      <vt:lpstr>Implementation and Global Impact</vt:lpstr>
      <vt:lpstr>Rules vs. Principles-Based Approaches to Governance</vt:lpstr>
      <vt:lpstr>Board of Directors &amp; Corporate Governance</vt:lpstr>
      <vt:lpstr>Internal and External Audit</vt:lpstr>
      <vt:lpstr>Corporate Social Responsibility (CSR)</vt:lpstr>
      <vt:lpstr>Summary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admin</cp:lastModifiedBy>
  <cp:revision>6</cp:revision>
  <dcterms:created xsi:type="dcterms:W3CDTF">2025-03-24T08:05:06Z</dcterms:created>
  <dcterms:modified xsi:type="dcterms:W3CDTF">2025-03-24T10:02:21Z</dcterms:modified>
</cp:coreProperties>
</file>