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Default Extension="jpeg" ContentType="image/jpeg"/>
  <Override PartName="/ppt/slideLayouts/slideLayout3.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85" r:id="rId6"/>
    <p:sldId id="260" r:id="rId7"/>
    <p:sldId id="261" r:id="rId8"/>
    <p:sldId id="286" r:id="rId9"/>
    <p:sldId id="287" r:id="rId10"/>
    <p:sldId id="262" r:id="rId11"/>
    <p:sldId id="267" r:id="rId12"/>
    <p:sldId id="290" r:id="rId13"/>
    <p:sldId id="270" r:id="rId14"/>
    <p:sldId id="288" r:id="rId15"/>
    <p:sldId id="289" r:id="rId16"/>
    <p:sldId id="269" r:id="rId17"/>
    <p:sldId id="291" r:id="rId18"/>
    <p:sldId id="292" r:id="rId19"/>
    <p:sldId id="293" r:id="rId20"/>
    <p:sldId id="294"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95" r:id="rId36"/>
    <p:sldId id="296" r:id="rId37"/>
    <p:sldId id="297" r:id="rId38"/>
    <p:sldId id="298" r:id="rId3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106" d="100"/>
          <a:sy n="106" d="100"/>
        </p:scale>
        <p:origin x="-1680"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D7113002-32AE-43DE-80FD-6F37CAC8A101}" type="datetimeFigureOut">
              <a:rPr lang="en-IN" smtClean="0"/>
              <a:pPr/>
              <a:t>27-03-2025</a:t>
            </a:fld>
            <a:endParaRPr lang="en-IN"/>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IN"/>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D0711820-CA39-4EC0-BA04-6F0791270D9C}" type="slidenum">
              <a:rPr lang="en-IN" smtClean="0"/>
              <a:pPr/>
              <a:t>‹#›</a:t>
            </a:fld>
            <a:endParaRPr lang="en-IN"/>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D7113002-32AE-43DE-80FD-6F37CAC8A101}" type="datetimeFigureOut">
              <a:rPr lang="en-IN" smtClean="0"/>
              <a:pPr/>
              <a:t>27-03-2025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D0711820-CA39-4EC0-BA04-6F0791270D9C}" type="slidenum">
              <a:rPr lang="en-IN" smtClean="0"/>
              <a:pPr/>
              <a:t>‹#›</a:t>
            </a:fld>
            <a:endParaRPr lang="en-IN"/>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D7113002-32AE-43DE-80FD-6F37CAC8A101}" type="datetimeFigureOut">
              <a:rPr lang="en-IN" smtClean="0"/>
              <a:pPr/>
              <a:t>27-03-2025</a:t>
            </a:fld>
            <a:endParaRPr lang="en-IN"/>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D0711820-CA39-4EC0-BA04-6F0791270D9C}" type="slidenum">
              <a:rPr lang="en-IN" smtClean="0"/>
              <a:pPr/>
              <a:t>‹#›</a:t>
            </a:fld>
            <a:endParaRPr lang="en-IN"/>
          </a:p>
        </p:txBody>
      </p:sp>
      <p:sp>
        <p:nvSpPr>
          <p:cNvPr id="14" name="Footer Placeholder 13"/>
          <p:cNvSpPr>
            <a:spLocks noGrp="1"/>
          </p:cNvSpPr>
          <p:nvPr>
            <p:ph type="ftr" sz="quarter" idx="12"/>
          </p:nvPr>
        </p:nvSpPr>
        <p:spPr/>
        <p:txBody>
          <a:bodyPr/>
          <a:lstStyle/>
          <a:p>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8" name="Date Placeholder 7"/>
          <p:cNvSpPr>
            <a:spLocks noGrp="1"/>
          </p:cNvSpPr>
          <p:nvPr>
            <p:ph type="dt" sz="half" idx="15"/>
          </p:nvPr>
        </p:nvSpPr>
        <p:spPr/>
        <p:txBody>
          <a:bodyPr rtlCol="0"/>
          <a:lstStyle/>
          <a:p>
            <a:fld id="{D7113002-32AE-43DE-80FD-6F37CAC8A101}" type="datetimeFigureOut">
              <a:rPr lang="en-IN" smtClean="0"/>
              <a:pPr/>
              <a:t>27-03-2025</a:t>
            </a:fld>
            <a:endParaRPr lang="en-IN"/>
          </a:p>
        </p:txBody>
      </p:sp>
      <p:sp>
        <p:nvSpPr>
          <p:cNvPr id="10" name="Slide Number Placeholder 9"/>
          <p:cNvSpPr>
            <a:spLocks noGrp="1"/>
          </p:cNvSpPr>
          <p:nvPr>
            <p:ph type="sldNum" sz="quarter" idx="16"/>
          </p:nvPr>
        </p:nvSpPr>
        <p:spPr/>
        <p:txBody>
          <a:bodyPr rtlCol="0"/>
          <a:lstStyle/>
          <a:p>
            <a:fld id="{D0711820-CA39-4EC0-BA04-6F0791270D9C}" type="slidenum">
              <a:rPr lang="en-IN" smtClean="0"/>
              <a:pPr/>
              <a:t>‹#›</a:t>
            </a:fld>
            <a:endParaRPr lang="en-IN"/>
          </a:p>
        </p:txBody>
      </p:sp>
      <p:sp>
        <p:nvSpPr>
          <p:cNvPr id="12" name="Footer Placeholder 11"/>
          <p:cNvSpPr>
            <a:spLocks noGrp="1"/>
          </p:cNvSpPr>
          <p:nvPr>
            <p:ph type="ftr" sz="quarter" idx="17"/>
          </p:nvPr>
        </p:nvSpPr>
        <p:spPr/>
        <p:txBody>
          <a:bodyPr rtlCol="0"/>
          <a:lstStyle/>
          <a:p>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5"/>
          </p:nvPr>
        </p:nvSpPr>
        <p:spPr/>
        <p:txBody>
          <a:bodyPr rtlCol="0"/>
          <a:lstStyle/>
          <a:p>
            <a:fld id="{D7113002-32AE-43DE-80FD-6F37CAC8A101}" type="datetimeFigureOut">
              <a:rPr lang="en-IN" smtClean="0"/>
              <a:pPr/>
              <a:t>27-03-2025</a:t>
            </a:fld>
            <a:endParaRPr lang="en-IN"/>
          </a:p>
        </p:txBody>
      </p:sp>
      <p:sp>
        <p:nvSpPr>
          <p:cNvPr id="12" name="Slide Number Placeholder 11"/>
          <p:cNvSpPr>
            <a:spLocks noGrp="1"/>
          </p:cNvSpPr>
          <p:nvPr>
            <p:ph type="sldNum" sz="quarter" idx="16"/>
          </p:nvPr>
        </p:nvSpPr>
        <p:spPr/>
        <p:txBody>
          <a:bodyPr rtlCol="0"/>
          <a:lstStyle/>
          <a:p>
            <a:fld id="{D0711820-CA39-4EC0-BA04-6F0791270D9C}" type="slidenum">
              <a:rPr lang="en-IN" smtClean="0"/>
              <a:pPr/>
              <a:t>‹#›</a:t>
            </a:fld>
            <a:endParaRPr lang="en-IN"/>
          </a:p>
        </p:txBody>
      </p:sp>
      <p:sp>
        <p:nvSpPr>
          <p:cNvPr id="14" name="Footer Placeholder 13"/>
          <p:cNvSpPr>
            <a:spLocks noGrp="1"/>
          </p:cNvSpPr>
          <p:nvPr>
            <p:ph type="ftr" sz="quarter" idx="17"/>
          </p:nvPr>
        </p:nvSpPr>
        <p:spPr/>
        <p:txBody>
          <a:bodyPr rtlCol="0"/>
          <a:lstStyle/>
          <a:p>
            <a:endParaRPr lang="en-IN"/>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D7113002-32AE-43DE-80FD-6F37CAC8A101}" type="datetimeFigureOut">
              <a:rPr lang="en-IN" smtClean="0"/>
              <a:pPr/>
              <a:t>27-03-2025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D0711820-CA39-4EC0-BA04-6F0791270D9C}"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7113002-32AE-43DE-80FD-6F37CAC8A101}" type="datetimeFigureOut">
              <a:rPr lang="en-IN" smtClean="0"/>
              <a:pPr/>
              <a:t>27-03-2025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D0711820-CA39-4EC0-BA04-6F0791270D9C}"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D7113002-32AE-43DE-80FD-6F37CAC8A101}" type="datetimeFigureOut">
              <a:rPr lang="en-IN" smtClean="0"/>
              <a:pPr/>
              <a:t>27-03-2025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D0711820-CA39-4EC0-BA04-6F0791270D9C}" type="slidenum">
              <a:rPr lang="en-IN" smtClean="0"/>
              <a:pPr/>
              <a:t>‹#›</a:t>
            </a:fld>
            <a:endParaRPr lang="en-IN"/>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D7113002-32AE-43DE-80FD-6F37CAC8A101}" type="datetimeFigureOut">
              <a:rPr lang="en-IN" smtClean="0"/>
              <a:pPr/>
              <a:t>27-03-2025</a:t>
            </a:fld>
            <a:endParaRPr lang="en-IN"/>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D0711820-CA39-4EC0-BA04-6F0791270D9C}" type="slidenum">
              <a:rPr lang="en-IN" smtClean="0"/>
              <a:pPr/>
              <a:t>‹#›</a:t>
            </a:fld>
            <a:endParaRPr lang="en-IN"/>
          </a:p>
        </p:txBody>
      </p:sp>
      <p:sp>
        <p:nvSpPr>
          <p:cNvPr id="14" name="Footer Placeholder 13"/>
          <p:cNvSpPr>
            <a:spLocks noGrp="1"/>
          </p:cNvSpPr>
          <p:nvPr>
            <p:ph type="ftr" sz="quarter" idx="12"/>
          </p:nvPr>
        </p:nvSpPr>
        <p:spPr>
          <a:xfrm>
            <a:off x="1600200" y="6248206"/>
            <a:ext cx="4572000" cy="365125"/>
          </a:xfrm>
        </p:spPr>
        <p:txBody>
          <a:bodyPr rtlCol="0"/>
          <a:lstStyle/>
          <a:p>
            <a:endParaRPr lang="en-IN"/>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smtClean="0"/>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7113002-32AE-43DE-80FD-6F37CAC8A101}" type="datetimeFigureOut">
              <a:rPr lang="en-IN" smtClean="0"/>
              <a:pPr/>
              <a:t>27-03-2025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711820-CA39-4EC0-BA04-6F0791270D9C}"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D7113002-32AE-43DE-80FD-6F37CAC8A101}" type="datetimeFigureOut">
              <a:rPr lang="en-IN" smtClean="0"/>
              <a:pPr/>
              <a:t>27-03-2025</a:t>
            </a:fld>
            <a:endParaRPr lang="en-IN"/>
          </a:p>
        </p:txBody>
      </p:sp>
      <p:sp>
        <p:nvSpPr>
          <p:cNvPr id="5" name="Footer Placeholder 4"/>
          <p:cNvSpPr>
            <a:spLocks noGrp="1"/>
          </p:cNvSpPr>
          <p:nvPr>
            <p:ph type="ftr" sz="quarter" idx="11"/>
          </p:nvPr>
        </p:nvSpPr>
        <p:spPr>
          <a:xfrm>
            <a:off x="457201" y="6248207"/>
            <a:ext cx="5573483" cy="365125"/>
          </a:xfrm>
        </p:spPr>
        <p:txBody>
          <a:bodyPr/>
          <a:lstStyle/>
          <a:p>
            <a:endParaRPr lang="en-IN"/>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D0711820-CA39-4EC0-BA04-6F0791270D9C}" type="slidenum">
              <a:rPr lang="en-IN" smtClean="0"/>
              <a:pPr/>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D7113002-32AE-43DE-80FD-6F37CAC8A101}" type="datetimeFigureOut">
              <a:rPr lang="en-IN" smtClean="0"/>
              <a:pPr/>
              <a:t>27-03-2025</a:t>
            </a:fld>
            <a:endParaRPr lang="en-IN"/>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IN"/>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D0711820-CA39-4EC0-BA04-6F0791270D9C}"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s://kfknowledgebank.kaplan.co.uk/acca/chapter-14-ethical-decision-making"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Ethical Decision Making</a:t>
            </a:r>
            <a:endParaRPr lang="en-IN" dirty="0"/>
          </a:p>
        </p:txBody>
      </p:sp>
      <p:sp>
        <p:nvSpPr>
          <p:cNvPr id="3" name="Subtitle 2"/>
          <p:cNvSpPr>
            <a:spLocks noGrp="1"/>
          </p:cNvSpPr>
          <p:nvPr>
            <p:ph type="subTitle" idx="1"/>
          </p:nvPr>
        </p:nvSpPr>
        <p:spPr/>
        <p:txBody>
          <a:bodyPr/>
          <a:lstStyle/>
          <a:p>
            <a:r>
              <a:rPr lang="en-IN" dirty="0" smtClean="0"/>
              <a:t>Module 3</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Objectives </a:t>
            </a:r>
            <a:endParaRPr lang="en-IN" dirty="0"/>
          </a:p>
        </p:txBody>
      </p:sp>
      <p:sp>
        <p:nvSpPr>
          <p:cNvPr id="3" name="Content Placeholder 2"/>
          <p:cNvSpPr>
            <a:spLocks noGrp="1"/>
          </p:cNvSpPr>
          <p:nvPr>
            <p:ph sz="quarter" idx="1"/>
          </p:nvPr>
        </p:nvSpPr>
        <p:spPr/>
        <p:txBody>
          <a:bodyPr>
            <a:normAutofit/>
          </a:bodyPr>
          <a:lstStyle/>
          <a:p>
            <a:r>
              <a:rPr lang="en-IN" dirty="0" smtClean="0"/>
              <a:t>Implications of unethical issues in different functional areas of business like finance, HR and marketing</a:t>
            </a:r>
          </a:p>
          <a:p>
            <a:r>
              <a:rPr lang="en-IN" dirty="0" smtClean="0"/>
              <a:t>Economic ideologies: Capitalism, Socialism and Communism, Economics &amp; Business ethics, Global Business practices, Consumerism, Human Rights, Healthcare and Labour, Sustainable Development; </a:t>
            </a:r>
          </a:p>
          <a:p>
            <a:r>
              <a:rPr lang="en-IN" dirty="0" smtClean="0"/>
              <a:t>Ethical Models, Tucker’s 5 Question model, American Accounting Association Model, Ethical Decision making process.</a:t>
            </a: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Implications of Unethical Issues in Different Functional Areas of Business</a:t>
            </a:r>
            <a:endParaRPr lang="en-IN" dirty="0"/>
          </a:p>
        </p:txBody>
      </p:sp>
      <p:sp>
        <p:nvSpPr>
          <p:cNvPr id="3" name="Content Placeholder 2"/>
          <p:cNvSpPr>
            <a:spLocks noGrp="1"/>
          </p:cNvSpPr>
          <p:nvPr>
            <p:ph sz="quarter" idx="1"/>
          </p:nvPr>
        </p:nvSpPr>
        <p:spPr/>
        <p:txBody>
          <a:bodyPr>
            <a:normAutofit/>
          </a:bodyPr>
          <a:lstStyle/>
          <a:p>
            <a:r>
              <a:rPr lang="en-US" dirty="0" smtClean="0"/>
              <a:t>Unethical issues in business can have significant and far-reaching consequences across various functional areas. These issues can affect financial stability, employee morale, consumer trust, and a company's reputation. Here is an overview of how unethical practices in different functional areas such as finance, human resources (HR), and marketing can impact a business:</a:t>
            </a:r>
            <a:endParaRPr lang="en-IN"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1. Finance</a:t>
            </a:r>
          </a:p>
        </p:txBody>
      </p:sp>
      <p:sp>
        <p:nvSpPr>
          <p:cNvPr id="3" name="Content Placeholder 2"/>
          <p:cNvSpPr>
            <a:spLocks noGrp="1"/>
          </p:cNvSpPr>
          <p:nvPr>
            <p:ph sz="quarter" idx="1"/>
          </p:nvPr>
        </p:nvSpPr>
        <p:spPr/>
        <p:txBody>
          <a:bodyPr>
            <a:normAutofit fontScale="77500" lnSpcReduction="20000"/>
          </a:bodyPr>
          <a:lstStyle/>
          <a:p>
            <a:r>
              <a:rPr lang="en-US" dirty="0" smtClean="0"/>
              <a:t>Ethical issues in finance, such as financial misreporting, insider trading, and fraudulent accounting, can lead to significant financial losses, legal consequences, and a damaged reputation. Some common unethical financial practices include:</a:t>
            </a:r>
          </a:p>
          <a:p>
            <a:r>
              <a:rPr lang="en-US" b="1" dirty="0" smtClean="0"/>
              <a:t>Fraudulent Reporting</a:t>
            </a:r>
            <a:r>
              <a:rPr lang="en-US" dirty="0" smtClean="0"/>
              <a:t>: Manipulating financial statements to present a more favorable image of the company. This can deceive investors and stakeholders and may result in legal sanctions.</a:t>
            </a:r>
          </a:p>
          <a:p>
            <a:r>
              <a:rPr lang="en-US" b="1" dirty="0" smtClean="0"/>
              <a:t>Insider Trading</a:t>
            </a:r>
            <a:r>
              <a:rPr lang="en-US" dirty="0" smtClean="0"/>
              <a:t>: Using confidential information to make profitable financial decisions, giving an unfair advantage to certain individuals.</a:t>
            </a:r>
          </a:p>
          <a:p>
            <a:r>
              <a:rPr lang="en-US" b="1" dirty="0" smtClean="0"/>
              <a:t>Mismanagement of Funds</a:t>
            </a:r>
            <a:r>
              <a:rPr lang="en-US" dirty="0" smtClean="0"/>
              <a:t>: Misuse or diversion of company funds for personal gain can lead to bankruptcy or severe financial losses.</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Implications:</a:t>
            </a:r>
            <a:endParaRPr lang="en-US" dirty="0"/>
          </a:p>
        </p:txBody>
      </p:sp>
      <p:sp>
        <p:nvSpPr>
          <p:cNvPr id="3" name="Content Placeholder 2"/>
          <p:cNvSpPr>
            <a:spLocks noGrp="1"/>
          </p:cNvSpPr>
          <p:nvPr>
            <p:ph sz="quarter" idx="1"/>
          </p:nvPr>
        </p:nvSpPr>
        <p:spPr/>
        <p:txBody>
          <a:bodyPr>
            <a:normAutofit/>
          </a:bodyPr>
          <a:lstStyle/>
          <a:p>
            <a:r>
              <a:rPr lang="en-US" b="1" dirty="0" smtClean="0"/>
              <a:t>Legal Consequences</a:t>
            </a:r>
            <a:r>
              <a:rPr lang="en-US" dirty="0" smtClean="0"/>
              <a:t>: Companies involved in unethical financial practices can face fines, lawsuits, or even shutdowns.</a:t>
            </a:r>
          </a:p>
          <a:p>
            <a:r>
              <a:rPr lang="en-US" b="1" dirty="0" smtClean="0"/>
              <a:t>Loss of Trust</a:t>
            </a:r>
            <a:r>
              <a:rPr lang="en-US" dirty="0" smtClean="0"/>
              <a:t>: Investors, creditors, and consumers may lose trust in the company, making it difficult to secure financing or maintain customer loyalty.</a:t>
            </a:r>
          </a:p>
          <a:p>
            <a:r>
              <a:rPr lang="en-US" b="1" dirty="0" smtClean="0"/>
              <a:t>Reputation Damage</a:t>
            </a:r>
            <a:r>
              <a:rPr lang="en-US" dirty="0" smtClean="0"/>
              <a:t>: The company’s brand and reputation may be irreparably harmed, resulting in long-term negative effects.</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2. Human Resources (HR)</a:t>
            </a:r>
            <a:endParaRPr lang="en-IN" dirty="0"/>
          </a:p>
        </p:txBody>
      </p:sp>
      <p:sp>
        <p:nvSpPr>
          <p:cNvPr id="3" name="Content Placeholder 2"/>
          <p:cNvSpPr>
            <a:spLocks noGrp="1"/>
          </p:cNvSpPr>
          <p:nvPr>
            <p:ph sz="quarter" idx="1"/>
          </p:nvPr>
        </p:nvSpPr>
        <p:spPr/>
        <p:txBody>
          <a:bodyPr>
            <a:normAutofit fontScale="85000" lnSpcReduction="20000"/>
          </a:bodyPr>
          <a:lstStyle/>
          <a:p>
            <a:r>
              <a:rPr lang="en-US" dirty="0" smtClean="0"/>
              <a:t>Ethical issues in HR, including discrimination, harassment, and unfair treatment of employees, can damage the organization’s work culture and employee morale. Some unethical HR practices include:</a:t>
            </a:r>
          </a:p>
          <a:p>
            <a:r>
              <a:rPr lang="en-US" b="1" dirty="0" smtClean="0"/>
              <a:t>Discrimination</a:t>
            </a:r>
            <a:r>
              <a:rPr lang="en-US" dirty="0" smtClean="0"/>
              <a:t>: Unequal treatment of employees based on gender, race, or other personal characteristics violates ethical standards and can lead to lawsuits.</a:t>
            </a:r>
          </a:p>
          <a:p>
            <a:r>
              <a:rPr lang="en-US" b="1" dirty="0" smtClean="0"/>
              <a:t>Harassment</a:t>
            </a:r>
            <a:r>
              <a:rPr lang="en-US" dirty="0" smtClean="0"/>
              <a:t>: Tolerating or enabling a hostile work environment, such as sexual harassment or bullying, can cause significant harm to employees' well-being.</a:t>
            </a:r>
          </a:p>
          <a:p>
            <a:r>
              <a:rPr lang="en-US" b="1" dirty="0" smtClean="0"/>
              <a:t>Unfair Compensation</a:t>
            </a:r>
            <a:r>
              <a:rPr lang="en-US" dirty="0" smtClean="0"/>
              <a:t>: Paying employees unfair wages or denying them benefits based on bias or neglecting proper labor laws is another unethical practice.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Implications:</a:t>
            </a:r>
            <a:endParaRPr lang="en-IN" dirty="0"/>
          </a:p>
        </p:txBody>
      </p:sp>
      <p:sp>
        <p:nvSpPr>
          <p:cNvPr id="3" name="Content Placeholder 2"/>
          <p:cNvSpPr>
            <a:spLocks noGrp="1"/>
          </p:cNvSpPr>
          <p:nvPr>
            <p:ph sz="quarter" idx="1"/>
          </p:nvPr>
        </p:nvSpPr>
        <p:spPr/>
        <p:txBody>
          <a:bodyPr>
            <a:normAutofit/>
          </a:bodyPr>
          <a:lstStyle/>
          <a:p>
            <a:r>
              <a:rPr lang="en-US" b="1" dirty="0" smtClean="0"/>
              <a:t>Legal and Financial Risk</a:t>
            </a:r>
            <a:r>
              <a:rPr lang="en-US" dirty="0" smtClean="0"/>
              <a:t>: Discriminatory or harassing practices can result in lawsuits and significant compensation costs.</a:t>
            </a:r>
          </a:p>
          <a:p>
            <a:r>
              <a:rPr lang="en-US" b="1" dirty="0" smtClean="0"/>
              <a:t>Employee Turnover</a:t>
            </a:r>
            <a:r>
              <a:rPr lang="en-US" dirty="0" smtClean="0"/>
              <a:t>: A toxic work environment can lead to high turnover rates, increasing recruitment and training costs.</a:t>
            </a:r>
          </a:p>
          <a:p>
            <a:r>
              <a:rPr lang="en-US" b="1" dirty="0" smtClean="0"/>
              <a:t>Low Morale and Productivity</a:t>
            </a:r>
            <a:r>
              <a:rPr lang="en-US" dirty="0" smtClean="0"/>
              <a:t>: Unethical treatment reduces employee motivation and may affect overall productivity.</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3. Marketing</a:t>
            </a:r>
            <a:endParaRPr lang="en-US" dirty="0"/>
          </a:p>
        </p:txBody>
      </p:sp>
      <p:sp>
        <p:nvSpPr>
          <p:cNvPr id="3" name="Content Placeholder 2"/>
          <p:cNvSpPr>
            <a:spLocks noGrp="1"/>
          </p:cNvSpPr>
          <p:nvPr>
            <p:ph sz="quarter" idx="1"/>
          </p:nvPr>
        </p:nvSpPr>
        <p:spPr/>
        <p:txBody>
          <a:bodyPr>
            <a:normAutofit fontScale="85000" lnSpcReduction="10000"/>
          </a:bodyPr>
          <a:lstStyle/>
          <a:p>
            <a:r>
              <a:rPr lang="en-US" dirty="0" smtClean="0"/>
              <a:t>Unethical marketing practices, such as false advertising, deceptive claims, or targeting vulnerable consumers, can result in consumer mistrust and legal consequences. Some unethical marketing practices include:</a:t>
            </a:r>
          </a:p>
          <a:p>
            <a:r>
              <a:rPr lang="en-US" b="1" dirty="0" smtClean="0"/>
              <a:t>False Advertising</a:t>
            </a:r>
            <a:r>
              <a:rPr lang="en-US" dirty="0" smtClean="0"/>
              <a:t>: Making misleading claims about a product or service, such as exaggerated benefits or false promises.</a:t>
            </a:r>
          </a:p>
          <a:p>
            <a:r>
              <a:rPr lang="en-US" b="1" dirty="0" smtClean="0"/>
              <a:t>Targeting Vulnerable Groups</a:t>
            </a:r>
            <a:r>
              <a:rPr lang="en-US" dirty="0" smtClean="0"/>
              <a:t>: Marketing products in a manipulative way to children or people who cannot fully understand the consequences of their purchasing decisions.</a:t>
            </a:r>
          </a:p>
          <a:p>
            <a:r>
              <a:rPr lang="en-US" b="1" dirty="0" smtClean="0"/>
              <a:t>Price Gouging</a:t>
            </a:r>
            <a:r>
              <a:rPr lang="en-US" dirty="0" smtClean="0"/>
              <a:t>: Raising prices during times of crisis or emergency to take advantage of consumers.</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Implications:</a:t>
            </a:r>
            <a:endParaRPr lang="en-US" dirty="0"/>
          </a:p>
        </p:txBody>
      </p:sp>
      <p:sp>
        <p:nvSpPr>
          <p:cNvPr id="3" name="Content Placeholder 2"/>
          <p:cNvSpPr>
            <a:spLocks noGrp="1"/>
          </p:cNvSpPr>
          <p:nvPr>
            <p:ph sz="quarter" idx="1"/>
          </p:nvPr>
        </p:nvSpPr>
        <p:spPr/>
        <p:txBody>
          <a:bodyPr>
            <a:normAutofit/>
          </a:bodyPr>
          <a:lstStyle/>
          <a:p>
            <a:r>
              <a:rPr lang="en-US" b="1" dirty="0" smtClean="0"/>
              <a:t>Consumer Trust</a:t>
            </a:r>
            <a:r>
              <a:rPr lang="en-US" dirty="0" smtClean="0"/>
              <a:t>: Once consumers realize they've been deceived, trust in the brand is damaged, leading to lower sales and negative word-of-mouth.</a:t>
            </a:r>
          </a:p>
          <a:p>
            <a:r>
              <a:rPr lang="en-US" b="1" dirty="0" smtClean="0"/>
              <a:t>Legal Issues</a:t>
            </a:r>
            <a:r>
              <a:rPr lang="en-US" dirty="0" smtClean="0"/>
              <a:t>: Misleading advertising can lead to legal penalties, fines, or sanctions from regulatory bodies.</a:t>
            </a:r>
          </a:p>
          <a:p>
            <a:r>
              <a:rPr lang="en-US" b="1" dirty="0" smtClean="0"/>
              <a:t>Brand Reputation</a:t>
            </a:r>
            <a:r>
              <a:rPr lang="en-US" dirty="0" smtClean="0"/>
              <a:t>: Ethical lapses in marketing tarnish a company's public image and may lead to boycotts or reduced market share.</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Four elements make ethical </a:t>
            </a:r>
            <a:r>
              <a:rPr lang="en-IN" dirty="0" err="1" smtClean="0"/>
              <a:t>behavior</a:t>
            </a:r>
            <a:r>
              <a:rPr lang="en-IN" dirty="0" smtClean="0"/>
              <a:t> conducive within an organization:</a:t>
            </a:r>
            <a:endParaRPr lang="en-IN" dirty="0"/>
          </a:p>
        </p:txBody>
      </p:sp>
      <p:sp>
        <p:nvSpPr>
          <p:cNvPr id="3" name="Content Placeholder 2"/>
          <p:cNvSpPr>
            <a:spLocks noGrp="1"/>
          </p:cNvSpPr>
          <p:nvPr>
            <p:ph sz="quarter" idx="1"/>
          </p:nvPr>
        </p:nvSpPr>
        <p:spPr/>
        <p:txBody>
          <a:bodyPr/>
          <a:lstStyle/>
          <a:p>
            <a:r>
              <a:rPr lang="en-IN" dirty="0" smtClean="0"/>
              <a:t>A written code of ethics and standards;</a:t>
            </a:r>
          </a:p>
          <a:p>
            <a:r>
              <a:rPr lang="en-IN" dirty="0" smtClean="0"/>
              <a:t>Ethics training to executives, managers, and employees;</a:t>
            </a:r>
          </a:p>
          <a:p>
            <a:r>
              <a:rPr lang="en-IN" dirty="0" smtClean="0"/>
              <a:t>Availability for advice on ethical situations (</a:t>
            </a:r>
            <a:r>
              <a:rPr lang="en-IN" dirty="0" err="1" smtClean="0"/>
              <a:t>i.e</a:t>
            </a:r>
            <a:r>
              <a:rPr lang="en-IN" dirty="0" smtClean="0"/>
              <a:t>, advice lines or offices);</a:t>
            </a:r>
          </a:p>
          <a:p>
            <a:r>
              <a:rPr lang="en-IN" dirty="0" smtClean="0"/>
              <a:t>Systems for confidential reporting.</a:t>
            </a:r>
          </a:p>
          <a:p>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
          </p:nvPr>
        </p:nvSpPr>
        <p:spPr/>
        <p:txBody>
          <a:bodyPr/>
          <a:lstStyle/>
          <a:p>
            <a:endParaRPr lang="en-US" dirty="0"/>
          </a:p>
        </p:txBody>
      </p:sp>
      <p:sp>
        <p:nvSpPr>
          <p:cNvPr id="2" name="Title 1"/>
          <p:cNvSpPr>
            <a:spLocks noGrp="1"/>
          </p:cNvSpPr>
          <p:nvPr>
            <p:ph type="title"/>
          </p:nvPr>
        </p:nvSpPr>
        <p:spPr/>
        <p:txBody>
          <a:bodyPr>
            <a:normAutofit fontScale="90000"/>
          </a:bodyPr>
          <a:lstStyle/>
          <a:p>
            <a:r>
              <a:rPr lang="en-US" dirty="0" smtClean="0">
                <a:solidFill>
                  <a:schemeClr val="tx1"/>
                </a:solidFill>
              </a:rPr>
              <a:t>Economic Ideologies and Their Relationship to Business Ethics</a:t>
            </a:r>
            <a:endParaRPr lang="en-IN" dirty="0">
              <a:solidFill>
                <a:schemeClr val="tx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Capitalism</a:t>
            </a:r>
          </a:p>
        </p:txBody>
      </p:sp>
      <p:sp>
        <p:nvSpPr>
          <p:cNvPr id="3" name="Content Placeholder 2"/>
          <p:cNvSpPr>
            <a:spLocks noGrp="1"/>
          </p:cNvSpPr>
          <p:nvPr>
            <p:ph sz="quarter" idx="1"/>
          </p:nvPr>
        </p:nvSpPr>
        <p:spPr/>
        <p:txBody>
          <a:bodyPr>
            <a:normAutofit fontScale="92500" lnSpcReduction="20000"/>
          </a:bodyPr>
          <a:lstStyle/>
          <a:p>
            <a:r>
              <a:rPr lang="en-US" dirty="0" smtClean="0"/>
              <a:t>Capitalism is an economic system based on private ownership of the means of production and their operation for profit. Ethical concerns in capitalism include issues such as:</a:t>
            </a:r>
          </a:p>
          <a:p>
            <a:r>
              <a:rPr lang="en-US" b="1" dirty="0" smtClean="0"/>
              <a:t>Profit Maximization</a:t>
            </a:r>
            <a:r>
              <a:rPr lang="en-US" dirty="0" smtClean="0"/>
              <a:t>: The pursuit of profit may lead businesses to adopt unethical practices, such as exploiting workers or disregarding environmental concerns.</a:t>
            </a:r>
          </a:p>
          <a:p>
            <a:r>
              <a:rPr lang="en-US" b="1" dirty="0" smtClean="0"/>
              <a:t>Wealth Inequality</a:t>
            </a:r>
            <a:r>
              <a:rPr lang="en-US" dirty="0" smtClean="0"/>
              <a:t>: Capitalism often results in large income gaps between the wealthy and the working class, raising ethical questions about fairness and social justice.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ow Capitalism Affects the Environment: Political Cartoons | by Matt  Pierson | Medium"/>
          <p:cNvPicPr>
            <a:picLocks noChangeAspect="1" noChangeArrowheads="1"/>
          </p:cNvPicPr>
          <p:nvPr/>
        </p:nvPicPr>
        <p:blipFill>
          <a:blip r:embed="rId2" cstate="print"/>
          <a:srcRect/>
          <a:stretch>
            <a:fillRect/>
          </a:stretch>
        </p:blipFill>
        <p:spPr bwMode="auto">
          <a:xfrm>
            <a:off x="107504" y="188640"/>
            <a:ext cx="4355976" cy="6142187"/>
          </a:xfrm>
          <a:prstGeom prst="rect">
            <a:avLst/>
          </a:prstGeom>
          <a:noFill/>
        </p:spPr>
      </p:pic>
      <p:pic>
        <p:nvPicPr>
          <p:cNvPr id="1028" name="Picture 4" descr="15,031 Capitalist Images, Stock Photos &amp; Vectors | Shutterstock"/>
          <p:cNvPicPr>
            <a:picLocks noChangeAspect="1" noChangeArrowheads="1"/>
          </p:cNvPicPr>
          <p:nvPr/>
        </p:nvPicPr>
        <p:blipFill>
          <a:blip r:embed="rId3" cstate="print"/>
          <a:srcRect/>
          <a:stretch>
            <a:fillRect/>
          </a:stretch>
        </p:blipFill>
        <p:spPr bwMode="auto">
          <a:xfrm>
            <a:off x="4355976" y="188640"/>
            <a:ext cx="4662518" cy="3528392"/>
          </a:xfrm>
          <a:prstGeom prst="rect">
            <a:avLst/>
          </a:prstGeom>
          <a:noFill/>
        </p:spPr>
      </p:pic>
      <p:pic>
        <p:nvPicPr>
          <p:cNvPr id="2" name="Picture 1"/>
          <p:cNvPicPr>
            <a:picLocks noChangeAspect="1"/>
          </p:cNvPicPr>
          <p:nvPr/>
        </p:nvPicPr>
        <p:blipFill>
          <a:blip r:embed="rId4"/>
          <a:stretch>
            <a:fillRect/>
          </a:stretch>
        </p:blipFill>
        <p:spPr>
          <a:xfrm>
            <a:off x="4368512" y="3378499"/>
            <a:ext cx="4736526" cy="295232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Socialism</a:t>
            </a:r>
            <a:endParaRPr lang="en-US" dirty="0"/>
          </a:p>
        </p:txBody>
      </p:sp>
      <p:sp>
        <p:nvSpPr>
          <p:cNvPr id="3" name="Content Placeholder 2"/>
          <p:cNvSpPr>
            <a:spLocks noGrp="1"/>
          </p:cNvSpPr>
          <p:nvPr>
            <p:ph sz="quarter" idx="1"/>
          </p:nvPr>
        </p:nvSpPr>
        <p:spPr/>
        <p:txBody>
          <a:bodyPr>
            <a:normAutofit lnSpcReduction="10000"/>
          </a:bodyPr>
          <a:lstStyle/>
          <a:p>
            <a:r>
              <a:rPr lang="en-US" dirty="0" smtClean="0"/>
              <a:t>Socialism advocates for collective or governmental ownership and control of the means of production, distribution, and exchange. Ethical issues in socialist systems might include:</a:t>
            </a:r>
          </a:p>
          <a:p>
            <a:r>
              <a:rPr lang="en-US" b="1" dirty="0" smtClean="0"/>
              <a:t>Resource Allocation</a:t>
            </a:r>
            <a:r>
              <a:rPr lang="en-US" dirty="0" smtClean="0"/>
              <a:t>: Ethical questions arise over the fair distribution of resources, jobs, and wealth.</a:t>
            </a:r>
          </a:p>
          <a:p>
            <a:r>
              <a:rPr lang="en-US" b="1" dirty="0" smtClean="0"/>
              <a:t>Government Control</a:t>
            </a:r>
            <a:r>
              <a:rPr lang="en-US" dirty="0" smtClean="0"/>
              <a:t>: The concentration of power in the hands of the government can lead to unethical practices, such as corruption and lack of individual freedom.</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Communism</a:t>
            </a:r>
            <a:endParaRPr lang="en-US" dirty="0"/>
          </a:p>
        </p:txBody>
      </p:sp>
      <p:sp>
        <p:nvSpPr>
          <p:cNvPr id="3" name="Content Placeholder 2"/>
          <p:cNvSpPr>
            <a:spLocks noGrp="1"/>
          </p:cNvSpPr>
          <p:nvPr>
            <p:ph sz="quarter" idx="1"/>
          </p:nvPr>
        </p:nvSpPr>
        <p:spPr/>
        <p:txBody>
          <a:bodyPr>
            <a:normAutofit lnSpcReduction="10000"/>
          </a:bodyPr>
          <a:lstStyle/>
          <a:p>
            <a:r>
              <a:rPr lang="en-US" dirty="0" smtClean="0"/>
              <a:t>Communism is a political and economic ideology advocating for a classless society where the means of production are commonly owned. Ethical issues in communism include:</a:t>
            </a:r>
          </a:p>
          <a:p>
            <a:r>
              <a:rPr lang="en-US" b="1" dirty="0" smtClean="0"/>
              <a:t>State Control</a:t>
            </a:r>
            <a:r>
              <a:rPr lang="en-US" dirty="0" smtClean="0"/>
              <a:t>: The totalitarian nature of some communist regimes can result in human rights violations.</a:t>
            </a:r>
          </a:p>
          <a:p>
            <a:r>
              <a:rPr lang="en-US" b="1" dirty="0" smtClean="0"/>
              <a:t>Freedom of Choice</a:t>
            </a:r>
            <a:r>
              <a:rPr lang="en-US" dirty="0" smtClean="0"/>
              <a:t>: The lack of private enterprise may limit personal freedom and economic opportunities.</a:t>
            </a: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sz="quarter" idx="4294967295"/>
          </p:nvPr>
        </p:nvPicPr>
        <p:blipFill rotWithShape="1">
          <a:blip r:embed="rId2"/>
          <a:srcRect t="5875"/>
          <a:stretch/>
        </p:blipFill>
        <p:spPr>
          <a:xfrm>
            <a:off x="323528" y="260648"/>
            <a:ext cx="8683625" cy="6129337"/>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Business Ethics &amp; Global Business Practices</a:t>
            </a:r>
            <a:endParaRPr lang="en-US" dirty="0"/>
          </a:p>
        </p:txBody>
      </p:sp>
      <p:sp>
        <p:nvSpPr>
          <p:cNvPr id="3" name="Content Placeholder 2"/>
          <p:cNvSpPr>
            <a:spLocks noGrp="1"/>
          </p:cNvSpPr>
          <p:nvPr>
            <p:ph sz="quarter" idx="1"/>
          </p:nvPr>
        </p:nvSpPr>
        <p:spPr/>
        <p:txBody>
          <a:bodyPr>
            <a:normAutofit fontScale="85000" lnSpcReduction="20000"/>
          </a:bodyPr>
          <a:lstStyle/>
          <a:p>
            <a:r>
              <a:rPr lang="en-US" dirty="0" smtClean="0"/>
              <a:t>Global businesses face ethical challenges that arise from differing cultural norms and legal standards. Ethical issues in global business practices may include:</a:t>
            </a:r>
          </a:p>
          <a:p>
            <a:r>
              <a:rPr lang="en-US" b="1" dirty="0" smtClean="0"/>
              <a:t>Corruption</a:t>
            </a:r>
            <a:r>
              <a:rPr lang="en-US" dirty="0" smtClean="0"/>
              <a:t>: In some countries, bribery or other corrupt practices are normalized, leading to ethical dilemmas for businesses operating internationally.</a:t>
            </a:r>
          </a:p>
          <a:p>
            <a:r>
              <a:rPr lang="en-US" b="1" dirty="0" smtClean="0"/>
              <a:t>Labor Rights</a:t>
            </a:r>
            <a:r>
              <a:rPr lang="en-US" dirty="0" smtClean="0"/>
              <a:t>: Businesses sourcing products from countries with poor labor standards may be complicit in unethical practices like child labor or unsafe working conditions.</a:t>
            </a:r>
          </a:p>
          <a:p>
            <a:r>
              <a:rPr lang="en-US" b="1" dirty="0" smtClean="0"/>
              <a:t>Environmental Responsibility</a:t>
            </a:r>
            <a:r>
              <a:rPr lang="en-US" dirty="0" smtClean="0"/>
              <a:t>: International companies must balance profitability with environmental sustainability, particularly in developing countries with weak environmental laws.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Consumerism</a:t>
            </a:r>
            <a:endParaRPr lang="en-US" dirty="0"/>
          </a:p>
        </p:txBody>
      </p:sp>
      <p:sp>
        <p:nvSpPr>
          <p:cNvPr id="3" name="Content Placeholder 2"/>
          <p:cNvSpPr>
            <a:spLocks noGrp="1"/>
          </p:cNvSpPr>
          <p:nvPr>
            <p:ph sz="quarter" idx="1"/>
          </p:nvPr>
        </p:nvSpPr>
        <p:spPr/>
        <p:txBody>
          <a:bodyPr>
            <a:normAutofit/>
          </a:bodyPr>
          <a:lstStyle/>
          <a:p>
            <a:r>
              <a:rPr lang="en-US" dirty="0" smtClean="0"/>
              <a:t>Consumerism emphasizes the protection and promotion of consumer interests. Ethical concerns in consumerism include:</a:t>
            </a:r>
          </a:p>
          <a:p>
            <a:r>
              <a:rPr lang="en-US" b="1" dirty="0" smtClean="0"/>
              <a:t>Exploitation</a:t>
            </a:r>
            <a:r>
              <a:rPr lang="en-US" dirty="0" smtClean="0"/>
              <a:t>: Companies may engage in practices that deceive or unfairly target vulnerable consumers.</a:t>
            </a:r>
          </a:p>
          <a:p>
            <a:r>
              <a:rPr lang="en-US" b="1" dirty="0" smtClean="0"/>
              <a:t>Environmental Impact</a:t>
            </a:r>
            <a:r>
              <a:rPr lang="en-US" dirty="0" smtClean="0"/>
              <a:t>: Overconsumption driven by marketing practices can lead to resource depletion and environmental harm.</a:t>
            </a:r>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fontScale="92500" lnSpcReduction="20000"/>
          </a:bodyPr>
          <a:lstStyle/>
          <a:p>
            <a:pPr>
              <a:buNone/>
            </a:pPr>
            <a:r>
              <a:rPr lang="en-US" b="1" dirty="0" smtClean="0"/>
              <a:t>Human Rights, Healthcare, and </a:t>
            </a:r>
            <a:r>
              <a:rPr lang="en-US" b="1" dirty="0" err="1" smtClean="0"/>
              <a:t>Labour</a:t>
            </a:r>
            <a:endParaRPr lang="en-US" b="1" dirty="0" smtClean="0"/>
          </a:p>
          <a:p>
            <a:r>
              <a:rPr lang="en-US" dirty="0" smtClean="0"/>
              <a:t>Business operations that violate human rights, neglect healthcare responsibilities, or exploit labor can lead to serious ethical issues. Ethical business practices ensure workers' rights are protected and healthcare standards are upheld.</a:t>
            </a:r>
          </a:p>
          <a:p>
            <a:pPr>
              <a:buNone/>
            </a:pPr>
            <a:r>
              <a:rPr lang="en-US" b="1" dirty="0" smtClean="0"/>
              <a:t>Sustainable Development</a:t>
            </a:r>
          </a:p>
          <a:p>
            <a:r>
              <a:rPr lang="en-US" dirty="0" smtClean="0"/>
              <a:t>Businesses must prioritize sustainability by minimizing environmental damage and ensuring long-term economic stability. Ethical businesses engage in practices that protect the environment, use resources efficiently, and contribute to social well-being.</a:t>
            </a:r>
          </a:p>
          <a:p>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
          </p:nvPr>
        </p:nvSpPr>
        <p:spPr/>
        <p:txBody>
          <a:bodyPr/>
          <a:lstStyle/>
          <a:p>
            <a:endParaRPr lang="en-US"/>
          </a:p>
        </p:txBody>
      </p:sp>
      <p:sp>
        <p:nvSpPr>
          <p:cNvPr id="4" name="Title 3"/>
          <p:cNvSpPr>
            <a:spLocks noGrp="1"/>
          </p:cNvSpPr>
          <p:nvPr>
            <p:ph type="title"/>
          </p:nvPr>
        </p:nvSpPr>
        <p:spPr/>
        <p:txBody>
          <a:bodyPr/>
          <a:lstStyle/>
          <a:p>
            <a:r>
              <a:rPr lang="en-US" dirty="0" smtClean="0"/>
              <a:t>Ethical Decision-Making Models</a:t>
            </a:r>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Tucker’s 5 question model</a:t>
            </a:r>
            <a:endParaRPr lang="en-GB" dirty="0"/>
          </a:p>
        </p:txBody>
      </p:sp>
      <p:sp>
        <p:nvSpPr>
          <p:cNvPr id="3" name="Content Placeholder 2"/>
          <p:cNvSpPr>
            <a:spLocks noGrp="1"/>
          </p:cNvSpPr>
          <p:nvPr>
            <p:ph sz="quarter" idx="1"/>
          </p:nvPr>
        </p:nvSpPr>
        <p:spPr/>
        <p:txBody>
          <a:bodyPr>
            <a:normAutofit/>
          </a:bodyPr>
          <a:lstStyle/>
          <a:p>
            <a:r>
              <a:rPr lang="en-US" dirty="0" smtClean="0"/>
              <a:t>Tucker’s </a:t>
            </a:r>
            <a:r>
              <a:rPr lang="en-US" dirty="0"/>
              <a:t>5 question model for ethical decision-making in business is based on the view that the profit motive is justified, and the purpose of decision-making in business should be to make a profit. </a:t>
            </a:r>
            <a:endParaRPr lang="en-US" dirty="0" smtClean="0"/>
          </a:p>
          <a:p>
            <a:r>
              <a:rPr lang="en-US" dirty="0" smtClean="0"/>
              <a:t>However</a:t>
            </a:r>
            <a:r>
              <a:rPr lang="en-US" dirty="0"/>
              <a:t>, profits should be made in an ethical way. In order to be ethically correct, business decisions and actions should be legal. Activities outside the law by a business cannot be correct. </a:t>
            </a:r>
            <a:endParaRPr lang="en-US" dirty="0" smtClean="0"/>
          </a:p>
        </p:txBody>
      </p:sp>
    </p:spTree>
    <p:extLst>
      <p:ext uri="{BB962C8B-B14F-4D97-AF65-F5344CB8AC3E}">
        <p14:creationId xmlns="" xmlns:p14="http://schemas.microsoft.com/office/powerpoint/2010/main" val="13609650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sz="quarter" idx="1"/>
          </p:nvPr>
        </p:nvSpPr>
        <p:spPr/>
        <p:txBody>
          <a:bodyPr>
            <a:normAutofit/>
          </a:bodyPr>
          <a:lstStyle/>
          <a:p>
            <a:r>
              <a:rPr lang="en-US" dirty="0"/>
              <a:t>Business should also be conducted in a fair way, without deception or other ‘under-hand’ acts. </a:t>
            </a:r>
            <a:endParaRPr lang="en-US" dirty="0" smtClean="0"/>
          </a:p>
          <a:p>
            <a:r>
              <a:rPr lang="en-US" dirty="0" smtClean="0"/>
              <a:t>For </a:t>
            </a:r>
            <a:r>
              <a:rPr lang="en-US" dirty="0"/>
              <a:t>example, competitors should be treated with respect, and customers and employees should be treated in a fair way. </a:t>
            </a:r>
            <a:endParaRPr lang="en-US" dirty="0" smtClean="0"/>
          </a:p>
          <a:p>
            <a:r>
              <a:rPr lang="en-US" dirty="0" smtClean="0"/>
              <a:t>Tucker’s </a:t>
            </a:r>
            <a:r>
              <a:rPr lang="en-US" dirty="0"/>
              <a:t>model is also based on the view that decisions should not be taken in business if they do not support sustainable business or could be damaging to the environment. </a:t>
            </a:r>
            <a:endParaRPr lang="en-GB" dirty="0"/>
          </a:p>
        </p:txBody>
      </p:sp>
    </p:spTree>
    <p:extLst>
      <p:ext uri="{BB962C8B-B14F-4D97-AF65-F5344CB8AC3E}">
        <p14:creationId xmlns="" xmlns:p14="http://schemas.microsoft.com/office/powerpoint/2010/main" val="33910111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Five questions</a:t>
            </a:r>
            <a:endParaRPr lang="en-GB" dirty="0"/>
          </a:p>
        </p:txBody>
      </p:sp>
      <p:sp>
        <p:nvSpPr>
          <p:cNvPr id="3" name="Content Placeholder 2"/>
          <p:cNvSpPr>
            <a:spLocks noGrp="1"/>
          </p:cNvSpPr>
          <p:nvPr>
            <p:ph sz="quarter" idx="1"/>
          </p:nvPr>
        </p:nvSpPr>
        <p:spPr/>
        <p:txBody>
          <a:bodyPr/>
          <a:lstStyle/>
          <a:p>
            <a:pPr marL="571500" indent="-571500">
              <a:buFont typeface="+mj-lt"/>
              <a:buAutoNum type="romanLcPeriod"/>
            </a:pPr>
            <a:r>
              <a:rPr lang="en-US" dirty="0"/>
              <a:t>Is it profitable?</a:t>
            </a:r>
          </a:p>
          <a:p>
            <a:pPr marL="571500" indent="-571500">
              <a:buFont typeface="+mj-lt"/>
              <a:buAutoNum type="romanLcPeriod"/>
            </a:pPr>
            <a:r>
              <a:rPr lang="en-US" dirty="0" smtClean="0"/>
              <a:t>Is </a:t>
            </a:r>
            <a:r>
              <a:rPr lang="en-US" dirty="0"/>
              <a:t>it legal?</a:t>
            </a:r>
          </a:p>
          <a:p>
            <a:pPr marL="571500" indent="-571500">
              <a:buFont typeface="+mj-lt"/>
              <a:buAutoNum type="romanLcPeriod"/>
            </a:pPr>
            <a:r>
              <a:rPr lang="en-US" dirty="0" smtClean="0"/>
              <a:t>Is </a:t>
            </a:r>
            <a:r>
              <a:rPr lang="en-US" dirty="0"/>
              <a:t>it fair?</a:t>
            </a:r>
          </a:p>
          <a:p>
            <a:pPr marL="571500" indent="-571500">
              <a:buFont typeface="+mj-lt"/>
              <a:buAutoNum type="romanLcPeriod"/>
            </a:pPr>
            <a:r>
              <a:rPr lang="en-US" dirty="0" smtClean="0"/>
              <a:t>Is </a:t>
            </a:r>
            <a:r>
              <a:rPr lang="en-US" dirty="0"/>
              <a:t>it right?</a:t>
            </a:r>
          </a:p>
          <a:p>
            <a:pPr marL="571500" indent="-571500">
              <a:buFont typeface="+mj-lt"/>
              <a:buAutoNum type="romanLcPeriod"/>
            </a:pPr>
            <a:r>
              <a:rPr lang="en-US" dirty="0" smtClean="0"/>
              <a:t>Is </a:t>
            </a:r>
            <a:r>
              <a:rPr lang="en-US" dirty="0"/>
              <a:t>it sustainable or environmentally sound? </a:t>
            </a:r>
          </a:p>
          <a:p>
            <a:endParaRPr lang="en-GB" dirty="0"/>
          </a:p>
        </p:txBody>
      </p:sp>
    </p:spTree>
    <p:extLst>
      <p:ext uri="{BB962C8B-B14F-4D97-AF65-F5344CB8AC3E}">
        <p14:creationId xmlns="" xmlns:p14="http://schemas.microsoft.com/office/powerpoint/2010/main" val="20744360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Scenario </a:t>
            </a:r>
            <a:endParaRPr lang="en-GB" dirty="0"/>
          </a:p>
        </p:txBody>
      </p:sp>
      <p:sp>
        <p:nvSpPr>
          <p:cNvPr id="3" name="Content Placeholder 2"/>
          <p:cNvSpPr>
            <a:spLocks noGrp="1"/>
          </p:cNvSpPr>
          <p:nvPr>
            <p:ph sz="quarter" idx="1"/>
          </p:nvPr>
        </p:nvSpPr>
        <p:spPr/>
        <p:txBody>
          <a:bodyPr>
            <a:normAutofit fontScale="85000" lnSpcReduction="20000"/>
          </a:bodyPr>
          <a:lstStyle/>
          <a:p>
            <a:pPr algn="just"/>
            <a:r>
              <a:rPr lang="en-US" dirty="0"/>
              <a:t>An international company is planning to build a new manufacturing plant in a developing country. The country was chosen because costs of land and labour are cheap, so the forecast profits are high. The plant will be built on a ‘brown field’ site just outside the country’s capital city, which used to be the site of another factory that has now been closed down. The company intends to build a plant that will use modern technology that keeps environmental emissions at a low level. The country’s government has approved the building of the new plant, and the local population is eagerly waiting for construction to begin, bringing with it much needed commercial activity – and jobs. The government believes that the plant will bring economic growth to the country’s economy. </a:t>
            </a:r>
            <a:endParaRPr lang="en-GB" dirty="0"/>
          </a:p>
        </p:txBody>
      </p:sp>
    </p:spTree>
    <p:extLst>
      <p:ext uri="{BB962C8B-B14F-4D97-AF65-F5344CB8AC3E}">
        <p14:creationId xmlns="" xmlns:p14="http://schemas.microsoft.com/office/powerpoint/2010/main" val="13898800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Answer</a:t>
            </a:r>
            <a:endParaRPr lang="en-GB" dirty="0"/>
          </a:p>
        </p:txBody>
      </p:sp>
      <p:sp>
        <p:nvSpPr>
          <p:cNvPr id="3" name="Content Placeholder 2"/>
          <p:cNvSpPr>
            <a:spLocks noGrp="1"/>
          </p:cNvSpPr>
          <p:nvPr>
            <p:ph sz="quarter" idx="1"/>
          </p:nvPr>
        </p:nvSpPr>
        <p:spPr>
          <a:xfrm>
            <a:off x="612648" y="1600200"/>
            <a:ext cx="8153400" cy="4781128"/>
          </a:xfrm>
        </p:spPr>
        <p:txBody>
          <a:bodyPr>
            <a:noAutofit/>
          </a:bodyPr>
          <a:lstStyle/>
          <a:p>
            <a:pPr algn="just"/>
            <a:r>
              <a:rPr lang="en-US" sz="2000" dirty="0" smtClean="0"/>
              <a:t>Question </a:t>
            </a:r>
            <a:r>
              <a:rPr lang="en-US" sz="2000" dirty="0"/>
              <a:t>1. Is it profitable? The answer seems to be Yes. The country was chosen because of </a:t>
            </a:r>
            <a:r>
              <a:rPr lang="en-US" sz="2000" dirty="0" smtClean="0"/>
              <a:t>its low </a:t>
            </a:r>
            <a:r>
              <a:rPr lang="en-US" sz="2000" dirty="0"/>
              <a:t>cost of land and labour.</a:t>
            </a:r>
          </a:p>
          <a:p>
            <a:pPr algn="just"/>
            <a:r>
              <a:rPr lang="en-US" sz="2000" dirty="0"/>
              <a:t>Question 2. Is it legal? The answer seems to be Yes, because the government has </a:t>
            </a:r>
            <a:r>
              <a:rPr lang="en-US" sz="2000" dirty="0" smtClean="0"/>
              <a:t>given permission </a:t>
            </a:r>
            <a:r>
              <a:rPr lang="en-US" sz="2000" dirty="0"/>
              <a:t>for the plant to be built.</a:t>
            </a:r>
          </a:p>
          <a:p>
            <a:pPr algn="just"/>
            <a:r>
              <a:rPr lang="en-US" sz="2000" dirty="0"/>
              <a:t>Question 3. Is it fair? There is no reason to suppose that it is not fair. The only stakeholders </a:t>
            </a:r>
            <a:r>
              <a:rPr lang="en-US" sz="2000" dirty="0" smtClean="0"/>
              <a:t>in the </a:t>
            </a:r>
            <a:r>
              <a:rPr lang="en-US" sz="2000" dirty="0"/>
              <a:t>example are the government and the local population. Both seem to support the building </a:t>
            </a:r>
            <a:r>
              <a:rPr lang="en-US" sz="2000" dirty="0" smtClean="0"/>
              <a:t>of the </a:t>
            </a:r>
            <a:r>
              <a:rPr lang="en-US" sz="2000" dirty="0"/>
              <a:t>plant, and this suggests that the project is fair.</a:t>
            </a:r>
          </a:p>
          <a:p>
            <a:pPr algn="just"/>
            <a:r>
              <a:rPr lang="en-US" sz="2000" dirty="0"/>
              <a:t>Question 4. Is it right? The answer seems to be Yes. The project will bring jobs, wealth </a:t>
            </a:r>
            <a:r>
              <a:rPr lang="en-US" sz="2000" dirty="0" smtClean="0"/>
              <a:t>and economic </a:t>
            </a:r>
            <a:r>
              <a:rPr lang="en-US" sz="2000" dirty="0"/>
              <a:t>growth. There are no obvious reasons why the project is ‘Not right’.</a:t>
            </a:r>
          </a:p>
          <a:p>
            <a:pPr algn="just"/>
            <a:r>
              <a:rPr lang="en-US" sz="2000" dirty="0"/>
              <a:t>Question 5. Is it sustainable or economically sound? The answer seems to be Yes, because </a:t>
            </a:r>
            <a:r>
              <a:rPr lang="en-US" sz="2000" dirty="0" smtClean="0"/>
              <a:t>the plant </a:t>
            </a:r>
            <a:r>
              <a:rPr lang="en-US" sz="2000" dirty="0"/>
              <a:t>will be built using modern technology that keeps environmental emissions at a low </a:t>
            </a:r>
            <a:r>
              <a:rPr lang="en-US" sz="2000" dirty="0" smtClean="0"/>
              <a:t>level. In </a:t>
            </a:r>
            <a:r>
              <a:rPr lang="en-US" sz="2000" dirty="0"/>
              <a:t>this simple case, the decision to build the plant would be ethical. </a:t>
            </a:r>
            <a:endParaRPr lang="en-GB" sz="2000" dirty="0"/>
          </a:p>
        </p:txBody>
      </p:sp>
    </p:spTree>
    <p:extLst>
      <p:ext uri="{BB962C8B-B14F-4D97-AF65-F5344CB8AC3E}">
        <p14:creationId xmlns="" xmlns:p14="http://schemas.microsoft.com/office/powerpoint/2010/main" val="17719563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American Accounting Association (AAA) model</a:t>
            </a:r>
            <a:endParaRPr lang="en-GB" dirty="0"/>
          </a:p>
        </p:txBody>
      </p:sp>
      <p:sp>
        <p:nvSpPr>
          <p:cNvPr id="3" name="Content Placeholder 2"/>
          <p:cNvSpPr>
            <a:spLocks noGrp="1"/>
          </p:cNvSpPr>
          <p:nvPr>
            <p:ph sz="quarter" idx="1"/>
          </p:nvPr>
        </p:nvSpPr>
        <p:spPr/>
        <p:txBody>
          <a:bodyPr>
            <a:normAutofit fontScale="92500" lnSpcReduction="20000"/>
          </a:bodyPr>
          <a:lstStyle/>
          <a:p>
            <a:pPr marL="0" indent="0">
              <a:buNone/>
            </a:pPr>
            <a:r>
              <a:rPr lang="en-US" dirty="0"/>
              <a:t>The seven question in the model are:</a:t>
            </a:r>
          </a:p>
          <a:p>
            <a:pPr marL="0" indent="0">
              <a:buNone/>
            </a:pPr>
            <a:r>
              <a:rPr lang="en-US" dirty="0"/>
              <a:t>(1)What are the facts of the case?</a:t>
            </a:r>
          </a:p>
          <a:p>
            <a:pPr marL="0" indent="0">
              <a:buNone/>
            </a:pPr>
            <a:r>
              <a:rPr lang="en-US" dirty="0"/>
              <a:t>(2)What are the ethical issues in the case?</a:t>
            </a:r>
          </a:p>
          <a:p>
            <a:pPr marL="0" indent="0">
              <a:buNone/>
            </a:pPr>
            <a:r>
              <a:rPr lang="en-US" dirty="0"/>
              <a:t>(3)What are the norms, principles and values related to the case?</a:t>
            </a:r>
          </a:p>
          <a:p>
            <a:pPr marL="0" indent="0">
              <a:buNone/>
            </a:pPr>
            <a:r>
              <a:rPr lang="en-US" dirty="0"/>
              <a:t>(4)What are the alternative courses of action?</a:t>
            </a:r>
          </a:p>
          <a:p>
            <a:pPr marL="0" indent="0">
              <a:buNone/>
            </a:pPr>
            <a:r>
              <a:rPr lang="en-US" dirty="0"/>
              <a:t>(5)What is the best course of action that is consistent with the norms, principles and values identified in step 3?</a:t>
            </a:r>
          </a:p>
          <a:p>
            <a:pPr marL="0" indent="0">
              <a:buNone/>
            </a:pPr>
            <a:r>
              <a:rPr lang="en-US" dirty="0"/>
              <a:t>(6)What are the consequences of each possible course of action?</a:t>
            </a:r>
          </a:p>
          <a:p>
            <a:pPr marL="0" indent="0">
              <a:buNone/>
            </a:pPr>
            <a:r>
              <a:rPr lang="en-US" dirty="0"/>
              <a:t>(7)What is the decision</a:t>
            </a:r>
            <a:r>
              <a:rPr lang="en-US" dirty="0" smtClean="0"/>
              <a:t>?</a:t>
            </a:r>
            <a:endParaRPr lang="en-US" dirty="0"/>
          </a:p>
        </p:txBody>
      </p:sp>
    </p:spTree>
    <p:extLst>
      <p:ext uri="{BB962C8B-B14F-4D97-AF65-F5344CB8AC3E}">
        <p14:creationId xmlns="" xmlns:p14="http://schemas.microsoft.com/office/powerpoint/2010/main" val="4693794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Two </a:t>
            </a:r>
            <a:r>
              <a:rPr lang="en-US" dirty="0"/>
              <a:t>Stages of ethical decision </a:t>
            </a:r>
            <a:r>
              <a:rPr lang="en-US" dirty="0" smtClean="0"/>
              <a:t>making</a:t>
            </a:r>
            <a:endParaRPr lang="en-GB" dirty="0"/>
          </a:p>
        </p:txBody>
      </p:sp>
      <p:sp>
        <p:nvSpPr>
          <p:cNvPr id="3" name="Content Placeholder 2"/>
          <p:cNvSpPr>
            <a:spLocks noGrp="1"/>
          </p:cNvSpPr>
          <p:nvPr>
            <p:ph sz="quarter" idx="1"/>
          </p:nvPr>
        </p:nvSpPr>
        <p:spPr/>
        <p:txBody>
          <a:bodyPr/>
          <a:lstStyle/>
          <a:p>
            <a:r>
              <a:rPr lang="en-US" dirty="0" smtClean="0"/>
              <a:t>Ethical </a:t>
            </a:r>
            <a:r>
              <a:rPr lang="en-US" dirty="0"/>
              <a:t>decision making involves:</a:t>
            </a:r>
          </a:p>
          <a:p>
            <a:pPr lvl="1"/>
            <a:r>
              <a:rPr lang="en-US" dirty="0"/>
              <a:t>a 4-stage process</a:t>
            </a:r>
          </a:p>
          <a:p>
            <a:pPr lvl="1"/>
            <a:r>
              <a:rPr lang="en-US" dirty="0"/>
              <a:t>is influenced by individual and situational factors</a:t>
            </a:r>
          </a:p>
          <a:p>
            <a:pPr lvl="1"/>
            <a:r>
              <a:rPr lang="en-US" dirty="0"/>
              <a:t>can be applied to </a:t>
            </a:r>
            <a:r>
              <a:rPr lang="en-US" b="1" dirty="0"/>
              <a:t>Kohlberg's</a:t>
            </a:r>
            <a:r>
              <a:rPr lang="en-US" dirty="0"/>
              <a:t> CMD theory (chapter 13) in terms of business decision making.</a:t>
            </a:r>
          </a:p>
          <a:p>
            <a:r>
              <a:rPr lang="en-US" dirty="0"/>
              <a:t>The four stages of ethical decision making can be </a:t>
            </a:r>
            <a:r>
              <a:rPr lang="en-US" dirty="0" err="1"/>
              <a:t>summarised</a:t>
            </a:r>
            <a:r>
              <a:rPr lang="en-US" dirty="0"/>
              <a:t> as follows:</a:t>
            </a:r>
          </a:p>
          <a:p>
            <a:endParaRPr lang="en-GB" dirty="0"/>
          </a:p>
        </p:txBody>
      </p:sp>
    </p:spTree>
    <p:extLst>
      <p:ext uri="{BB962C8B-B14F-4D97-AF65-F5344CB8AC3E}">
        <p14:creationId xmlns="" xmlns:p14="http://schemas.microsoft.com/office/powerpoint/2010/main" val="14914316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4" name="Content Placeholder 3"/>
          <p:cNvPicPr>
            <a:picLocks noGrp="1" noChangeAspect="1"/>
          </p:cNvPicPr>
          <p:nvPr>
            <p:ph sz="quarter" idx="1"/>
          </p:nvPr>
        </p:nvPicPr>
        <p:blipFill>
          <a:blip r:embed="rId2"/>
          <a:stretch>
            <a:fillRect/>
          </a:stretch>
        </p:blipFill>
        <p:spPr>
          <a:xfrm>
            <a:off x="612648" y="404664"/>
            <a:ext cx="8309902" cy="5400600"/>
          </a:xfrm>
          <a:prstGeom prst="rect">
            <a:avLst/>
          </a:prstGeom>
        </p:spPr>
      </p:pic>
    </p:spTree>
    <p:extLst>
      <p:ext uri="{BB962C8B-B14F-4D97-AF65-F5344CB8AC3E}">
        <p14:creationId xmlns="" xmlns:p14="http://schemas.microsoft.com/office/powerpoint/2010/main" val="24819035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sz="quarter" idx="1"/>
          </p:nvPr>
        </p:nvSpPr>
        <p:spPr/>
        <p:txBody>
          <a:bodyPr>
            <a:normAutofit fontScale="85000" lnSpcReduction="20000"/>
          </a:bodyPr>
          <a:lstStyle/>
          <a:p>
            <a:r>
              <a:rPr lang="en-US" dirty="0"/>
              <a:t>The model distinguishes between</a:t>
            </a:r>
          </a:p>
          <a:p>
            <a:pPr lvl="1"/>
            <a:r>
              <a:rPr lang="en-US" dirty="0"/>
              <a:t>knowing what is the correct thing to do (</a:t>
            </a:r>
            <a:r>
              <a:rPr lang="en-US" dirty="0" err="1"/>
              <a:t>recognising</a:t>
            </a:r>
            <a:r>
              <a:rPr lang="en-US" dirty="0"/>
              <a:t> the </a:t>
            </a:r>
            <a:r>
              <a:rPr lang="en-US" b="1" dirty="0"/>
              <a:t>moral issue</a:t>
            </a:r>
            <a:r>
              <a:rPr lang="en-US" dirty="0"/>
              <a:t>) and</a:t>
            </a:r>
          </a:p>
          <a:p>
            <a:pPr lvl="1"/>
            <a:r>
              <a:rPr lang="en-US" dirty="0"/>
              <a:t>the actual action taken (the </a:t>
            </a:r>
            <a:r>
              <a:rPr lang="en-US" b="1" dirty="0"/>
              <a:t>moral behaviour</a:t>
            </a:r>
            <a:r>
              <a:rPr lang="en-US" dirty="0"/>
              <a:t> â€“ or lack of it).</a:t>
            </a:r>
          </a:p>
          <a:p>
            <a:r>
              <a:rPr lang="en-US" dirty="0"/>
              <a:t>So the salesperson could still lie about the cars being sold even though this had been </a:t>
            </a:r>
            <a:r>
              <a:rPr lang="en-US" dirty="0" err="1"/>
              <a:t>recognised</a:t>
            </a:r>
            <a:r>
              <a:rPr lang="en-US" dirty="0"/>
              <a:t> as immoral behaviour.</a:t>
            </a:r>
          </a:p>
          <a:p>
            <a:r>
              <a:rPr lang="en-US" dirty="0"/>
              <a:t>Factors influencing the moral decision:</a:t>
            </a:r>
          </a:p>
          <a:p>
            <a:pPr lvl="1"/>
            <a:r>
              <a:rPr lang="en-US" dirty="0"/>
              <a:t>The actual moral decision taken will depend on:</a:t>
            </a:r>
          </a:p>
          <a:p>
            <a:pPr lvl="1"/>
            <a:r>
              <a:rPr lang="en-US" b="1" dirty="0"/>
              <a:t>Individual factors</a:t>
            </a:r>
            <a:r>
              <a:rPr lang="en-US" dirty="0"/>
              <a:t>: unique characteristics of the individual making the decision such as age, gender, and experience acquired during life.</a:t>
            </a:r>
          </a:p>
          <a:p>
            <a:pPr lvl="1"/>
            <a:r>
              <a:rPr lang="en-US" b="1" dirty="0"/>
              <a:t>Situational factors</a:t>
            </a:r>
            <a:r>
              <a:rPr lang="en-US" dirty="0"/>
              <a:t>: particular factors in the decision area that cause an individual to make an ethical or unethical decision.</a:t>
            </a:r>
          </a:p>
          <a:p>
            <a:endParaRPr lang="en-GB" dirty="0"/>
          </a:p>
        </p:txBody>
      </p:sp>
    </p:spTree>
    <p:extLst>
      <p:ext uri="{BB962C8B-B14F-4D97-AF65-F5344CB8AC3E}">
        <p14:creationId xmlns="" xmlns:p14="http://schemas.microsoft.com/office/powerpoint/2010/main" val="7299095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sz="quarter" idx="1"/>
          </p:nvPr>
        </p:nvSpPr>
        <p:spPr/>
        <p:txBody>
          <a:bodyPr>
            <a:normAutofit fontScale="92500" lnSpcReduction="20000"/>
          </a:bodyPr>
          <a:lstStyle/>
          <a:p>
            <a:r>
              <a:rPr lang="en-US" dirty="0"/>
              <a:t>Ethical decision making</a:t>
            </a:r>
          </a:p>
          <a:p>
            <a:pPr lvl="1"/>
            <a:r>
              <a:rPr lang="en-US" dirty="0"/>
              <a:t>The individual and situational factors in the ethical decision-making process fit well with the </a:t>
            </a:r>
            <a:r>
              <a:rPr lang="en-US" b="1" dirty="0"/>
              <a:t>Kohlberg</a:t>
            </a:r>
            <a:r>
              <a:rPr lang="en-US" dirty="0"/>
              <a:t> theory described in an earlier chapter.</a:t>
            </a:r>
          </a:p>
          <a:p>
            <a:pPr lvl="1"/>
            <a:r>
              <a:rPr lang="en-US" dirty="0"/>
              <a:t>A summary of the theory is repeated here for convenience.</a:t>
            </a:r>
          </a:p>
          <a:p>
            <a:r>
              <a:rPr lang="en-US" dirty="0"/>
              <a:t>The actual moral decision taken will depend on:</a:t>
            </a:r>
          </a:p>
          <a:p>
            <a:pPr lvl="1"/>
            <a:r>
              <a:rPr lang="en-US" dirty="0"/>
              <a:t>Individual factors: unique characteristics of the individual making the decision such as age, gender, and experience acquired during life.</a:t>
            </a:r>
          </a:p>
          <a:p>
            <a:pPr lvl="1"/>
            <a:r>
              <a:rPr lang="en-US" dirty="0"/>
              <a:t>Situational factors: particular factors in the decision area that cause an individual to make an ethical or unethical decision.</a:t>
            </a:r>
          </a:p>
          <a:p>
            <a:endParaRPr lang="en-GB" dirty="0"/>
          </a:p>
        </p:txBody>
      </p:sp>
    </p:spTree>
    <p:extLst>
      <p:ext uri="{BB962C8B-B14F-4D97-AF65-F5344CB8AC3E}">
        <p14:creationId xmlns="" xmlns:p14="http://schemas.microsoft.com/office/powerpoint/2010/main" val="38200944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sz="quarter" idx="1"/>
          </p:nvPr>
        </p:nvSpPr>
        <p:spPr/>
        <p:txBody>
          <a:bodyPr>
            <a:normAutofit/>
          </a:bodyPr>
          <a:lstStyle/>
          <a:p>
            <a:r>
              <a:rPr lang="en-US" dirty="0"/>
              <a:t>The 'Example in business' column shows that:</a:t>
            </a:r>
          </a:p>
          <a:p>
            <a:pPr lvl="1"/>
            <a:r>
              <a:rPr lang="en-US" dirty="0"/>
              <a:t>Individual factors become more important in the higher-level decisions. The decision maker is making ethical decisions because they themselves believe that is the correct course of action.</a:t>
            </a:r>
          </a:p>
          <a:p>
            <a:pPr lvl="1"/>
            <a:r>
              <a:rPr lang="en-US" dirty="0"/>
              <a:t>Situational factors appear to be more important at lower-level decisions. In these areas, the decision maker appears to make decisions based on what is expected of them in that situation, rather than on their own values and beliefs.</a:t>
            </a:r>
          </a:p>
          <a:p>
            <a:endParaRPr lang="en-GB" dirty="0"/>
          </a:p>
        </p:txBody>
      </p:sp>
    </p:spTree>
    <p:extLst>
      <p:ext uri="{BB962C8B-B14F-4D97-AF65-F5344CB8AC3E}">
        <p14:creationId xmlns="" xmlns:p14="http://schemas.microsoft.com/office/powerpoint/2010/main" val="3275285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Case </a:t>
            </a:r>
            <a:endParaRPr lang="en-GB" dirty="0"/>
          </a:p>
        </p:txBody>
      </p:sp>
      <p:sp>
        <p:nvSpPr>
          <p:cNvPr id="3" name="Content Placeholder 2"/>
          <p:cNvSpPr>
            <a:spLocks noGrp="1"/>
          </p:cNvSpPr>
          <p:nvPr>
            <p:ph sz="quarter" idx="1"/>
          </p:nvPr>
        </p:nvSpPr>
        <p:spPr/>
        <p:txBody>
          <a:bodyPr/>
          <a:lstStyle/>
          <a:p>
            <a:r>
              <a:rPr lang="en-US" dirty="0" smtClean="0"/>
              <a:t>A </a:t>
            </a:r>
            <a:r>
              <a:rPr lang="en-US" dirty="0"/>
              <a:t>drinks manufacturer has discovered that some fizzy drinks accidentally contain harmful additives as a result of an error in production.</a:t>
            </a:r>
          </a:p>
          <a:p>
            <a:r>
              <a:rPr lang="en-US" dirty="0"/>
              <a:t>With reference to the ethical decision making model, provide examples of each stage as the company decides on whether to inform customers of this issue.</a:t>
            </a:r>
          </a:p>
          <a:p>
            <a:endParaRPr lang="en-GB" dirty="0"/>
          </a:p>
        </p:txBody>
      </p:sp>
    </p:spTree>
    <p:extLst>
      <p:ext uri="{BB962C8B-B14F-4D97-AF65-F5344CB8AC3E}">
        <p14:creationId xmlns="" xmlns:p14="http://schemas.microsoft.com/office/powerpoint/2010/main" val="36409103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Solution</a:t>
            </a:r>
            <a:endParaRPr lang="en-GB" dirty="0"/>
          </a:p>
        </p:txBody>
      </p:sp>
      <p:sp>
        <p:nvSpPr>
          <p:cNvPr id="3" name="Content Placeholder 2"/>
          <p:cNvSpPr>
            <a:spLocks noGrp="1"/>
          </p:cNvSpPr>
          <p:nvPr>
            <p:ph sz="quarter" idx="1"/>
          </p:nvPr>
        </p:nvSpPr>
        <p:spPr/>
        <p:txBody>
          <a:bodyPr>
            <a:normAutofit fontScale="92500"/>
          </a:bodyPr>
          <a:lstStyle/>
          <a:p>
            <a:r>
              <a:rPr lang="en-GB" b="1" dirty="0"/>
              <a:t>Recognise moral issue:</a:t>
            </a:r>
            <a:r>
              <a:rPr lang="en-GB" dirty="0"/>
              <a:t> Not providing the information may have an adverse effect on the company's sales.</a:t>
            </a:r>
          </a:p>
          <a:p>
            <a:r>
              <a:rPr lang="en-GB" b="1" dirty="0"/>
              <a:t>Make moral judgement:</a:t>
            </a:r>
            <a:r>
              <a:rPr lang="en-GB" dirty="0"/>
              <a:t> Realise that lying by default (not providing the information) is wrong and that customers could be harmed by consuming the drink.</a:t>
            </a:r>
          </a:p>
          <a:p>
            <a:r>
              <a:rPr lang="en-GB" b="1" dirty="0"/>
              <a:t>Establish moral intent:</a:t>
            </a:r>
            <a:r>
              <a:rPr lang="en-GB" dirty="0"/>
              <a:t> Decide to make the information on the production error known.</a:t>
            </a:r>
          </a:p>
          <a:p>
            <a:r>
              <a:rPr lang="en-GB" b="1"/>
              <a:t>Engage in moral behaviour:</a:t>
            </a:r>
            <a:r>
              <a:rPr lang="en-GB"/>
              <a:t> Inform customers of the production error and recall the drinks</a:t>
            </a:r>
            <a:r>
              <a:rPr lang="en-GB" smtClean="0"/>
              <a:t>.</a:t>
            </a:r>
            <a:endParaRPr lang="en-GB"/>
          </a:p>
        </p:txBody>
      </p:sp>
    </p:spTree>
    <p:extLst>
      <p:ext uri="{BB962C8B-B14F-4D97-AF65-F5344CB8AC3E}">
        <p14:creationId xmlns="" xmlns:p14="http://schemas.microsoft.com/office/powerpoint/2010/main" val="22363802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 </a:t>
            </a:r>
            <a:endParaRPr lang="en-GB" dirty="0"/>
          </a:p>
        </p:txBody>
      </p:sp>
      <p:sp>
        <p:nvSpPr>
          <p:cNvPr id="3" name="Content Placeholder 2"/>
          <p:cNvSpPr>
            <a:spLocks noGrp="1"/>
          </p:cNvSpPr>
          <p:nvPr>
            <p:ph sz="quarter" idx="1"/>
          </p:nvPr>
        </p:nvSpPr>
        <p:spPr/>
        <p:txBody>
          <a:bodyPr/>
          <a:lstStyle/>
          <a:p>
            <a:r>
              <a:rPr lang="en-GB" dirty="0">
                <a:hlinkClick r:id="rId2"/>
              </a:rPr>
              <a:t>https://</a:t>
            </a:r>
            <a:r>
              <a:rPr lang="en-GB" dirty="0" smtClean="0">
                <a:hlinkClick r:id="rId2"/>
              </a:rPr>
              <a:t>kfknowledgebank.kaplan.co.uk/acca/chapter-14-ethical-decision-making</a:t>
            </a:r>
            <a:endParaRPr lang="en-GB" dirty="0" smtClean="0"/>
          </a:p>
          <a:p>
            <a:endParaRPr lang="en-GB" dirty="0"/>
          </a:p>
        </p:txBody>
      </p:sp>
    </p:spTree>
    <p:extLst>
      <p:ext uri="{BB962C8B-B14F-4D97-AF65-F5344CB8AC3E}">
        <p14:creationId xmlns="" xmlns:p14="http://schemas.microsoft.com/office/powerpoint/2010/main" val="8509187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Truckers 5 question model</a:t>
            </a:r>
            <a:endParaRPr lang="en-US" dirty="0"/>
          </a:p>
        </p:txBody>
      </p:sp>
      <p:sp>
        <p:nvSpPr>
          <p:cNvPr id="3" name="Content Placeholder 2"/>
          <p:cNvSpPr>
            <a:spLocks noGrp="1"/>
          </p:cNvSpPr>
          <p:nvPr>
            <p:ph sz="quarter" idx="1"/>
          </p:nvPr>
        </p:nvSpPr>
        <p:spPr/>
        <p:txBody>
          <a:bodyPr>
            <a:normAutofit fontScale="62500" lnSpcReduction="20000"/>
          </a:bodyPr>
          <a:lstStyle/>
          <a:p>
            <a:r>
              <a:rPr lang="en-US" dirty="0" smtClean="0"/>
              <a:t>In the year </a:t>
            </a:r>
            <a:r>
              <a:rPr lang="en-US" dirty="0" smtClean="0"/>
              <a:t>20X5, </a:t>
            </a:r>
            <a:r>
              <a:rPr lang="en-US" dirty="0" err="1" smtClean="0"/>
              <a:t>BioTechX</a:t>
            </a:r>
            <a:r>
              <a:rPr lang="en-US" dirty="0" smtClean="0"/>
              <a:t>, a leading biotechnology company, developed a new type of synthetic biodegradable plastic that they claimed would revolutionize the plastic industry. The new plastic was designed to break down faster than traditional plastics, reducing the long-term environmental impact. The company marketed the product as eco-friendly, with significant media attention and consumer demand. </a:t>
            </a:r>
            <a:r>
              <a:rPr lang="en-US" dirty="0" err="1" smtClean="0"/>
              <a:t>BioTechX</a:t>
            </a:r>
            <a:r>
              <a:rPr lang="en-US" dirty="0" smtClean="0"/>
              <a:t> rapidly expanded its production capacity and began selling the plastic globally, securing large contracts with major retailers, food packaging companies, and the construction industry.</a:t>
            </a:r>
          </a:p>
          <a:p>
            <a:r>
              <a:rPr lang="en-US" dirty="0" smtClean="0"/>
              <a:t>However, a few years into mass production, independent researchers discovered that while the plastic did break down faster than traditional plastics, it released harmful </a:t>
            </a:r>
            <a:r>
              <a:rPr lang="en-US" dirty="0" err="1" smtClean="0"/>
              <a:t>microtoxins</a:t>
            </a:r>
            <a:r>
              <a:rPr lang="en-US" dirty="0" smtClean="0"/>
              <a:t> into the environment during its decomposition process. These </a:t>
            </a:r>
            <a:r>
              <a:rPr lang="en-US" dirty="0" err="1" smtClean="0"/>
              <a:t>microtoxins</a:t>
            </a:r>
            <a:r>
              <a:rPr lang="en-US" dirty="0" smtClean="0"/>
              <a:t> began to contaminate soil and water sources, posing serious risks to both wildlife and human health. Despite these findings, </a:t>
            </a:r>
            <a:r>
              <a:rPr lang="en-US" dirty="0" err="1" smtClean="0"/>
              <a:t>BioTechX</a:t>
            </a:r>
            <a:r>
              <a:rPr lang="en-US" dirty="0" smtClean="0"/>
              <a:t> continued to push forward with its production, arguing that the immediate environmental benefits outweighed the long-term risks. The company also downplayed the findings, failing to inform consumers or regulators about the potential dangers of the new material.</a:t>
            </a:r>
          </a:p>
          <a:p>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fontScale="55000" lnSpcReduction="20000"/>
          </a:bodyPr>
          <a:lstStyle/>
          <a:p>
            <a:r>
              <a:rPr lang="en-US" dirty="0" smtClean="0"/>
              <a:t>In this futuristic case study, </a:t>
            </a:r>
            <a:r>
              <a:rPr lang="en-US" dirty="0" err="1" smtClean="0"/>
              <a:t>BioTechX’s</a:t>
            </a:r>
            <a:r>
              <a:rPr lang="en-US" dirty="0" smtClean="0"/>
              <a:t> decision to continue producing a synthetic biodegradable plastic despite the risks of harmful </a:t>
            </a:r>
            <a:r>
              <a:rPr lang="en-US" dirty="0" err="1" smtClean="0"/>
              <a:t>microtoxins</a:t>
            </a:r>
            <a:r>
              <a:rPr lang="en-US" dirty="0" smtClean="0"/>
              <a:t> represents a clear example of unethical decision-making. Using Trucker’s 5-question model, we can see that the decision is:</a:t>
            </a:r>
          </a:p>
          <a:p>
            <a:r>
              <a:rPr lang="en-US" b="1" dirty="0" smtClean="0"/>
              <a:t>Legally questionable</a:t>
            </a:r>
            <a:r>
              <a:rPr lang="en-US" dirty="0" smtClean="0"/>
              <a:t>, as it may not yet violate existing laws but disregards potential risks.</a:t>
            </a:r>
          </a:p>
          <a:p>
            <a:r>
              <a:rPr lang="en-US" b="1" dirty="0" smtClean="0"/>
              <a:t>Unbalanced</a:t>
            </a:r>
            <a:r>
              <a:rPr lang="en-US" dirty="0" smtClean="0"/>
              <a:t>, as the company fails to consider the full environmental and health impacts of their product in favor of immediate profits.</a:t>
            </a:r>
          </a:p>
          <a:p>
            <a:r>
              <a:rPr lang="en-US" b="1" dirty="0" smtClean="0"/>
              <a:t>Emotionally troubling</a:t>
            </a:r>
            <a:r>
              <a:rPr lang="en-US" dirty="0" smtClean="0"/>
              <a:t>, as it would generate feelings of betrayal and anger in consumers, environmentalists, and affected communities.</a:t>
            </a:r>
          </a:p>
          <a:p>
            <a:r>
              <a:rPr lang="en-US" b="1" dirty="0" smtClean="0"/>
              <a:t>Morally harmful</a:t>
            </a:r>
            <a:r>
              <a:rPr lang="en-US" dirty="0" smtClean="0"/>
              <a:t> if you are directly impacted by the environmental contamination and health risks.</a:t>
            </a:r>
          </a:p>
          <a:p>
            <a:r>
              <a:rPr lang="en-US" b="1" dirty="0" smtClean="0"/>
              <a:t>Globally dangerous</a:t>
            </a:r>
            <a:r>
              <a:rPr lang="en-US" dirty="0" smtClean="0"/>
              <a:t>, as widespread adoption of such decisions could exacerbate environmental degradation and public health risks.</a:t>
            </a:r>
          </a:p>
          <a:p>
            <a:r>
              <a:rPr lang="en-US" dirty="0" smtClean="0"/>
              <a:t>In this scenario, </a:t>
            </a:r>
            <a:r>
              <a:rPr lang="en-US" dirty="0" err="1" smtClean="0"/>
              <a:t>BioTechX's</a:t>
            </a:r>
            <a:r>
              <a:rPr lang="en-US" dirty="0" smtClean="0"/>
              <a:t> decision highlights the need for a more responsible approach to innovation and product development that considers long-term sustainability, transparency, and the real-world impact on people and the environment.</a:t>
            </a:r>
          </a:p>
          <a:p>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AAA</a:t>
            </a:r>
            <a:endParaRPr lang="en-US" dirty="0"/>
          </a:p>
        </p:txBody>
      </p:sp>
      <p:sp>
        <p:nvSpPr>
          <p:cNvPr id="3" name="Content Placeholder 2"/>
          <p:cNvSpPr>
            <a:spLocks noGrp="1"/>
          </p:cNvSpPr>
          <p:nvPr>
            <p:ph sz="quarter" idx="1"/>
          </p:nvPr>
        </p:nvSpPr>
        <p:spPr/>
        <p:txBody>
          <a:bodyPr>
            <a:normAutofit fontScale="92500" lnSpcReduction="20000"/>
          </a:bodyPr>
          <a:lstStyle/>
          <a:p>
            <a:r>
              <a:rPr lang="en-US" b="1" dirty="0" smtClean="0"/>
              <a:t>Background:</a:t>
            </a:r>
            <a:r>
              <a:rPr lang="en-US" dirty="0" smtClean="0"/>
              <a:t> In 2045, </a:t>
            </a:r>
            <a:r>
              <a:rPr lang="en-US" dirty="0" err="1" smtClean="0"/>
              <a:t>GreenFuel</a:t>
            </a:r>
            <a:r>
              <a:rPr lang="en-US" dirty="0" smtClean="0"/>
              <a:t>, a company that produces </a:t>
            </a:r>
            <a:r>
              <a:rPr lang="en-US" dirty="0" err="1" smtClean="0"/>
              <a:t>biofuels</a:t>
            </a:r>
            <a:r>
              <a:rPr lang="en-US" dirty="0" smtClean="0"/>
              <a:t> from algae, has become a leader in the renewable energy industry. They claim their </a:t>
            </a:r>
            <a:r>
              <a:rPr lang="en-US" dirty="0" err="1" smtClean="0"/>
              <a:t>biofuels</a:t>
            </a:r>
            <a:r>
              <a:rPr lang="en-US" dirty="0" smtClean="0"/>
              <a:t> are a clean, sustainable alternative to traditional fossil fuels. However, </a:t>
            </a:r>
            <a:r>
              <a:rPr lang="en-US" dirty="0" err="1" smtClean="0"/>
              <a:t>GreenFuel</a:t>
            </a:r>
            <a:r>
              <a:rPr lang="en-US" dirty="0" smtClean="0"/>
              <a:t> has started cutting costs by using genetically modified algae strains that produce </a:t>
            </a:r>
            <a:r>
              <a:rPr lang="en-US" dirty="0" err="1" smtClean="0"/>
              <a:t>biofuels</a:t>
            </a:r>
            <a:r>
              <a:rPr lang="en-US" dirty="0" smtClean="0"/>
              <a:t> quickly but have adverse environmental effects, such as disrupting local ecosystems and contaminating nearby freshwater sources. The company is aware of these environmental issues but has not taken action to address them, instead opting to ignore or downplay them to maintain profits and public image.</a:t>
            </a: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fontScale="55000" lnSpcReduction="20000"/>
          </a:bodyPr>
          <a:lstStyle/>
          <a:p>
            <a:r>
              <a:rPr lang="en-US" dirty="0" err="1" smtClean="0"/>
              <a:t>GreenFuel’s</a:t>
            </a:r>
            <a:r>
              <a:rPr lang="en-US" dirty="0" smtClean="0"/>
              <a:t> decision to continue producing </a:t>
            </a:r>
            <a:r>
              <a:rPr lang="en-US" dirty="0" err="1" smtClean="0"/>
              <a:t>biofuels</a:t>
            </a:r>
            <a:r>
              <a:rPr lang="en-US" dirty="0" smtClean="0"/>
              <a:t> using harmful genetically modified algae strains, despite being aware of the environmental harm it causes, is unethical. Using the </a:t>
            </a:r>
            <a:r>
              <a:rPr lang="en-US" b="1" dirty="0" smtClean="0"/>
              <a:t>AAA Model</a:t>
            </a:r>
            <a:r>
              <a:rPr lang="en-US" dirty="0" smtClean="0"/>
              <a:t> and its </a:t>
            </a:r>
            <a:r>
              <a:rPr lang="en-US" b="1" dirty="0" smtClean="0"/>
              <a:t>7 ethical questions</a:t>
            </a:r>
            <a:r>
              <a:rPr lang="en-US" dirty="0" smtClean="0"/>
              <a:t>, we can see that:</a:t>
            </a:r>
          </a:p>
          <a:p>
            <a:r>
              <a:rPr lang="en-US" b="1" dirty="0" smtClean="0"/>
              <a:t>The decision is inconsistent with the facts</a:t>
            </a:r>
            <a:r>
              <a:rPr lang="en-US" dirty="0" smtClean="0"/>
              <a:t> about the environmental harm.</a:t>
            </a:r>
          </a:p>
          <a:p>
            <a:r>
              <a:rPr lang="en-US" b="1" dirty="0" smtClean="0"/>
              <a:t>It does not comply with the spirit</a:t>
            </a:r>
            <a:r>
              <a:rPr lang="en-US" dirty="0" smtClean="0"/>
              <a:t> of the law, even if it follows legal guidelines.</a:t>
            </a:r>
          </a:p>
          <a:p>
            <a:r>
              <a:rPr lang="en-US" b="1" dirty="0" smtClean="0"/>
              <a:t>It does not treat all stakeholders fairly</a:t>
            </a:r>
            <a:r>
              <a:rPr lang="en-US" dirty="0" smtClean="0"/>
              <a:t>, especially those affected by the environmental damage.</a:t>
            </a:r>
          </a:p>
          <a:p>
            <a:r>
              <a:rPr lang="en-US" b="1" dirty="0" smtClean="0"/>
              <a:t>It is not ethically justifiable</a:t>
            </a:r>
            <a:r>
              <a:rPr lang="en-US" dirty="0" smtClean="0"/>
              <a:t> because the negative consequences outweigh the positive environmental benefits.</a:t>
            </a:r>
          </a:p>
          <a:p>
            <a:r>
              <a:rPr lang="en-US" b="1" dirty="0" smtClean="0"/>
              <a:t>The long-term consequences are harmful</a:t>
            </a:r>
            <a:r>
              <a:rPr lang="en-US" dirty="0" smtClean="0"/>
              <a:t> to both the environment and the company.</a:t>
            </a:r>
          </a:p>
          <a:p>
            <a:r>
              <a:rPr lang="en-US" b="1" dirty="0" smtClean="0"/>
              <a:t>It could not be justified to a reasonable person</a:t>
            </a:r>
            <a:r>
              <a:rPr lang="en-US" dirty="0" smtClean="0"/>
              <a:t>, given the known risks.</a:t>
            </a:r>
          </a:p>
          <a:p>
            <a:r>
              <a:rPr lang="en-US" b="1" dirty="0" smtClean="0"/>
              <a:t>It is inconsistent with the values</a:t>
            </a:r>
            <a:r>
              <a:rPr lang="en-US" dirty="0" smtClean="0"/>
              <a:t> of the company, which claims to prioritize sustainability.</a:t>
            </a:r>
          </a:p>
          <a:p>
            <a:r>
              <a:rPr lang="en-US" dirty="0" smtClean="0"/>
              <a:t>This case demonstrates how companies may adopt practices that seem environmentally friendly on the surface, but unethical production methods undermine their claims and cause long-term damage. Ethical decision-making must consider all stakeholders, long-term consequences, and align with the company’s values and societal expectations.</a:t>
            </a:r>
          </a:p>
          <a:p>
            <a:endParaRPr lang="en-US" dirty="0"/>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501</TotalTime>
  <Words>2637</Words>
  <Application>Microsoft Office PowerPoint</Application>
  <PresentationFormat>On-screen Show (4:3)</PresentationFormat>
  <Paragraphs>150</Paragraphs>
  <Slides>38</Slides>
  <Notes>0</Notes>
  <HiddenSlides>0</HiddenSlides>
  <MMClips>0</MMClips>
  <ScaleCrop>false</ScaleCrop>
  <HeadingPairs>
    <vt:vector size="4" baseType="variant">
      <vt:variant>
        <vt:lpstr>Theme</vt:lpstr>
      </vt:variant>
      <vt:variant>
        <vt:i4>1</vt:i4>
      </vt:variant>
      <vt:variant>
        <vt:lpstr>Slide Titles</vt:lpstr>
      </vt:variant>
      <vt:variant>
        <vt:i4>38</vt:i4>
      </vt:variant>
    </vt:vector>
  </HeadingPairs>
  <TitlesOfParts>
    <vt:vector size="39" baseType="lpstr">
      <vt:lpstr>Median</vt:lpstr>
      <vt:lpstr>Ethical Decision Making</vt:lpstr>
      <vt:lpstr>Objectives </vt:lpstr>
      <vt:lpstr>Implications of Unethical Issues in Different Functional Areas of Business</vt:lpstr>
      <vt:lpstr>1. Finance</vt:lpstr>
      <vt:lpstr>Implications:</vt:lpstr>
      <vt:lpstr>2. Human Resources (HR)</vt:lpstr>
      <vt:lpstr>Implications:</vt:lpstr>
      <vt:lpstr>3. Marketing</vt:lpstr>
      <vt:lpstr>Implications:</vt:lpstr>
      <vt:lpstr>Four elements make ethical behavior conducive within an organization:</vt:lpstr>
      <vt:lpstr>Economic Ideologies and Their Relationship to Business Ethics</vt:lpstr>
      <vt:lpstr>Capitalism</vt:lpstr>
      <vt:lpstr>Slide 13</vt:lpstr>
      <vt:lpstr>Socialism</vt:lpstr>
      <vt:lpstr>Communism</vt:lpstr>
      <vt:lpstr>Slide 16</vt:lpstr>
      <vt:lpstr>Business Ethics &amp; Global Business Practices</vt:lpstr>
      <vt:lpstr>Consumerism</vt:lpstr>
      <vt:lpstr>Slide 19</vt:lpstr>
      <vt:lpstr>Ethical Decision-Making Models</vt:lpstr>
      <vt:lpstr>Tucker’s 5 question model</vt:lpstr>
      <vt:lpstr>Slide 22</vt:lpstr>
      <vt:lpstr>Five questions</vt:lpstr>
      <vt:lpstr>Scenario </vt:lpstr>
      <vt:lpstr>Answer</vt:lpstr>
      <vt:lpstr>American Accounting Association (AAA) model</vt:lpstr>
      <vt:lpstr>Two Stages of ethical decision making</vt:lpstr>
      <vt:lpstr>Slide 28</vt:lpstr>
      <vt:lpstr>Slide 29</vt:lpstr>
      <vt:lpstr>Slide 30</vt:lpstr>
      <vt:lpstr>Slide 31</vt:lpstr>
      <vt:lpstr>Case </vt:lpstr>
      <vt:lpstr>Solution</vt:lpstr>
      <vt:lpstr>Reference </vt:lpstr>
      <vt:lpstr>Truckers 5 question model</vt:lpstr>
      <vt:lpstr>Slide 36</vt:lpstr>
      <vt:lpstr>AAA</vt:lpstr>
      <vt:lpstr>Slide 38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admin</cp:lastModifiedBy>
  <cp:revision>52</cp:revision>
  <dcterms:created xsi:type="dcterms:W3CDTF">2023-04-19T06:28:17Z</dcterms:created>
  <dcterms:modified xsi:type="dcterms:W3CDTF">2025-03-27T03:28:33Z</dcterms:modified>
</cp:coreProperties>
</file>