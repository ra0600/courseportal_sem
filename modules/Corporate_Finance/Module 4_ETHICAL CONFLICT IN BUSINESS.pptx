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72" r:id="rId17"/>
    <p:sldId id="273" r:id="rId18"/>
    <p:sldId id="274" r:id="rId19"/>
    <p:sldId id="275" r:id="rId20"/>
    <p:sldId id="276" r:id="rId21"/>
    <p:sldId id="277" r:id="rId22"/>
    <p:sldId id="279" r:id="rId23"/>
    <p:sldId id="278"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06" d="100"/>
          <a:sy n="106" d="100"/>
        </p:scale>
        <p:origin x="-1680"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705600" y="4206240"/>
            <a:ext cx="960120" cy="457200"/>
          </a:xfrm>
        </p:spPr>
        <p:txBody>
          <a:bodyPr/>
          <a:lstStyle/>
          <a:p>
            <a:fld id="{F67BF9A8-E501-4B25-B43F-287B46CCA331}" type="datetimeFigureOut">
              <a:rPr lang="en-US" smtClean="0"/>
              <a:pPr/>
              <a:t>3/27/2025</a:t>
            </a:fld>
            <a:endParaRPr lang="en-US"/>
          </a:p>
        </p:txBody>
      </p:sp>
      <p:sp>
        <p:nvSpPr>
          <p:cNvPr id="17" name="Footer Placeholder 16"/>
          <p:cNvSpPr>
            <a:spLocks noGrp="1"/>
          </p:cNvSpPr>
          <p:nvPr>
            <p:ph type="ftr" sz="quarter" idx="11"/>
          </p:nvPr>
        </p:nvSpPr>
        <p:spPr>
          <a:xfrm>
            <a:off x="5410200" y="4205288"/>
            <a:ext cx="1295400" cy="457200"/>
          </a:xfrm>
        </p:spPr>
        <p:txBody>
          <a:bodyPr/>
          <a:lstStyle/>
          <a:p>
            <a:endParaRPr lang="en-US"/>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8FF1DBA8-D0E0-4B42-BA0F-C23ED2D31BE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67BF9A8-E501-4B25-B43F-287B46CCA331}" type="datetimeFigureOut">
              <a:rPr lang="en-US" smtClean="0"/>
              <a:pPr/>
              <a:t>3/27/2025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F1DBA8-D0E0-4B42-BA0F-C23ED2D31BE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F67BF9A8-E501-4B25-B43F-287B46CCA331}" type="datetimeFigureOut">
              <a:rPr lang="en-US" smtClean="0"/>
              <a:pPr/>
              <a:t>3/27/2025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F1DBA8-D0E0-4B42-BA0F-C23ED2D31BE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67BF9A8-E501-4B25-B43F-287B46CCA331}" type="datetimeFigureOut">
              <a:rPr lang="en-US" smtClean="0"/>
              <a:pPr/>
              <a:t>3/27/2025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F1DBA8-D0E0-4B42-BA0F-C23ED2D31BE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Date Placeholder 25"/>
          <p:cNvSpPr>
            <a:spLocks noGrp="1"/>
          </p:cNvSpPr>
          <p:nvPr>
            <p:ph type="dt" sz="half" idx="10"/>
          </p:nvPr>
        </p:nvSpPr>
        <p:spPr/>
        <p:txBody>
          <a:bodyPr rtlCol="0"/>
          <a:lstStyle/>
          <a:p>
            <a:fld id="{F67BF9A8-E501-4B25-B43F-287B46CCA331}" type="datetimeFigureOut">
              <a:rPr lang="en-US" smtClean="0"/>
              <a:pPr/>
              <a:t>3/27/2025</a:t>
            </a:fld>
            <a:endParaRPr lang="en-US"/>
          </a:p>
        </p:txBody>
      </p:sp>
      <p:sp>
        <p:nvSpPr>
          <p:cNvPr id="27" name="Slide Number Placeholder 26"/>
          <p:cNvSpPr>
            <a:spLocks noGrp="1"/>
          </p:cNvSpPr>
          <p:nvPr>
            <p:ph type="sldNum" sz="quarter" idx="11"/>
          </p:nvPr>
        </p:nvSpPr>
        <p:spPr/>
        <p:txBody>
          <a:bodyPr rtlCol="0"/>
          <a:lstStyle/>
          <a:p>
            <a:fld id="{8FF1DBA8-D0E0-4B42-BA0F-C23ED2D31BE3}" type="slidenum">
              <a:rPr lang="en-US" smtClean="0"/>
              <a:pPr/>
              <a:t>‹#›</a:t>
            </a:fld>
            <a:endParaRPr lang="en-US"/>
          </a:p>
        </p:txBody>
      </p:sp>
      <p:sp>
        <p:nvSpPr>
          <p:cNvPr id="28" name="Footer Placeholder 27"/>
          <p:cNvSpPr>
            <a:spLocks noGrp="1"/>
          </p:cNvSpPr>
          <p:nvPr>
            <p:ph type="ftr" sz="quarter" idx="12"/>
          </p:nvPr>
        </p:nvSpPr>
        <p:spPr/>
        <p:txBody>
          <a:bodyPr rtlCol="0"/>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6583680" y="612648"/>
            <a:ext cx="957264" cy="457200"/>
          </a:xfrm>
        </p:spPr>
        <p:txBody>
          <a:bodyPr/>
          <a:lstStyle/>
          <a:p>
            <a:fld id="{F67BF9A8-E501-4B25-B43F-287B46CCA331}" type="datetimeFigureOut">
              <a:rPr lang="en-US" smtClean="0"/>
              <a:pPr/>
              <a:t>3/27/2025</a:t>
            </a:fld>
            <a:endParaRPr lang="en-US"/>
          </a:p>
        </p:txBody>
      </p:sp>
      <p:sp>
        <p:nvSpPr>
          <p:cNvPr id="4" name="Footer Placeholder 3"/>
          <p:cNvSpPr>
            <a:spLocks noGrp="1"/>
          </p:cNvSpPr>
          <p:nvPr>
            <p:ph type="ftr" sz="quarter" idx="11"/>
          </p:nvPr>
        </p:nvSpPr>
        <p:spPr>
          <a:xfrm>
            <a:off x="5257800" y="612648"/>
            <a:ext cx="1325880" cy="457200"/>
          </a:xfrm>
        </p:spPr>
        <p:txBody>
          <a:bodyPr/>
          <a:lstStyle/>
          <a:p>
            <a:endParaRPr lang="en-US"/>
          </a:p>
        </p:txBody>
      </p:sp>
      <p:sp>
        <p:nvSpPr>
          <p:cNvPr id="5" name="Slide Number Placeholder 4"/>
          <p:cNvSpPr>
            <a:spLocks noGrp="1"/>
          </p:cNvSpPr>
          <p:nvPr>
            <p:ph type="sldNum" sz="quarter" idx="12"/>
          </p:nvPr>
        </p:nvSpPr>
        <p:spPr>
          <a:xfrm>
            <a:off x="8174736" y="2272"/>
            <a:ext cx="762000" cy="365760"/>
          </a:xfrm>
        </p:spPr>
        <p:txBody>
          <a:bodyPr/>
          <a:lstStyle/>
          <a:p>
            <a:fld id="{8FF1DBA8-D0E0-4B42-BA0F-C23ED2D31BE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7BF9A8-E501-4B25-B43F-287B46CCA331}" type="datetimeFigureOut">
              <a:rPr lang="en-US" smtClean="0"/>
              <a:pPr/>
              <a:t>3/27/2025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FF1DBA8-D0E0-4B42-BA0F-C23ED2D31BE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67BF9A8-E501-4B25-B43F-287B46CCA331}" type="datetimeFigureOut">
              <a:rPr lang="en-US" smtClean="0"/>
              <a:pPr/>
              <a:t>3/27/2025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F1DBA8-D0E0-4B42-BA0F-C23ED2D31BE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F67BF9A8-E501-4B25-B43F-287B46CCA331}" type="datetimeFigureOut">
              <a:rPr lang="en-US" smtClean="0"/>
              <a:pPr/>
              <a:t>3/27/2025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F1DBA8-D0E0-4B42-BA0F-C23ED2D31BE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67BF9A8-E501-4B25-B43F-287B46CCA331}" type="datetimeFigureOut">
              <a:rPr lang="en-US" smtClean="0"/>
              <a:pPr/>
              <a:t>3/27/2025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F1DBA8-D0E0-4B42-BA0F-C23ED2D31BE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67BF9A8-E501-4B25-B43F-287B46CCA331}" type="datetimeFigureOut">
              <a:rPr lang="en-US" smtClean="0"/>
              <a:pPr/>
              <a:t>3/27/2025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F1DBA8-D0E0-4B42-BA0F-C23ED2D31BE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F67BF9A8-E501-4B25-B43F-287B46CCA331}" type="datetimeFigureOut">
              <a:rPr lang="en-US" smtClean="0"/>
              <a:pPr/>
              <a:t>3/27/2025</a:t>
            </a:fld>
            <a:endParaRPr lang="en-US"/>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n-US"/>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8FF1DBA8-D0E0-4B42-BA0F-C23ED2D31BE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ETHICAL CONFLICT IN BUSINESS</a:t>
            </a:r>
            <a:endParaRPr lang="en-US" dirty="0"/>
          </a:p>
        </p:txBody>
      </p:sp>
      <p:sp>
        <p:nvSpPr>
          <p:cNvPr id="3" name="Subtitle 2"/>
          <p:cNvSpPr>
            <a:spLocks noGrp="1"/>
          </p:cNvSpPr>
          <p:nvPr>
            <p:ph type="subTitle" idx="1"/>
          </p:nvPr>
        </p:nvSpPr>
        <p:spPr/>
        <p:txBody>
          <a:bodyPr/>
          <a:lstStyle/>
          <a:p>
            <a:r>
              <a:rPr lang="en-US" dirty="0" smtClean="0"/>
              <a:t>Module 4</a:t>
            </a:r>
          </a:p>
          <a:p>
            <a:r>
              <a:rPr lang="en-US" dirty="0" err="1" smtClean="0"/>
              <a:t>Ifra</a:t>
            </a:r>
            <a:r>
              <a:rPr lang="en-US" dirty="0" smtClean="0"/>
              <a:t> </a:t>
            </a:r>
            <a:r>
              <a:rPr lang="en-US" dirty="0" err="1" smtClean="0"/>
              <a:t>Fathima</a:t>
            </a:r>
            <a:r>
              <a:rPr lang="en-US" dirty="0" smtClean="0"/>
              <a:t> I</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The threats and safeguards approach to resolving ethical issues, including whistle-blowing, grievance, regulations and laws</a:t>
            </a:r>
          </a:p>
          <a:p>
            <a:r>
              <a:rPr lang="en-US" dirty="0" smtClean="0"/>
              <a:t>The relationship between the CIMA Code of Ethics and the law; </a:t>
            </a:r>
          </a:p>
          <a:p>
            <a:r>
              <a:rPr lang="en-US" dirty="0" smtClean="0"/>
              <a:t>The consequences of unethical </a:t>
            </a:r>
            <a:r>
              <a:rPr lang="en-US" dirty="0" err="1" smtClean="0"/>
              <a:t>behaviour</a:t>
            </a:r>
            <a:r>
              <a:rPr lang="en-US" dirty="0" smtClean="0"/>
              <a:t>: reputation, financial, legal and regulatory; and the benefits of good ethical </a:t>
            </a:r>
            <a:r>
              <a:rPr lang="en-US" dirty="0" err="1" smtClean="0"/>
              <a:t>behaviour</a:t>
            </a:r>
            <a:r>
              <a:rPr lang="en-US" dirty="0" smtClean="0"/>
              <a:t>; </a:t>
            </a:r>
          </a:p>
          <a:p>
            <a:r>
              <a:rPr lang="en-US" dirty="0" smtClean="0"/>
              <a:t>The nature of ethical dilemmas, tensions and synergies; </a:t>
            </a:r>
          </a:p>
          <a:p>
            <a:r>
              <a:rPr lang="en-US" dirty="0" smtClean="0"/>
              <a:t>Conflicts of interest and how they arise; Issues of corporate confidentiality. </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Ethical Threats</a:t>
            </a:r>
            <a:endParaRPr lang="en-US" dirty="0"/>
          </a:p>
        </p:txBody>
      </p:sp>
      <p:sp>
        <p:nvSpPr>
          <p:cNvPr id="3" name="Content Placeholder 2"/>
          <p:cNvSpPr>
            <a:spLocks noGrp="1"/>
          </p:cNvSpPr>
          <p:nvPr>
            <p:ph idx="1"/>
          </p:nvPr>
        </p:nvSpPr>
        <p:spPr/>
        <p:txBody>
          <a:bodyPr>
            <a:normAutofit/>
          </a:bodyPr>
          <a:lstStyle/>
          <a:p>
            <a:r>
              <a:rPr lang="en-US" dirty="0" smtClean="0"/>
              <a:t>Ethical threats are challenges that compromise integrity, objectivity, and professionalism. They arise in various business environments, particularly in financial decision-making and corporate governance. Ethical threats can lead to conflicts of interest, legal risks, and reputational damage.</a:t>
            </a:r>
          </a:p>
          <a:p>
            <a:endParaRPr lang="en-US" dirty="0" smtClean="0"/>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Types of Ethical Threats</a:t>
            </a:r>
            <a:endParaRPr lang="en-US" dirty="0"/>
          </a:p>
        </p:txBody>
      </p:sp>
      <p:sp>
        <p:nvSpPr>
          <p:cNvPr id="3" name="Content Placeholder 2"/>
          <p:cNvSpPr>
            <a:spLocks noGrp="1"/>
          </p:cNvSpPr>
          <p:nvPr>
            <p:ph idx="1"/>
          </p:nvPr>
        </p:nvSpPr>
        <p:spPr/>
        <p:txBody>
          <a:bodyPr>
            <a:normAutofit fontScale="55000" lnSpcReduction="20000"/>
          </a:bodyPr>
          <a:lstStyle/>
          <a:p>
            <a:r>
              <a:rPr lang="en-US" b="1" dirty="0" smtClean="0"/>
              <a:t>Self-Interest Threats: </a:t>
            </a:r>
            <a:r>
              <a:rPr lang="en-US" dirty="0" smtClean="0"/>
              <a:t>When personal financial interests influence professional judgment.</a:t>
            </a:r>
          </a:p>
          <a:p>
            <a:pPr lvl="1"/>
            <a:r>
              <a:rPr lang="en-US" dirty="0" smtClean="0"/>
              <a:t>Example: An accountant manipulating financial reports to secure a personal bonus or job promotion.</a:t>
            </a:r>
          </a:p>
          <a:p>
            <a:pPr lvl="1"/>
            <a:r>
              <a:rPr lang="en-US" dirty="0" smtClean="0"/>
              <a:t>Risk: Loss of credibility, financial penalties, and reputational harm.</a:t>
            </a:r>
          </a:p>
          <a:p>
            <a:r>
              <a:rPr lang="en-US" b="1" dirty="0" smtClean="0"/>
              <a:t>Self-Review Threats: </a:t>
            </a:r>
            <a:r>
              <a:rPr lang="en-US" dirty="0" smtClean="0"/>
              <a:t>Occur when a professional is required to evaluate their own work, leading to bias.</a:t>
            </a:r>
          </a:p>
          <a:p>
            <a:pPr lvl="1"/>
            <a:r>
              <a:rPr lang="en-US" dirty="0" smtClean="0"/>
              <a:t>Example: An internal auditor reviewing financial reports they previously prepared.</a:t>
            </a:r>
          </a:p>
          <a:p>
            <a:pPr lvl="1"/>
            <a:r>
              <a:rPr lang="en-US" dirty="0" smtClean="0"/>
              <a:t>Risk: Errors or fraud going undetected, misleading stakeholders.</a:t>
            </a:r>
          </a:p>
          <a:p>
            <a:r>
              <a:rPr lang="en-US" b="1" dirty="0" smtClean="0"/>
              <a:t>Familiarity Threats: </a:t>
            </a:r>
            <a:r>
              <a:rPr lang="en-US" dirty="0" smtClean="0"/>
              <a:t>Arise when personal relationships affect professional judgment.</a:t>
            </a:r>
          </a:p>
          <a:p>
            <a:pPr lvl="1"/>
            <a:r>
              <a:rPr lang="en-US" dirty="0" smtClean="0"/>
              <a:t>Example: A financial manager approving a loan for a friend’s business without due diligence.</a:t>
            </a:r>
          </a:p>
          <a:p>
            <a:pPr lvl="1"/>
            <a:r>
              <a:rPr lang="en-US" dirty="0" smtClean="0"/>
              <a:t>Risk: Undermining fairness and objectivity, leading to financial mismanagement.</a:t>
            </a:r>
          </a:p>
          <a:p>
            <a:r>
              <a:rPr lang="en-US" b="1" dirty="0" smtClean="0"/>
              <a:t>Intimidation Threats: </a:t>
            </a:r>
            <a:r>
              <a:rPr lang="en-US" dirty="0" smtClean="0"/>
              <a:t>Pressure from management, clients, or external parties to act unethically.</a:t>
            </a:r>
          </a:p>
          <a:p>
            <a:pPr lvl="1"/>
            <a:r>
              <a:rPr lang="en-US" dirty="0" smtClean="0"/>
              <a:t>Example: A CEO pressuring an accountant to manipulate earnings to meet investor expectations.</a:t>
            </a:r>
          </a:p>
          <a:p>
            <a:pPr lvl="1"/>
            <a:r>
              <a:rPr lang="en-US" dirty="0" smtClean="0"/>
              <a:t>Risk: Ethical violations, loss of professional reputation, legal repercussions.</a:t>
            </a:r>
          </a:p>
          <a:p>
            <a:r>
              <a:rPr lang="en-US" b="1" dirty="0" smtClean="0"/>
              <a:t>Advocacy Threats: </a:t>
            </a:r>
            <a:r>
              <a:rPr lang="en-US" dirty="0" smtClean="0"/>
              <a:t>When professionals promote a client’s or employer’s position beyond ethical limits.</a:t>
            </a:r>
          </a:p>
          <a:p>
            <a:pPr lvl="1"/>
            <a:r>
              <a:rPr lang="en-US" dirty="0" smtClean="0"/>
              <a:t>Example: An investment banker falsely endorsing a failing company’s stock.</a:t>
            </a:r>
          </a:p>
          <a:p>
            <a:pPr lvl="1"/>
            <a:r>
              <a:rPr lang="en-US" dirty="0" smtClean="0"/>
              <a:t>Risk: Misleading investors, financial fraud, regulatory penalties.</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Case of Enron</a:t>
            </a:r>
            <a:endParaRPr lang="en-US" dirty="0"/>
          </a:p>
        </p:txBody>
      </p:sp>
      <p:sp>
        <p:nvSpPr>
          <p:cNvPr id="3" name="Content Placeholder 2"/>
          <p:cNvSpPr>
            <a:spLocks noGrp="1"/>
          </p:cNvSpPr>
          <p:nvPr>
            <p:ph idx="1"/>
          </p:nvPr>
        </p:nvSpPr>
        <p:spPr/>
        <p:txBody>
          <a:bodyPr>
            <a:normAutofit fontScale="55000" lnSpcReduction="20000"/>
          </a:bodyPr>
          <a:lstStyle/>
          <a:p>
            <a:pPr>
              <a:buNone/>
            </a:pPr>
            <a:r>
              <a:rPr lang="en-US" dirty="0" smtClean="0"/>
              <a:t>The </a:t>
            </a:r>
            <a:r>
              <a:rPr lang="en-US" b="1" dirty="0" smtClean="0"/>
              <a:t>Enron fraud</a:t>
            </a:r>
            <a:r>
              <a:rPr lang="en-US" dirty="0" smtClean="0"/>
              <a:t> was exposed by </a:t>
            </a:r>
            <a:r>
              <a:rPr lang="en-US" b="1" dirty="0" err="1" smtClean="0"/>
              <a:t>Sherron</a:t>
            </a:r>
            <a:r>
              <a:rPr lang="en-US" b="1" dirty="0" smtClean="0"/>
              <a:t> Watkins</a:t>
            </a:r>
            <a:r>
              <a:rPr lang="en-US" dirty="0" smtClean="0"/>
              <a:t>, a Vice President at Enron.</a:t>
            </a:r>
          </a:p>
          <a:p>
            <a:r>
              <a:rPr lang="en-US" b="1" dirty="0" smtClean="0"/>
              <a:t>Internal Whistle-Blowing:</a:t>
            </a:r>
            <a:endParaRPr lang="en-US" dirty="0" smtClean="0"/>
          </a:p>
          <a:p>
            <a:pPr lvl="1"/>
            <a:r>
              <a:rPr lang="en-US" dirty="0" smtClean="0">
                <a:solidFill>
                  <a:schemeClr val="tx1"/>
                </a:solidFill>
              </a:rPr>
              <a:t>In </a:t>
            </a:r>
            <a:r>
              <a:rPr lang="en-US" b="1" dirty="0" smtClean="0">
                <a:solidFill>
                  <a:schemeClr val="tx1"/>
                </a:solidFill>
              </a:rPr>
              <a:t>August 2001</a:t>
            </a:r>
            <a:r>
              <a:rPr lang="en-US" dirty="0" smtClean="0">
                <a:solidFill>
                  <a:schemeClr val="tx1"/>
                </a:solidFill>
              </a:rPr>
              <a:t>, Watkins wrote a </a:t>
            </a:r>
            <a:r>
              <a:rPr lang="en-US" b="1" dirty="0" smtClean="0">
                <a:solidFill>
                  <a:schemeClr val="tx1"/>
                </a:solidFill>
              </a:rPr>
              <a:t>confidential memo</a:t>
            </a:r>
            <a:r>
              <a:rPr lang="en-US" dirty="0" smtClean="0">
                <a:solidFill>
                  <a:schemeClr val="tx1"/>
                </a:solidFill>
              </a:rPr>
              <a:t> to then-CEO </a:t>
            </a:r>
            <a:r>
              <a:rPr lang="en-US" b="1" dirty="0" smtClean="0">
                <a:solidFill>
                  <a:schemeClr val="tx1"/>
                </a:solidFill>
              </a:rPr>
              <a:t>Kenneth Lay</a:t>
            </a:r>
            <a:r>
              <a:rPr lang="en-US" dirty="0" smtClean="0">
                <a:solidFill>
                  <a:schemeClr val="tx1"/>
                </a:solidFill>
              </a:rPr>
              <a:t> warning that Enron could </a:t>
            </a:r>
            <a:r>
              <a:rPr lang="en-US" b="1" dirty="0" smtClean="0">
                <a:solidFill>
                  <a:schemeClr val="tx1"/>
                </a:solidFill>
              </a:rPr>
              <a:t>implode in a wave of accounting scandals</a:t>
            </a:r>
            <a:r>
              <a:rPr lang="en-US" dirty="0" smtClean="0">
                <a:solidFill>
                  <a:schemeClr val="tx1"/>
                </a:solidFill>
              </a:rPr>
              <a:t>.</a:t>
            </a:r>
          </a:p>
          <a:p>
            <a:pPr lvl="1"/>
            <a:r>
              <a:rPr lang="en-US" dirty="0" smtClean="0">
                <a:solidFill>
                  <a:schemeClr val="tx1"/>
                </a:solidFill>
              </a:rPr>
              <a:t>She highlighted </a:t>
            </a:r>
            <a:r>
              <a:rPr lang="en-US" b="1" dirty="0" smtClean="0">
                <a:solidFill>
                  <a:schemeClr val="tx1"/>
                </a:solidFill>
              </a:rPr>
              <a:t>questionable financial practices</a:t>
            </a:r>
            <a:r>
              <a:rPr lang="en-US" dirty="0" smtClean="0">
                <a:solidFill>
                  <a:schemeClr val="tx1"/>
                </a:solidFill>
              </a:rPr>
              <a:t> and the use of </a:t>
            </a:r>
            <a:r>
              <a:rPr lang="en-US" b="1" dirty="0" smtClean="0">
                <a:solidFill>
                  <a:schemeClr val="tx1"/>
                </a:solidFill>
              </a:rPr>
              <a:t>off-balance-sheet entities</a:t>
            </a:r>
            <a:r>
              <a:rPr lang="en-US" dirty="0" smtClean="0">
                <a:solidFill>
                  <a:schemeClr val="tx1"/>
                </a:solidFill>
              </a:rPr>
              <a:t> to hide debt.</a:t>
            </a:r>
          </a:p>
          <a:p>
            <a:r>
              <a:rPr lang="en-US" b="1" dirty="0" smtClean="0"/>
              <a:t>Ignored Warnings:</a:t>
            </a:r>
            <a:endParaRPr lang="en-US" dirty="0" smtClean="0"/>
          </a:p>
          <a:p>
            <a:pPr lvl="1"/>
            <a:r>
              <a:rPr lang="en-US" dirty="0" smtClean="0">
                <a:solidFill>
                  <a:schemeClr val="tx1"/>
                </a:solidFill>
              </a:rPr>
              <a:t>Watkins urged the company to </a:t>
            </a:r>
            <a:r>
              <a:rPr lang="en-US" b="1" dirty="0" smtClean="0">
                <a:solidFill>
                  <a:schemeClr val="tx1"/>
                </a:solidFill>
              </a:rPr>
              <a:t>come clean</a:t>
            </a:r>
            <a:r>
              <a:rPr lang="en-US" dirty="0" smtClean="0">
                <a:solidFill>
                  <a:schemeClr val="tx1"/>
                </a:solidFill>
              </a:rPr>
              <a:t>, but her concerns were </a:t>
            </a:r>
            <a:r>
              <a:rPr lang="en-US" b="1" dirty="0" smtClean="0">
                <a:solidFill>
                  <a:schemeClr val="tx1"/>
                </a:solidFill>
              </a:rPr>
              <a:t>dismissed</a:t>
            </a:r>
            <a:r>
              <a:rPr lang="en-US" dirty="0" smtClean="0">
                <a:solidFill>
                  <a:schemeClr val="tx1"/>
                </a:solidFill>
              </a:rPr>
              <a:t>.</a:t>
            </a:r>
          </a:p>
          <a:p>
            <a:pPr lvl="1"/>
            <a:r>
              <a:rPr lang="en-US" dirty="0" smtClean="0">
                <a:solidFill>
                  <a:schemeClr val="tx1"/>
                </a:solidFill>
              </a:rPr>
              <a:t>Enron’s management, including Lay and CFO Andrew </a:t>
            </a:r>
            <a:r>
              <a:rPr lang="en-US" dirty="0" err="1" smtClean="0">
                <a:solidFill>
                  <a:schemeClr val="tx1"/>
                </a:solidFill>
              </a:rPr>
              <a:t>Fastow</a:t>
            </a:r>
            <a:r>
              <a:rPr lang="en-US" dirty="0" smtClean="0">
                <a:solidFill>
                  <a:schemeClr val="tx1"/>
                </a:solidFill>
              </a:rPr>
              <a:t>, </a:t>
            </a:r>
            <a:r>
              <a:rPr lang="en-US" b="1" dirty="0" smtClean="0">
                <a:solidFill>
                  <a:schemeClr val="tx1"/>
                </a:solidFill>
              </a:rPr>
              <a:t>continued to mislead investors</a:t>
            </a:r>
            <a:r>
              <a:rPr lang="en-US" dirty="0" smtClean="0">
                <a:solidFill>
                  <a:schemeClr val="tx1"/>
                </a:solidFill>
              </a:rPr>
              <a:t>.</a:t>
            </a:r>
          </a:p>
          <a:p>
            <a:r>
              <a:rPr lang="en-US" b="1" dirty="0" smtClean="0"/>
              <a:t>External Investigation &amp; Public Exposure:</a:t>
            </a:r>
            <a:endParaRPr lang="en-US" dirty="0" smtClean="0"/>
          </a:p>
          <a:p>
            <a:pPr lvl="1"/>
            <a:r>
              <a:rPr lang="en-US" dirty="0" smtClean="0">
                <a:solidFill>
                  <a:schemeClr val="tx1"/>
                </a:solidFill>
              </a:rPr>
              <a:t>Enron’s financial situation became </a:t>
            </a:r>
            <a:r>
              <a:rPr lang="en-US" b="1" dirty="0" smtClean="0">
                <a:solidFill>
                  <a:schemeClr val="tx1"/>
                </a:solidFill>
              </a:rPr>
              <a:t>suspicious</a:t>
            </a:r>
            <a:r>
              <a:rPr lang="en-US" dirty="0" smtClean="0">
                <a:solidFill>
                  <a:schemeClr val="tx1"/>
                </a:solidFill>
              </a:rPr>
              <a:t> to external analysts and media.</a:t>
            </a:r>
          </a:p>
          <a:p>
            <a:pPr lvl="1"/>
            <a:r>
              <a:rPr lang="en-US" dirty="0" smtClean="0">
                <a:solidFill>
                  <a:schemeClr val="tx1"/>
                </a:solidFill>
              </a:rPr>
              <a:t>The </a:t>
            </a:r>
            <a:r>
              <a:rPr lang="en-US" b="1" dirty="0" smtClean="0">
                <a:solidFill>
                  <a:schemeClr val="tx1"/>
                </a:solidFill>
              </a:rPr>
              <a:t>Wall Street Journal</a:t>
            </a:r>
            <a:r>
              <a:rPr lang="en-US" dirty="0" smtClean="0">
                <a:solidFill>
                  <a:schemeClr val="tx1"/>
                </a:solidFill>
              </a:rPr>
              <a:t> and </a:t>
            </a:r>
            <a:r>
              <a:rPr lang="en-US" b="1" dirty="0" smtClean="0">
                <a:solidFill>
                  <a:schemeClr val="tx1"/>
                </a:solidFill>
              </a:rPr>
              <a:t>SEC (U.S. Securities and Exchange Commission)</a:t>
            </a:r>
            <a:r>
              <a:rPr lang="en-US" dirty="0" smtClean="0">
                <a:solidFill>
                  <a:schemeClr val="tx1"/>
                </a:solidFill>
              </a:rPr>
              <a:t> began investigating Enron’s </a:t>
            </a:r>
            <a:r>
              <a:rPr lang="en-US" b="1" dirty="0" smtClean="0">
                <a:solidFill>
                  <a:schemeClr val="tx1"/>
                </a:solidFill>
              </a:rPr>
              <a:t>accounting irregularities</a:t>
            </a:r>
            <a:r>
              <a:rPr lang="en-US" dirty="0" smtClean="0">
                <a:solidFill>
                  <a:schemeClr val="tx1"/>
                </a:solidFill>
              </a:rPr>
              <a:t>.</a:t>
            </a:r>
          </a:p>
          <a:p>
            <a:r>
              <a:rPr lang="en-US" b="1" dirty="0" smtClean="0"/>
              <a:t>Collapse &amp; Legal Consequences:</a:t>
            </a:r>
            <a:endParaRPr lang="en-US" dirty="0" smtClean="0"/>
          </a:p>
          <a:p>
            <a:pPr lvl="1"/>
            <a:r>
              <a:rPr lang="en-US" dirty="0" smtClean="0">
                <a:solidFill>
                  <a:schemeClr val="tx1"/>
                </a:solidFill>
              </a:rPr>
              <a:t>Enron </a:t>
            </a:r>
            <a:r>
              <a:rPr lang="en-US" b="1" dirty="0" smtClean="0">
                <a:solidFill>
                  <a:schemeClr val="tx1"/>
                </a:solidFill>
              </a:rPr>
              <a:t>declared bankruptcy</a:t>
            </a:r>
            <a:r>
              <a:rPr lang="en-US" dirty="0" smtClean="0">
                <a:solidFill>
                  <a:schemeClr val="tx1"/>
                </a:solidFill>
              </a:rPr>
              <a:t> in </a:t>
            </a:r>
            <a:r>
              <a:rPr lang="en-US" b="1" dirty="0" smtClean="0">
                <a:solidFill>
                  <a:schemeClr val="tx1"/>
                </a:solidFill>
              </a:rPr>
              <a:t>December 2001</a:t>
            </a:r>
            <a:r>
              <a:rPr lang="en-US" dirty="0" smtClean="0">
                <a:solidFill>
                  <a:schemeClr val="tx1"/>
                </a:solidFill>
              </a:rPr>
              <a:t>, leading to one of the largest financial scandals in history.</a:t>
            </a:r>
          </a:p>
          <a:p>
            <a:pPr lvl="1"/>
            <a:r>
              <a:rPr lang="en-US" dirty="0" smtClean="0">
                <a:solidFill>
                  <a:schemeClr val="tx1"/>
                </a:solidFill>
              </a:rPr>
              <a:t>CEO </a:t>
            </a:r>
            <a:r>
              <a:rPr lang="en-US" b="1" dirty="0" smtClean="0">
                <a:solidFill>
                  <a:schemeClr val="tx1"/>
                </a:solidFill>
              </a:rPr>
              <a:t>Jeffrey Skilling</a:t>
            </a:r>
            <a:r>
              <a:rPr lang="en-US" dirty="0" smtClean="0">
                <a:solidFill>
                  <a:schemeClr val="tx1"/>
                </a:solidFill>
              </a:rPr>
              <a:t> and CFO </a:t>
            </a:r>
            <a:r>
              <a:rPr lang="en-US" b="1" dirty="0" smtClean="0">
                <a:solidFill>
                  <a:schemeClr val="tx1"/>
                </a:solidFill>
              </a:rPr>
              <a:t>Andrew </a:t>
            </a:r>
            <a:r>
              <a:rPr lang="en-US" b="1" dirty="0" err="1" smtClean="0">
                <a:solidFill>
                  <a:schemeClr val="tx1"/>
                </a:solidFill>
              </a:rPr>
              <a:t>Fastow</a:t>
            </a:r>
            <a:r>
              <a:rPr lang="en-US" dirty="0" smtClean="0">
                <a:solidFill>
                  <a:schemeClr val="tx1"/>
                </a:solidFill>
              </a:rPr>
              <a:t> were later </a:t>
            </a:r>
            <a:r>
              <a:rPr lang="en-US" b="1" dirty="0" smtClean="0">
                <a:solidFill>
                  <a:schemeClr val="tx1"/>
                </a:solidFill>
              </a:rPr>
              <a:t>convicted of fraud</a:t>
            </a:r>
            <a:r>
              <a:rPr lang="en-US" dirty="0" smtClean="0">
                <a:solidFill>
                  <a:schemeClr val="tx1"/>
                </a:solidFill>
              </a:rPr>
              <a:t>.</a:t>
            </a:r>
          </a:p>
          <a:p>
            <a:pPr lvl="1"/>
            <a:r>
              <a:rPr lang="en-US" dirty="0" smtClean="0">
                <a:solidFill>
                  <a:schemeClr val="tx1"/>
                </a:solidFill>
              </a:rPr>
              <a:t>The </a:t>
            </a:r>
            <a:r>
              <a:rPr lang="en-US" b="1" dirty="0" smtClean="0">
                <a:solidFill>
                  <a:schemeClr val="tx1"/>
                </a:solidFill>
              </a:rPr>
              <a:t>Sarbanes-Oxley Act (SOX)</a:t>
            </a:r>
            <a:r>
              <a:rPr lang="en-US" dirty="0" smtClean="0">
                <a:solidFill>
                  <a:schemeClr val="tx1"/>
                </a:solidFill>
              </a:rPr>
              <a:t> was passed in </a:t>
            </a:r>
            <a:r>
              <a:rPr lang="en-US" b="1" dirty="0" smtClean="0">
                <a:solidFill>
                  <a:schemeClr val="tx1"/>
                </a:solidFill>
              </a:rPr>
              <a:t>2002</a:t>
            </a:r>
            <a:r>
              <a:rPr lang="en-US" dirty="0" smtClean="0">
                <a:solidFill>
                  <a:schemeClr val="tx1"/>
                </a:solidFill>
              </a:rPr>
              <a:t> to prevent similar corporate frauds.</a:t>
            </a:r>
          </a:p>
          <a:p>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Ethical Safeguard</a:t>
            </a:r>
            <a:endParaRPr lang="en-US" dirty="0"/>
          </a:p>
        </p:txBody>
      </p:sp>
      <p:sp>
        <p:nvSpPr>
          <p:cNvPr id="3" name="Content Placeholder 2"/>
          <p:cNvSpPr>
            <a:spLocks noGrp="1"/>
          </p:cNvSpPr>
          <p:nvPr>
            <p:ph idx="1"/>
          </p:nvPr>
        </p:nvSpPr>
        <p:spPr/>
        <p:txBody>
          <a:bodyPr>
            <a:normAutofit fontScale="62500" lnSpcReduction="20000"/>
          </a:bodyPr>
          <a:lstStyle/>
          <a:p>
            <a:pPr>
              <a:buNone/>
            </a:pPr>
            <a:r>
              <a:rPr lang="en-US" dirty="0" smtClean="0"/>
              <a:t>Organizations use safeguards to prevent and mitigate ethical threats. Safeguards can be internal (within a company) or external (regulatory bodies, professional organizations).</a:t>
            </a:r>
          </a:p>
          <a:p>
            <a:pPr>
              <a:buNone/>
            </a:pPr>
            <a:r>
              <a:rPr lang="en-US" b="1" dirty="0" smtClean="0"/>
              <a:t>Example of Safeguards</a:t>
            </a:r>
          </a:p>
          <a:p>
            <a:r>
              <a:rPr lang="en-US" b="1" dirty="0" smtClean="0"/>
              <a:t>Corporate Governance Structures:</a:t>
            </a:r>
            <a:endParaRPr lang="en-US" dirty="0" smtClean="0"/>
          </a:p>
          <a:p>
            <a:pPr lvl="1"/>
            <a:r>
              <a:rPr lang="en-US" dirty="0" smtClean="0"/>
              <a:t>Independent boards, audit committees, internal compliance teams.</a:t>
            </a:r>
          </a:p>
          <a:p>
            <a:pPr lvl="1"/>
            <a:r>
              <a:rPr lang="en-US" dirty="0" smtClean="0"/>
              <a:t>Ensuring ethical oversight and accountability.</a:t>
            </a:r>
          </a:p>
          <a:p>
            <a:r>
              <a:rPr lang="en-US" b="1" dirty="0" smtClean="0"/>
              <a:t>Professional Codes of Conduct:</a:t>
            </a:r>
            <a:endParaRPr lang="en-US" dirty="0" smtClean="0"/>
          </a:p>
          <a:p>
            <a:pPr lvl="1"/>
            <a:r>
              <a:rPr lang="en-US" dirty="0" smtClean="0"/>
              <a:t>Adherence to CIMA’s Code of Ethics and international accounting standards.</a:t>
            </a:r>
          </a:p>
          <a:p>
            <a:pPr lvl="1"/>
            <a:r>
              <a:rPr lang="en-US" dirty="0" smtClean="0"/>
              <a:t>Continuous professional education to maintain ethical standards.</a:t>
            </a:r>
          </a:p>
          <a:p>
            <a:r>
              <a:rPr lang="en-US" b="1" dirty="0" smtClean="0"/>
              <a:t>Whistle-Blowing Mechanisms:</a:t>
            </a:r>
            <a:endParaRPr lang="en-US" dirty="0" smtClean="0"/>
          </a:p>
          <a:p>
            <a:pPr lvl="1"/>
            <a:r>
              <a:rPr lang="en-US" dirty="0" smtClean="0"/>
              <a:t>Secure and anonymous reporting channels for employees.</a:t>
            </a:r>
          </a:p>
          <a:p>
            <a:pPr lvl="1"/>
            <a:r>
              <a:rPr lang="en-US" dirty="0" smtClean="0"/>
              <a:t>Ensuring protection against retaliation for ethical reporting.</a:t>
            </a:r>
          </a:p>
          <a:p>
            <a:r>
              <a:rPr lang="en-US" b="1" dirty="0" smtClean="0"/>
              <a:t>Regulatory Frameworks:</a:t>
            </a:r>
            <a:endParaRPr lang="en-US" dirty="0" smtClean="0"/>
          </a:p>
          <a:p>
            <a:pPr lvl="1"/>
            <a:r>
              <a:rPr lang="en-US" dirty="0" smtClean="0"/>
              <a:t>Laws such as the Sarbanes-Oxley Act (SOX) in the U.S. and the UK Bribery Act.</a:t>
            </a:r>
          </a:p>
          <a:p>
            <a:pPr lvl="1"/>
            <a:r>
              <a:rPr lang="en-US" dirty="0" smtClean="0"/>
              <a:t>Enforcing transparency, accountability, and anti-corruption measures.</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Examples of Safeguards in Action</a:t>
            </a:r>
            <a:endParaRPr lang="en-US" dirty="0"/>
          </a:p>
        </p:txBody>
      </p:sp>
      <p:sp>
        <p:nvSpPr>
          <p:cNvPr id="3" name="Content Placeholder 2"/>
          <p:cNvSpPr>
            <a:spLocks noGrp="1"/>
          </p:cNvSpPr>
          <p:nvPr>
            <p:ph idx="1"/>
          </p:nvPr>
        </p:nvSpPr>
        <p:spPr/>
        <p:txBody>
          <a:bodyPr/>
          <a:lstStyle/>
          <a:p>
            <a:pPr>
              <a:buNone/>
            </a:pPr>
            <a:r>
              <a:rPr lang="en-US" dirty="0" smtClean="0"/>
              <a:t>If A junior accountant discovers financial fraud in their company.</a:t>
            </a:r>
          </a:p>
          <a:p>
            <a:r>
              <a:rPr lang="en-US" b="1" dirty="0" smtClean="0"/>
              <a:t>Internal Safeguard:</a:t>
            </a:r>
            <a:r>
              <a:rPr lang="en-US" dirty="0" smtClean="0"/>
              <a:t> Reports through the company’s ethics hotline.</a:t>
            </a:r>
          </a:p>
          <a:p>
            <a:r>
              <a:rPr lang="en-US" b="1" dirty="0" smtClean="0"/>
              <a:t>External Safeguard:</a:t>
            </a:r>
            <a:r>
              <a:rPr lang="en-US" dirty="0" smtClean="0"/>
              <a:t> The case is investigated by the national regulatory body.</a:t>
            </a:r>
          </a:p>
          <a:p>
            <a:r>
              <a:rPr lang="en-US" b="1" dirty="0" smtClean="0"/>
              <a:t>Outcome:</a:t>
            </a:r>
            <a:r>
              <a:rPr lang="en-US" dirty="0" smtClean="0"/>
              <a:t> The company takes corrective action, avoiding legal penalties.</a:t>
            </a:r>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Whistle-Blowing &amp; Ethical Reporting</a:t>
            </a:r>
            <a:endParaRPr lang="en-US" dirty="0"/>
          </a:p>
        </p:txBody>
      </p:sp>
      <p:sp>
        <p:nvSpPr>
          <p:cNvPr id="3" name="Content Placeholder 2"/>
          <p:cNvSpPr>
            <a:spLocks noGrp="1"/>
          </p:cNvSpPr>
          <p:nvPr>
            <p:ph idx="1"/>
          </p:nvPr>
        </p:nvSpPr>
        <p:spPr/>
        <p:txBody>
          <a:bodyPr>
            <a:normAutofit fontScale="62500" lnSpcReduction="20000"/>
          </a:bodyPr>
          <a:lstStyle/>
          <a:p>
            <a:pPr>
              <a:buNone/>
            </a:pPr>
            <a:r>
              <a:rPr lang="en-US" dirty="0" smtClean="0"/>
              <a:t>Whistle-blowing is the act of reporting unethical, illegal, or improper conduct within an organization.</a:t>
            </a:r>
          </a:p>
          <a:p>
            <a:pPr>
              <a:buNone/>
            </a:pPr>
            <a:r>
              <a:rPr lang="en-US" b="1" dirty="0" smtClean="0"/>
              <a:t>Key Aspects of Whistle-Blowing</a:t>
            </a:r>
          </a:p>
          <a:p>
            <a:r>
              <a:rPr lang="en-US" b="1" dirty="0" smtClean="0"/>
              <a:t>Internal vs. External Reporting:</a:t>
            </a:r>
            <a:endParaRPr lang="en-US" dirty="0" smtClean="0"/>
          </a:p>
          <a:p>
            <a:pPr lvl="1"/>
            <a:r>
              <a:rPr lang="en-US" dirty="0" smtClean="0"/>
              <a:t>Internal: Reporting misconduct within the company (e.g., HR, compliance officers).</a:t>
            </a:r>
          </a:p>
          <a:p>
            <a:pPr lvl="1"/>
            <a:r>
              <a:rPr lang="en-US" dirty="0" smtClean="0"/>
              <a:t>External: Reporting to regulatory agencies, law enforcement, or the media.</a:t>
            </a:r>
          </a:p>
          <a:p>
            <a:r>
              <a:rPr lang="en-US" b="1" dirty="0" smtClean="0"/>
              <a:t>Legal Protections for Whistle-Blowers:</a:t>
            </a:r>
            <a:endParaRPr lang="en-US" dirty="0" smtClean="0"/>
          </a:p>
          <a:p>
            <a:pPr lvl="1"/>
            <a:r>
              <a:rPr lang="en-US" b="1" dirty="0" smtClean="0"/>
              <a:t>U.S. Whistleblower Protection Act:</a:t>
            </a:r>
            <a:r>
              <a:rPr lang="en-US" dirty="0" smtClean="0"/>
              <a:t> Protects employees from retaliation.</a:t>
            </a:r>
          </a:p>
          <a:p>
            <a:pPr lvl="1"/>
            <a:r>
              <a:rPr lang="en-US" b="1" dirty="0" smtClean="0"/>
              <a:t>UK Public Interest Disclosure Act:</a:t>
            </a:r>
            <a:r>
              <a:rPr lang="en-US" dirty="0" smtClean="0"/>
              <a:t> Safeguards whistle-blowers who report public interest violations.</a:t>
            </a:r>
          </a:p>
          <a:p>
            <a:r>
              <a:rPr lang="en-US" b="1" dirty="0" smtClean="0"/>
              <a:t>Ethical Considerations:</a:t>
            </a:r>
            <a:endParaRPr lang="en-US" dirty="0" smtClean="0"/>
          </a:p>
          <a:p>
            <a:pPr lvl="1"/>
            <a:r>
              <a:rPr lang="en-US" dirty="0" smtClean="0"/>
              <a:t>Ensuring confidentiality and anonymity for whistle-blowers.</a:t>
            </a:r>
          </a:p>
          <a:p>
            <a:pPr lvl="1"/>
            <a:r>
              <a:rPr lang="en-US" dirty="0" smtClean="0"/>
              <a:t>Addressing the moral dilemma of exposing misconduct vs. loyalty to the organization.</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Case Study: The Volkswagen Emissions Scandal</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dirty="0" smtClean="0"/>
              <a:t>Background:</a:t>
            </a:r>
          </a:p>
          <a:p>
            <a:r>
              <a:rPr lang="en-US" dirty="0" smtClean="0"/>
              <a:t>Volkswagen (VW) installed defeat devices in diesel cars to cheat emissions tests.</a:t>
            </a:r>
          </a:p>
          <a:p>
            <a:r>
              <a:rPr lang="en-US" dirty="0" smtClean="0"/>
              <a:t>Cars appeared compliant in tests but emitted 40 times the legal </a:t>
            </a:r>
            <a:r>
              <a:rPr lang="en-US" dirty="0" err="1" smtClean="0"/>
              <a:t>NOx</a:t>
            </a:r>
            <a:r>
              <a:rPr lang="en-US" dirty="0" smtClean="0"/>
              <a:t> limit on roads.</a:t>
            </a:r>
          </a:p>
          <a:p>
            <a:r>
              <a:rPr lang="en-US" dirty="0" smtClean="0"/>
              <a:t>Fraud impacted 11 million vehicles worldwide.</a:t>
            </a:r>
          </a:p>
          <a:p>
            <a:pPr>
              <a:buNone/>
            </a:pPr>
            <a:r>
              <a:rPr lang="en-US" b="1" dirty="0" smtClean="0"/>
              <a:t>Whistle-Blowing Failures:</a:t>
            </a:r>
          </a:p>
          <a:p>
            <a:r>
              <a:rPr lang="en-US" dirty="0" smtClean="0"/>
              <a:t>No internal protections for whistle-blowers.</a:t>
            </a:r>
          </a:p>
          <a:p>
            <a:r>
              <a:rPr lang="en-US" dirty="0" smtClean="0"/>
              <a:t>Employees feared retaliation and remained silent.</a:t>
            </a:r>
          </a:p>
          <a:p>
            <a:r>
              <a:rPr lang="en-US" dirty="0" smtClean="0"/>
              <a:t>Internal warnings ignored by VW management.</a:t>
            </a:r>
          </a:p>
          <a:p>
            <a:r>
              <a:rPr lang="en-US" dirty="0" smtClean="0"/>
              <a:t>Fraud exposed externally by researchers, not VW employees.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Legal &amp; Financial impact</a:t>
            </a:r>
            <a:endParaRPr lang="en-US" dirty="0"/>
          </a:p>
        </p:txBody>
      </p:sp>
      <p:sp>
        <p:nvSpPr>
          <p:cNvPr id="3" name="Content Placeholder 2"/>
          <p:cNvSpPr>
            <a:spLocks noGrp="1"/>
          </p:cNvSpPr>
          <p:nvPr>
            <p:ph idx="1"/>
          </p:nvPr>
        </p:nvSpPr>
        <p:spPr/>
        <p:txBody>
          <a:bodyPr>
            <a:normAutofit/>
          </a:bodyPr>
          <a:lstStyle/>
          <a:p>
            <a:r>
              <a:rPr lang="en-US" dirty="0" smtClean="0"/>
              <a:t>$33 billion+ in fines, lawsuits, and recalls.</a:t>
            </a:r>
          </a:p>
          <a:p>
            <a:r>
              <a:rPr lang="en-US" dirty="0" smtClean="0"/>
              <a:t>CEO &amp; top executives resigned and faced legal charges.</a:t>
            </a:r>
          </a:p>
          <a:p>
            <a:r>
              <a:rPr lang="en-US" dirty="0" smtClean="0"/>
              <a:t>VW's reputation collapsed; stock fell by 30%.</a:t>
            </a:r>
          </a:p>
          <a:p>
            <a:r>
              <a:rPr lang="en-US" dirty="0" smtClean="0"/>
              <a:t>Global regulations tightened on vehicle emissions.</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Grievance Handling in Ethical Conflicts</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dirty="0" smtClean="0"/>
              <a:t>A grievance mechanism is a formal process through which employees report ethical concerns or workplace misconduct.</a:t>
            </a:r>
          </a:p>
          <a:p>
            <a:r>
              <a:rPr lang="en-US" b="1" dirty="0" smtClean="0"/>
              <a:t>Reporting Procedures:</a:t>
            </a:r>
            <a:endParaRPr lang="en-US" dirty="0" smtClean="0"/>
          </a:p>
          <a:p>
            <a:pPr lvl="1"/>
            <a:r>
              <a:rPr lang="en-US" dirty="0" smtClean="0"/>
              <a:t>Employees report ethical concerns through designated channels (e.g., HR, ethics committees).</a:t>
            </a:r>
          </a:p>
          <a:p>
            <a:r>
              <a:rPr lang="en-US" b="1" dirty="0" smtClean="0"/>
              <a:t>Investigation &amp; Mediation:</a:t>
            </a:r>
            <a:endParaRPr lang="en-US" dirty="0" smtClean="0"/>
          </a:p>
          <a:p>
            <a:pPr lvl="1"/>
            <a:r>
              <a:rPr lang="en-US" dirty="0" smtClean="0"/>
              <a:t>Ensuring a fair and transparent inquiry process.</a:t>
            </a:r>
          </a:p>
          <a:p>
            <a:r>
              <a:rPr lang="en-US" b="1" dirty="0" smtClean="0"/>
              <a:t>Corrective Actions:</a:t>
            </a:r>
            <a:endParaRPr lang="en-US" dirty="0" smtClean="0"/>
          </a:p>
          <a:p>
            <a:pPr lvl="1"/>
            <a:r>
              <a:rPr lang="en-US" dirty="0" smtClean="0"/>
              <a:t>Disciplinary measures, policy changes, or training to address ethical violations.</a:t>
            </a:r>
          </a:p>
          <a:p>
            <a:r>
              <a:rPr lang="en-US" b="1" dirty="0" smtClean="0"/>
              <a:t>Implications of Ineffective Grievance Handling:</a:t>
            </a:r>
            <a:endParaRPr lang="en-US" dirty="0" smtClean="0"/>
          </a:p>
          <a:p>
            <a:pPr lvl="1"/>
            <a:r>
              <a:rPr lang="en-US" dirty="0" smtClean="0"/>
              <a:t>Loss of employee trust, increased risk of lawsuits, and reputational harm.</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Legal &amp; Regulatory Frameworks for Ethical Compliance</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dirty="0" smtClean="0"/>
              <a:t>Understanding the role of laws and regulations in enforcing ethical behavior.</a:t>
            </a:r>
          </a:p>
          <a:p>
            <a:pPr>
              <a:buNone/>
            </a:pPr>
            <a:r>
              <a:rPr lang="en-US" b="1" dirty="0" smtClean="0"/>
              <a:t>Major Ethical Regulations:</a:t>
            </a:r>
          </a:p>
          <a:p>
            <a:r>
              <a:rPr lang="en-US" b="1" dirty="0" smtClean="0"/>
              <a:t>Sarbanes-Oxley Act (SOX, USA):</a:t>
            </a:r>
            <a:endParaRPr lang="en-US" dirty="0" smtClean="0"/>
          </a:p>
          <a:p>
            <a:pPr lvl="1"/>
            <a:r>
              <a:rPr lang="en-US" dirty="0" smtClean="0"/>
              <a:t>Introduced after the Enron scandal to prevent corporate fraud.</a:t>
            </a:r>
          </a:p>
          <a:p>
            <a:pPr lvl="1"/>
            <a:r>
              <a:rPr lang="en-US" dirty="0" smtClean="0"/>
              <a:t>Requires stricter financial reporting and internal controls.</a:t>
            </a:r>
          </a:p>
          <a:p>
            <a:r>
              <a:rPr lang="en-US" b="1" dirty="0" smtClean="0"/>
              <a:t>UK Bribery Act:</a:t>
            </a:r>
            <a:endParaRPr lang="en-US" dirty="0" smtClean="0"/>
          </a:p>
          <a:p>
            <a:pPr lvl="1"/>
            <a:r>
              <a:rPr lang="en-US" dirty="0" smtClean="0"/>
              <a:t>Criminalizes bribery and unethical business practices.</a:t>
            </a:r>
          </a:p>
          <a:p>
            <a:pPr lvl="1"/>
            <a:r>
              <a:rPr lang="en-US" dirty="0" smtClean="0"/>
              <a:t>Applies to companies operating in the UK and internationally.</a:t>
            </a:r>
          </a:p>
          <a:p>
            <a:r>
              <a:rPr lang="en-US" b="1" dirty="0" smtClean="0"/>
              <a:t>International Financial Reporting Standards (IFRS):</a:t>
            </a:r>
            <a:endParaRPr lang="en-US" dirty="0" smtClean="0"/>
          </a:p>
          <a:p>
            <a:pPr lvl="1"/>
            <a:r>
              <a:rPr lang="en-US" dirty="0" smtClean="0"/>
              <a:t>Ensures transparency in global financial reporting.</a:t>
            </a:r>
          </a:p>
          <a:p>
            <a:pPr>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Relationship Between the CIMA Code of Ethics and the Law</a:t>
            </a:r>
            <a:endParaRPr lang="en-US" dirty="0"/>
          </a:p>
        </p:txBody>
      </p:sp>
      <p:sp>
        <p:nvSpPr>
          <p:cNvPr id="3" name="Content Placeholder 2"/>
          <p:cNvSpPr>
            <a:spLocks noGrp="1"/>
          </p:cNvSpPr>
          <p:nvPr>
            <p:ph idx="1"/>
          </p:nvPr>
        </p:nvSpPr>
        <p:spPr/>
        <p:txBody>
          <a:bodyPr>
            <a:normAutofit fontScale="70000" lnSpcReduction="20000"/>
          </a:bodyPr>
          <a:lstStyle/>
          <a:p>
            <a:pPr marL="179388" indent="-69850">
              <a:buNone/>
            </a:pPr>
            <a:r>
              <a:rPr lang="en-US" dirty="0" smtClean="0"/>
              <a:t>The </a:t>
            </a:r>
            <a:r>
              <a:rPr lang="en-US" b="1" dirty="0" smtClean="0"/>
              <a:t>CIMA Code of Ethics</a:t>
            </a:r>
            <a:r>
              <a:rPr lang="en-US" dirty="0" smtClean="0"/>
              <a:t> is based on the </a:t>
            </a:r>
            <a:r>
              <a:rPr lang="en-US" b="1" dirty="0" smtClean="0"/>
              <a:t>IFAC Code of Ethics</a:t>
            </a:r>
            <a:r>
              <a:rPr lang="en-US" dirty="0" smtClean="0"/>
              <a:t> and establishes fundamental principles to guide accountants in ethical decision-making. It is legally binding for all CIMA members and students, ensuring that professional accountants maintain integrity and uphold public trust.</a:t>
            </a:r>
          </a:p>
          <a:p>
            <a:pPr marL="179388" indent="-69850">
              <a:buNone/>
            </a:pPr>
            <a:r>
              <a:rPr lang="en-US" b="1" dirty="0" smtClean="0"/>
              <a:t>Key Principles of the CIMA Code of Ethics:</a:t>
            </a:r>
          </a:p>
          <a:p>
            <a:r>
              <a:rPr lang="en-US" b="1" dirty="0" smtClean="0"/>
              <a:t>Integrity:</a:t>
            </a:r>
            <a:r>
              <a:rPr lang="en-US" dirty="0" smtClean="0"/>
              <a:t> Being honest and straightforward in professional dealings.</a:t>
            </a:r>
          </a:p>
          <a:p>
            <a:r>
              <a:rPr lang="en-US" b="1" dirty="0" smtClean="0"/>
              <a:t>Objectivity:</a:t>
            </a:r>
            <a:r>
              <a:rPr lang="en-US" dirty="0" smtClean="0"/>
              <a:t> Avoiding bias, conflicts of interest, or undue influence.</a:t>
            </a:r>
          </a:p>
          <a:p>
            <a:r>
              <a:rPr lang="en-US" b="1" dirty="0" smtClean="0"/>
              <a:t>Professional Competence and Due Care:</a:t>
            </a:r>
            <a:r>
              <a:rPr lang="en-US" dirty="0" smtClean="0"/>
              <a:t> Maintaining professional knowledge and providing competent services.</a:t>
            </a:r>
          </a:p>
          <a:p>
            <a:r>
              <a:rPr lang="en-US" b="1" dirty="0" smtClean="0"/>
              <a:t>Confidentiality:</a:t>
            </a:r>
            <a:r>
              <a:rPr lang="en-US" dirty="0" smtClean="0"/>
              <a:t> Protecting sensitive business information from unauthorized disclosure.</a:t>
            </a:r>
          </a:p>
          <a:p>
            <a:r>
              <a:rPr lang="en-US" b="1" dirty="0" smtClean="0"/>
              <a:t>Professional Behavior:</a:t>
            </a:r>
            <a:r>
              <a:rPr lang="en-US" dirty="0" smtClean="0"/>
              <a:t> Complying with laws and avoiding actions that could discredit the profession.</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Legal Obligations vs. Ethical Responsibilities</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While laws define the minimum standards for behavior, ethics go beyond legal requirements to ensure professionalism and moral responsibility.</a:t>
            </a:r>
          </a:p>
          <a:p>
            <a:r>
              <a:rPr lang="en-US" dirty="0" smtClean="0"/>
              <a:t>Example: </a:t>
            </a:r>
            <a:r>
              <a:rPr lang="en-US" b="1" dirty="0" smtClean="0"/>
              <a:t>Tax Avoidance vs. Tax Evasion</a:t>
            </a:r>
            <a:r>
              <a:rPr lang="en-US" dirty="0" smtClean="0"/>
              <a:t> – While tax avoidance (minimizing tax liabilities within the law) is legal, it may not always be ethical.</a:t>
            </a:r>
          </a:p>
          <a:p>
            <a:r>
              <a:rPr lang="en-US" dirty="0" smtClean="0"/>
              <a:t>CIMA members must comply with </a:t>
            </a:r>
            <a:r>
              <a:rPr lang="en-US" b="1" dirty="0" smtClean="0"/>
              <a:t>CIMA’s Charter, Byelaws, and Regulations</a:t>
            </a:r>
            <a:r>
              <a:rPr lang="en-US" dirty="0" smtClean="0"/>
              <a:t> in addition to legal obligations.</a:t>
            </a:r>
          </a:p>
          <a:p>
            <a:pPr>
              <a:buNone/>
            </a:pPr>
            <a:endParaRPr lang="en-US" b="1" dirty="0" smtClean="0"/>
          </a:p>
          <a:p>
            <a:r>
              <a:rPr lang="en-US" dirty="0" smtClean="0"/>
              <a:t>If an ethical issue cannot be resolved internally using the CIMA Code, members should seek legal guidance.</a:t>
            </a:r>
          </a:p>
          <a:p>
            <a:r>
              <a:rPr lang="en-US" dirty="0" smtClean="0"/>
              <a:t>Businesses must ensure compliance with </a:t>
            </a:r>
            <a:r>
              <a:rPr lang="en-US" b="1" dirty="0" smtClean="0"/>
              <a:t>anti-corruption laws, data protection regulations, and financial reporting requirements</a:t>
            </a:r>
            <a:r>
              <a:rPr lang="en-US" dirty="0" smtClean="0"/>
              <a:t> to avoid legal penalties.</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Consequences of Unethical Behavior</a:t>
            </a:r>
            <a:endParaRPr lang="en-US" dirty="0"/>
          </a:p>
        </p:txBody>
      </p:sp>
      <p:sp>
        <p:nvSpPr>
          <p:cNvPr id="3" name="Content Placeholder 2"/>
          <p:cNvSpPr>
            <a:spLocks noGrp="1"/>
          </p:cNvSpPr>
          <p:nvPr>
            <p:ph idx="1"/>
          </p:nvPr>
        </p:nvSpPr>
        <p:spPr/>
        <p:txBody>
          <a:bodyPr>
            <a:noAutofit/>
          </a:bodyPr>
          <a:lstStyle/>
          <a:p>
            <a:pPr>
              <a:buNone/>
            </a:pPr>
            <a:r>
              <a:rPr lang="en-US" sz="1400" dirty="0" smtClean="0"/>
              <a:t>Unethical behavior can result in severe consequences for individuals, organizations, and society. These include reputational damage, financial losses, legal penalties, and regulatory scrutiny.</a:t>
            </a:r>
          </a:p>
          <a:p>
            <a:pPr algn="just">
              <a:lnSpc>
                <a:spcPct val="150000"/>
              </a:lnSpc>
            </a:pPr>
            <a:r>
              <a:rPr lang="en-US" sz="1400" b="1" dirty="0" smtClean="0"/>
              <a:t>Reputation Damage : </a:t>
            </a:r>
            <a:r>
              <a:rPr lang="en-US" sz="1400" dirty="0" smtClean="0"/>
              <a:t>Unethical practices erode consumer trust, investor confidence, and employee morale. Example: Volkswagen’s emissions fraud scandal led to global outrage, loss of consumer trust, and financial penalties. A damaged reputation is difficult to rebuild and can lead to loss of business opportunities.</a:t>
            </a:r>
          </a:p>
          <a:p>
            <a:pPr>
              <a:lnSpc>
                <a:spcPct val="150000"/>
              </a:lnSpc>
            </a:pPr>
            <a:r>
              <a:rPr lang="en-US" sz="1400" b="1" dirty="0" smtClean="0"/>
              <a:t>Financial Losses : </a:t>
            </a:r>
            <a:r>
              <a:rPr lang="en-US" sz="1400" dirty="0" smtClean="0"/>
              <a:t>Unethical behavior often leads to fines, lawsuits, and compensation claims. Example: Enron’s fraudulent accounting practices led to a $60 billion loss, causing investors to lose their savings. Companies engaging in unethical practices may face investor pullout and declining stock prices.</a:t>
            </a:r>
          </a:p>
          <a:p>
            <a:pPr>
              <a:lnSpc>
                <a:spcPct val="150000"/>
              </a:lnSpc>
            </a:pPr>
            <a:r>
              <a:rPr lang="en-US" sz="1400" b="1" dirty="0" smtClean="0"/>
              <a:t>Legal and Regulatory Penalties : </a:t>
            </a:r>
            <a:r>
              <a:rPr lang="en-US" sz="1400" dirty="0" smtClean="0"/>
              <a:t>Violating ethical and legal standards can lead to lawsuits, government fines, or imprisonment. Example: The Wells Fargo scandal, where employees created fake accounts to meet sales targets, resulted in $3 billion in fines.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The Benefits of Good Ethical Behavior</a:t>
            </a:r>
            <a:endParaRPr lang="en-US" dirty="0"/>
          </a:p>
        </p:txBody>
      </p:sp>
      <p:sp>
        <p:nvSpPr>
          <p:cNvPr id="3" name="Content Placeholder 2"/>
          <p:cNvSpPr>
            <a:spLocks noGrp="1"/>
          </p:cNvSpPr>
          <p:nvPr>
            <p:ph idx="1"/>
          </p:nvPr>
        </p:nvSpPr>
        <p:spPr/>
        <p:txBody>
          <a:bodyPr>
            <a:normAutofit fontScale="62500" lnSpcReduction="20000"/>
          </a:bodyPr>
          <a:lstStyle/>
          <a:p>
            <a:pPr>
              <a:buNone/>
            </a:pPr>
            <a:r>
              <a:rPr lang="en-US" dirty="0" smtClean="0"/>
              <a:t>Companies that follow ethical principles tend to be more sustainable, profitable, and respected.</a:t>
            </a:r>
          </a:p>
          <a:p>
            <a:r>
              <a:rPr lang="en-US" b="1" dirty="0" smtClean="0"/>
              <a:t>Strong Corporate Reputation: </a:t>
            </a:r>
            <a:r>
              <a:rPr lang="en-US" dirty="0" smtClean="0"/>
              <a:t>Ethical businesses build long-term trust with customers, investors, and regulatory bodies. Example: Patagonia, known for sustainability, has built a strong ethical brand, attracting loyal customers.</a:t>
            </a:r>
          </a:p>
          <a:p>
            <a:r>
              <a:rPr lang="en-US" b="1" dirty="0" smtClean="0"/>
              <a:t>Financial Performance : </a:t>
            </a:r>
            <a:r>
              <a:rPr lang="en-US" dirty="0" smtClean="0"/>
              <a:t>Ethical businesses attract investors who prioritize corporate governance and social responsibility. Example: Companies with strong ESG (Environmental, Social, Governance) practices tend to have higher market value and lower financial risk.</a:t>
            </a:r>
          </a:p>
          <a:p>
            <a:r>
              <a:rPr lang="en-US" b="1" dirty="0" smtClean="0"/>
              <a:t>Legal and Regulatory Compliance :</a:t>
            </a:r>
            <a:r>
              <a:rPr lang="en-US" dirty="0" smtClean="0"/>
              <a:t> Companies that follow ethical practices reduce the risk of legal action, fines, and government intervention. Ethical behavior ensures smooth business operations and long-term growth.</a:t>
            </a:r>
          </a:p>
          <a:p>
            <a:r>
              <a:rPr lang="en-US" b="1" dirty="0" smtClean="0"/>
              <a:t>Employee Retention and Productivity: </a:t>
            </a:r>
            <a:r>
              <a:rPr lang="en-US" dirty="0" smtClean="0"/>
              <a:t>A healthy ethical work culture improves employee satisfaction and reduces turnover rates. Employees in ethical organizations are more motivated, engaged, and productive.</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Ethical Dilemmas</a:t>
            </a:r>
            <a:endParaRPr lang="en-US" dirty="0"/>
          </a:p>
        </p:txBody>
      </p:sp>
      <p:sp>
        <p:nvSpPr>
          <p:cNvPr id="3" name="Content Placeholder 2"/>
          <p:cNvSpPr>
            <a:spLocks noGrp="1"/>
          </p:cNvSpPr>
          <p:nvPr>
            <p:ph idx="1"/>
          </p:nvPr>
        </p:nvSpPr>
        <p:spPr/>
        <p:txBody>
          <a:bodyPr>
            <a:normAutofit lnSpcReduction="10000"/>
          </a:bodyPr>
          <a:lstStyle/>
          <a:p>
            <a:r>
              <a:rPr lang="en-US" dirty="0" smtClean="0"/>
              <a:t>An </a:t>
            </a:r>
            <a:r>
              <a:rPr lang="en-US" b="1" dirty="0" smtClean="0"/>
              <a:t>ethical dilemma</a:t>
            </a:r>
            <a:r>
              <a:rPr lang="en-US" dirty="0" smtClean="0"/>
              <a:t> occurs when there is a conflict between two ethical principles, creating tension in decision-making.</a:t>
            </a:r>
          </a:p>
          <a:p>
            <a:r>
              <a:rPr lang="en-US" b="1" dirty="0" smtClean="0"/>
              <a:t>Ethical conflicts arise when:</a:t>
            </a:r>
            <a:endParaRPr lang="en-US" dirty="0" smtClean="0"/>
          </a:p>
          <a:p>
            <a:pPr lvl="1"/>
            <a:r>
              <a:rPr lang="en-US" dirty="0" smtClean="0"/>
              <a:t>A decision benefits one group but harms another.</a:t>
            </a:r>
          </a:p>
          <a:p>
            <a:pPr lvl="1"/>
            <a:r>
              <a:rPr lang="en-US" dirty="0" smtClean="0"/>
              <a:t>Legal and ethical considerations are in conflict.</a:t>
            </a:r>
          </a:p>
          <a:p>
            <a:r>
              <a:rPr lang="en-US" b="1" dirty="0" smtClean="0"/>
              <a:t>Example:</a:t>
            </a:r>
            <a:r>
              <a:rPr lang="en-US" dirty="0" smtClean="0"/>
              <a:t> An accountant discovering financial fraud must choose between </a:t>
            </a:r>
            <a:r>
              <a:rPr lang="en-US" b="1" dirty="0" smtClean="0"/>
              <a:t>reporting the misconduct (ethical) or staying silent to protect their job (self-interest).</a:t>
            </a:r>
            <a:endParaRPr lang="en-US" dirty="0" smtClean="0"/>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Ethical Tensions in Business</a:t>
            </a:r>
            <a:endParaRPr lang="en-US" dirty="0"/>
          </a:p>
        </p:txBody>
      </p:sp>
      <p:sp>
        <p:nvSpPr>
          <p:cNvPr id="3" name="Content Placeholder 2"/>
          <p:cNvSpPr>
            <a:spLocks noGrp="1"/>
          </p:cNvSpPr>
          <p:nvPr>
            <p:ph idx="1"/>
          </p:nvPr>
        </p:nvSpPr>
        <p:spPr/>
        <p:txBody>
          <a:bodyPr>
            <a:normAutofit/>
          </a:bodyPr>
          <a:lstStyle/>
          <a:p>
            <a:r>
              <a:rPr lang="en-US" sz="2400" b="1" dirty="0" smtClean="0"/>
              <a:t>Profit vs. Ethics:</a:t>
            </a:r>
            <a:r>
              <a:rPr lang="en-US" sz="2400" dirty="0" smtClean="0"/>
              <a:t> Companies must balance financial performance with ethical responsibilities.</a:t>
            </a:r>
          </a:p>
          <a:p>
            <a:r>
              <a:rPr lang="en-US" sz="2400" b="1" dirty="0" smtClean="0"/>
              <a:t>Short-term Gains vs. Long-term Sustainability:</a:t>
            </a:r>
            <a:r>
              <a:rPr lang="en-US" sz="2400" dirty="0" smtClean="0"/>
              <a:t> Unethical shortcuts may provide immediate gains but harm the company in the long run.</a:t>
            </a:r>
          </a:p>
          <a:p>
            <a:r>
              <a:rPr lang="en-US" sz="2400" b="1" dirty="0" smtClean="0"/>
              <a:t>Example:</a:t>
            </a:r>
            <a:r>
              <a:rPr lang="en-US" sz="2400" dirty="0" smtClean="0"/>
              <a:t> Fast-fashion brands using unethical labor practices to cut costs face backlash from consumers.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Synergies Between Ethics and Business Success</a:t>
            </a:r>
            <a:endParaRPr lang="en-US" dirty="0"/>
          </a:p>
        </p:txBody>
      </p:sp>
      <p:sp>
        <p:nvSpPr>
          <p:cNvPr id="3" name="Content Placeholder 2"/>
          <p:cNvSpPr>
            <a:spLocks noGrp="1"/>
          </p:cNvSpPr>
          <p:nvPr>
            <p:ph idx="1"/>
          </p:nvPr>
        </p:nvSpPr>
        <p:spPr/>
        <p:txBody>
          <a:bodyPr/>
          <a:lstStyle/>
          <a:p>
            <a:r>
              <a:rPr lang="en-US" dirty="0" smtClean="0"/>
              <a:t>Ethical leadership and corporate responsibility contribute to </a:t>
            </a:r>
            <a:r>
              <a:rPr lang="en-US" b="1" dirty="0" smtClean="0"/>
              <a:t>sustained business growth</a:t>
            </a:r>
            <a:r>
              <a:rPr lang="en-US" dirty="0" smtClean="0"/>
              <a:t>.</a:t>
            </a:r>
          </a:p>
          <a:p>
            <a:r>
              <a:rPr lang="en-US" dirty="0" smtClean="0"/>
              <a:t>Companies that integrate ethical practices see benefits in </a:t>
            </a:r>
            <a:r>
              <a:rPr lang="en-US" b="1" dirty="0" smtClean="0"/>
              <a:t>customer loyalty, employee satisfaction, and financial stability</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smtClean="0"/>
              <a:t>Conflicts of Interest and How They Arise</a:t>
            </a:r>
            <a:endParaRPr lang="en-US" dirty="0"/>
          </a:p>
        </p:txBody>
      </p:sp>
      <p:sp>
        <p:nvSpPr>
          <p:cNvPr id="3" name="Content Placeholder 2"/>
          <p:cNvSpPr>
            <a:spLocks noGrp="1"/>
          </p:cNvSpPr>
          <p:nvPr>
            <p:ph idx="1"/>
          </p:nvPr>
        </p:nvSpPr>
        <p:spPr>
          <a:xfrm>
            <a:off x="457200" y="2249424"/>
            <a:ext cx="4043362" cy="4325112"/>
          </a:xfrm>
        </p:spPr>
        <p:style>
          <a:lnRef idx="2">
            <a:schemeClr val="dk1"/>
          </a:lnRef>
          <a:fillRef idx="1">
            <a:schemeClr val="lt1"/>
          </a:fillRef>
          <a:effectRef idx="0">
            <a:schemeClr val="dk1"/>
          </a:effectRef>
          <a:fontRef idx="minor">
            <a:schemeClr val="dk1"/>
          </a:fontRef>
        </p:style>
        <p:txBody>
          <a:bodyPr>
            <a:normAutofit fontScale="55000" lnSpcReduction="20000"/>
          </a:bodyPr>
          <a:lstStyle/>
          <a:p>
            <a:pPr>
              <a:buNone/>
            </a:pPr>
            <a:r>
              <a:rPr lang="en-US" b="1" dirty="0" smtClean="0"/>
              <a:t>Common Examples of Conflicts of Interest</a:t>
            </a:r>
          </a:p>
          <a:p>
            <a:r>
              <a:rPr lang="en-US" b="1" dirty="0" smtClean="0"/>
              <a:t>Self-Interest Threat:</a:t>
            </a:r>
            <a:r>
              <a:rPr lang="en-US" dirty="0" smtClean="0"/>
              <a:t> An executive approves a contract for a company they own, leading to bias in decision-making.</a:t>
            </a:r>
          </a:p>
          <a:p>
            <a:r>
              <a:rPr lang="en-US" b="1" dirty="0" smtClean="0"/>
              <a:t>Familiarity Threat:</a:t>
            </a:r>
            <a:r>
              <a:rPr lang="en-US" dirty="0" smtClean="0"/>
              <a:t> An auditor, having a long-standing personal relationship with a client, fails to report financial misstatements due to loyalty.</a:t>
            </a:r>
          </a:p>
          <a:p>
            <a:r>
              <a:rPr lang="en-US" b="1" dirty="0" smtClean="0"/>
              <a:t>Advocacy Threat:</a:t>
            </a:r>
            <a:r>
              <a:rPr lang="en-US" dirty="0" smtClean="0"/>
              <a:t> A consultant publicly endorses a client's company while simultaneously serving as its regulator, leading to an unfair advantage.</a:t>
            </a:r>
          </a:p>
          <a:p>
            <a:r>
              <a:rPr lang="en-US" b="1" dirty="0" smtClean="0"/>
              <a:t>Multiple Roles Conflict:</a:t>
            </a:r>
            <a:r>
              <a:rPr lang="en-US" dirty="0" smtClean="0"/>
              <a:t> A board member also being a major shareholder, which may lead to prioritizing personal financial gain over company interests.</a:t>
            </a:r>
          </a:p>
          <a:p>
            <a:r>
              <a:rPr lang="en-US" b="1" dirty="0" smtClean="0"/>
              <a:t>Supplier Relationships:</a:t>
            </a:r>
            <a:r>
              <a:rPr lang="en-US" dirty="0" smtClean="0"/>
              <a:t> An employee responsible for procurement awarding contracts to a company where a close relative works, creating bias.</a:t>
            </a:r>
          </a:p>
        </p:txBody>
      </p:sp>
      <p:sp>
        <p:nvSpPr>
          <p:cNvPr id="4" name="Content Placeholder 2"/>
          <p:cNvSpPr txBox="1">
            <a:spLocks/>
          </p:cNvSpPr>
          <p:nvPr/>
        </p:nvSpPr>
        <p:spPr>
          <a:xfrm>
            <a:off x="4857752" y="2285992"/>
            <a:ext cx="4043362" cy="4325112"/>
          </a:xfrm>
          <a:prstGeom prst="rect">
            <a:avLst/>
          </a:prstGeom>
        </p:spPr>
        <p:style>
          <a:lnRef idx="2">
            <a:schemeClr val="dk1"/>
          </a:lnRef>
          <a:fillRef idx="1">
            <a:schemeClr val="lt1"/>
          </a:fillRef>
          <a:effectRef idx="0">
            <a:schemeClr val="dk1"/>
          </a:effectRef>
          <a:fontRef idx="minor">
            <a:schemeClr val="dk1"/>
          </a:fontRef>
        </p:style>
        <p:txBody>
          <a:bodyPr vert="horz">
            <a:normAutofit fontScale="55000" lnSpcReduction="20000"/>
          </a:bodyPr>
          <a:lstStyle/>
          <a:p>
            <a:pPr marL="365760" marR="0" lvl="0" indent="-256032" algn="l" defTabSz="914400" rtl="0" eaLnBrk="1" fontAlgn="auto" latinLnBrk="0" hangingPunct="1">
              <a:lnSpc>
                <a:spcPct val="100000"/>
              </a:lnSpc>
              <a:spcBef>
                <a:spcPts val="300"/>
              </a:spcBef>
              <a:spcAft>
                <a:spcPts val="0"/>
              </a:spcAft>
              <a:buClr>
                <a:schemeClr val="accent3"/>
              </a:buClr>
              <a:buSzTx/>
              <a:tabLst/>
              <a:defRPr/>
            </a:pPr>
            <a:r>
              <a:rPr kumimoji="0" lang="en-US" sz="2800" b="1" i="0" u="none" strike="noStrike" kern="1200" cap="none" spc="0" normalizeH="0" baseline="0" noProof="0" dirty="0" smtClean="0">
                <a:ln>
                  <a:noFill/>
                </a:ln>
                <a:solidFill>
                  <a:schemeClr val="tx1"/>
                </a:solidFill>
                <a:effectLst/>
                <a:uLnTx/>
                <a:uFillTx/>
                <a:latin typeface="+mn-lt"/>
                <a:ea typeface="+mn-ea"/>
                <a:cs typeface="+mn-cs"/>
              </a:rPr>
              <a:t>How to Manage Conflicts of Interest</a:t>
            </a:r>
          </a:p>
          <a:p>
            <a:pPr marL="365760" marR="0" lvl="0" indent="-256032" algn="l" defTabSz="914400" rtl="0" eaLnBrk="1" fontAlgn="auto" latinLnBrk="0" hangingPunct="1">
              <a:lnSpc>
                <a:spcPct val="100000"/>
              </a:lnSpc>
              <a:spcBef>
                <a:spcPts val="300"/>
              </a:spcBef>
              <a:spcAft>
                <a:spcPts val="0"/>
              </a:spcAft>
              <a:buClr>
                <a:schemeClr val="accent3"/>
              </a:buClr>
              <a:buSzTx/>
              <a:buFont typeface="Georgia"/>
              <a:buChar char="•"/>
              <a:tabLst/>
              <a:defRPr/>
            </a:pPr>
            <a:r>
              <a:rPr kumimoji="0" lang="en-US" sz="2800" b="1" i="0" u="none" strike="noStrike" kern="1200" cap="none" spc="0" normalizeH="0" baseline="0" noProof="0" dirty="0" smtClean="0">
                <a:ln>
                  <a:noFill/>
                </a:ln>
                <a:solidFill>
                  <a:schemeClr val="tx1"/>
                </a:solidFill>
                <a:effectLst/>
                <a:uLnTx/>
                <a:uFillTx/>
                <a:latin typeface="+mn-lt"/>
                <a:ea typeface="+mn-ea"/>
                <a:cs typeface="+mn-cs"/>
              </a:rPr>
              <a:t>Full Disclosure:</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Employees must declare conflicts before making decisions to ensure transparency.</a:t>
            </a:r>
          </a:p>
          <a:p>
            <a:pPr marL="365760" marR="0" lvl="0" indent="-256032" algn="l" defTabSz="914400" rtl="0" eaLnBrk="1" fontAlgn="auto" latinLnBrk="0" hangingPunct="1">
              <a:lnSpc>
                <a:spcPct val="100000"/>
              </a:lnSpc>
              <a:spcBef>
                <a:spcPts val="300"/>
              </a:spcBef>
              <a:spcAft>
                <a:spcPts val="0"/>
              </a:spcAft>
              <a:buClr>
                <a:schemeClr val="accent3"/>
              </a:buClr>
              <a:buSzTx/>
              <a:buFont typeface="Georgia"/>
              <a:buChar char="•"/>
              <a:tabLst/>
              <a:defRPr/>
            </a:pPr>
            <a:r>
              <a:rPr kumimoji="0" lang="en-US" sz="2800" b="1" i="0" u="none" strike="noStrike" kern="1200" cap="none" spc="0" normalizeH="0" baseline="0" noProof="0" dirty="0" smtClean="0">
                <a:ln>
                  <a:noFill/>
                </a:ln>
                <a:solidFill>
                  <a:schemeClr val="tx1"/>
                </a:solidFill>
                <a:effectLst/>
                <a:uLnTx/>
                <a:uFillTx/>
                <a:latin typeface="+mn-lt"/>
                <a:ea typeface="+mn-ea"/>
                <a:cs typeface="+mn-cs"/>
              </a:rPr>
              <a:t>Independent Oversight:</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External audits and regulatory reviews help prevent unethical practices and ensure accountability.</a:t>
            </a:r>
          </a:p>
          <a:p>
            <a:pPr marL="365760" marR="0" lvl="0" indent="-256032" algn="l" defTabSz="914400" rtl="0" eaLnBrk="1" fontAlgn="auto" latinLnBrk="0" hangingPunct="1">
              <a:lnSpc>
                <a:spcPct val="100000"/>
              </a:lnSpc>
              <a:spcBef>
                <a:spcPts val="300"/>
              </a:spcBef>
              <a:spcAft>
                <a:spcPts val="0"/>
              </a:spcAft>
              <a:buClr>
                <a:schemeClr val="accent3"/>
              </a:buClr>
              <a:buSzTx/>
              <a:buFont typeface="Georgia"/>
              <a:buChar char="•"/>
              <a:tabLst/>
              <a:defRPr/>
            </a:pPr>
            <a:r>
              <a:rPr kumimoji="0" lang="en-US" sz="2800" b="1" i="0" u="none" strike="noStrike" kern="1200" cap="none" spc="0" normalizeH="0" baseline="0" noProof="0" dirty="0" smtClean="0">
                <a:ln>
                  <a:noFill/>
                </a:ln>
                <a:solidFill>
                  <a:schemeClr val="tx1"/>
                </a:solidFill>
                <a:effectLst/>
                <a:uLnTx/>
                <a:uFillTx/>
                <a:latin typeface="+mn-lt"/>
                <a:ea typeface="+mn-ea"/>
                <a:cs typeface="+mn-cs"/>
              </a:rPr>
              <a:t>Separation of Duties:</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Preventing individuals from holding multiple conflicting roles within an organization to avoid biased decision-making.</a:t>
            </a:r>
          </a:p>
          <a:p>
            <a:pPr marL="365760" marR="0" lvl="0" indent="-256032" algn="l" defTabSz="914400" rtl="0" eaLnBrk="1" fontAlgn="auto" latinLnBrk="0" hangingPunct="1">
              <a:lnSpc>
                <a:spcPct val="100000"/>
              </a:lnSpc>
              <a:spcBef>
                <a:spcPts val="300"/>
              </a:spcBef>
              <a:spcAft>
                <a:spcPts val="0"/>
              </a:spcAft>
              <a:buClr>
                <a:schemeClr val="accent3"/>
              </a:buClr>
              <a:buSzTx/>
              <a:buFont typeface="Georgia"/>
              <a:buChar char="•"/>
              <a:tabLst/>
              <a:defRPr/>
            </a:pPr>
            <a:r>
              <a:rPr kumimoji="0" lang="en-US" sz="2800" b="1" i="0" u="none" strike="noStrike" kern="1200" cap="none" spc="0" normalizeH="0" baseline="0" noProof="0" dirty="0" smtClean="0">
                <a:ln>
                  <a:noFill/>
                </a:ln>
                <a:solidFill>
                  <a:schemeClr val="tx1"/>
                </a:solidFill>
                <a:effectLst/>
                <a:uLnTx/>
                <a:uFillTx/>
                <a:latin typeface="+mn-lt"/>
                <a:ea typeface="+mn-ea"/>
                <a:cs typeface="+mn-cs"/>
              </a:rPr>
              <a:t>Code of Conduct Enforcement:</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Organizations should have strict policies and training programs to ensure employees understand and manage conflicts effectively.</a:t>
            </a:r>
          </a:p>
          <a:p>
            <a:pPr marL="365760" marR="0" lvl="0" indent="-256032" algn="l" defTabSz="914400" rtl="0" eaLnBrk="1" fontAlgn="auto" latinLnBrk="0" hangingPunct="1">
              <a:lnSpc>
                <a:spcPct val="100000"/>
              </a:lnSpc>
              <a:spcBef>
                <a:spcPts val="300"/>
              </a:spcBef>
              <a:spcAft>
                <a:spcPts val="0"/>
              </a:spcAft>
              <a:buClr>
                <a:schemeClr val="accent3"/>
              </a:buClr>
              <a:buSzTx/>
              <a:buFont typeface="Georgia"/>
              <a:buChar char="•"/>
              <a:tabLst/>
              <a:defRPr/>
            </a:pPr>
            <a:r>
              <a:rPr kumimoji="0" lang="en-US" sz="2800" b="1" i="0" u="none" strike="noStrike" kern="1200" cap="none" spc="0" normalizeH="0" baseline="0" noProof="0" dirty="0" smtClean="0">
                <a:ln>
                  <a:noFill/>
                </a:ln>
                <a:solidFill>
                  <a:schemeClr val="tx1"/>
                </a:solidFill>
                <a:effectLst/>
                <a:uLnTx/>
                <a:uFillTx/>
                <a:latin typeface="+mn-lt"/>
                <a:ea typeface="+mn-ea"/>
                <a:cs typeface="+mn-cs"/>
              </a:rPr>
              <a:t>Third-Party Reviews:</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 Engaging independent professionals to evaluate critical decisions where conflicts of interest might arise.</a:t>
            </a:r>
          </a:p>
          <a:p>
            <a:pPr marL="365760" marR="0" lvl="0" indent="-256032" algn="l" defTabSz="914400" rtl="0" eaLnBrk="1" fontAlgn="auto" latinLnBrk="0" hangingPunct="1">
              <a:lnSpc>
                <a:spcPct val="100000"/>
              </a:lnSpc>
              <a:spcBef>
                <a:spcPts val="300"/>
              </a:spcBef>
              <a:spcAft>
                <a:spcPts val="0"/>
              </a:spcAft>
              <a:buClr>
                <a:schemeClr val="accent3"/>
              </a:buClr>
              <a:buSzTx/>
              <a:buFont typeface="Georgia"/>
              <a:buChar char="•"/>
              <a:tabLst/>
              <a:defRPr/>
            </a:pP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Issues of Corporate Confidentiality</a:t>
            </a:r>
            <a:endParaRPr lang="en-US" dirty="0"/>
          </a:p>
        </p:txBody>
      </p:sp>
      <p:sp>
        <p:nvSpPr>
          <p:cNvPr id="3" name="Content Placeholder 2"/>
          <p:cNvSpPr>
            <a:spLocks noGrp="1"/>
          </p:cNvSpPr>
          <p:nvPr>
            <p:ph idx="1"/>
          </p:nvPr>
        </p:nvSpPr>
        <p:spPr/>
        <p:txBody>
          <a:bodyPr>
            <a:normAutofit fontScale="55000" lnSpcReduction="20000"/>
          </a:bodyPr>
          <a:lstStyle/>
          <a:p>
            <a:pPr>
              <a:buNone/>
            </a:pPr>
            <a:r>
              <a:rPr lang="en-US" dirty="0" smtClean="0"/>
              <a:t>Confidentiality is a fundamental ethical principle in accounting and business. It ensures that sensitive company information remains protected from unauthorized access and misuse. Breaching confidentiality can lead to legal repercussions, financial losses, and reputational damage.</a:t>
            </a:r>
          </a:p>
          <a:p>
            <a:pPr marL="88900" indent="0">
              <a:lnSpc>
                <a:spcPct val="170000"/>
              </a:lnSpc>
              <a:buNone/>
            </a:pPr>
            <a:r>
              <a:rPr lang="en-US" b="1" dirty="0" smtClean="0"/>
              <a:t>Risks in Corporate Confidentiality</a:t>
            </a:r>
          </a:p>
          <a:p>
            <a:pPr marL="88900" indent="0" algn="just">
              <a:lnSpc>
                <a:spcPct val="170000"/>
              </a:lnSpc>
              <a:buNone/>
            </a:pPr>
            <a:r>
              <a:rPr lang="en-US" b="1" dirty="0" smtClean="0"/>
              <a:t>1. Insider Trading: </a:t>
            </a:r>
            <a:r>
              <a:rPr lang="en-US" dirty="0" smtClean="0"/>
              <a:t> The use of confidential financial or business information for personal gain. For example: An employee at a company learns about an upcoming merger before it is publicly announced and buys company stocks to profit from the price increase. Consequences like Legal prosecution, heavy fines, and imprisonment (e.g., Martha Stewart's case of insider trading).</a:t>
            </a:r>
          </a:p>
          <a:p>
            <a:pPr marL="88900" indent="0">
              <a:lnSpc>
                <a:spcPct val="170000"/>
              </a:lnSpc>
              <a:buNone/>
            </a:pPr>
            <a:r>
              <a:rPr lang="en-US" b="1" dirty="0" smtClean="0"/>
              <a:t>Safeguards:</a:t>
            </a:r>
            <a:r>
              <a:rPr lang="en-US" dirty="0" smtClean="0"/>
              <a:t> Implementing strict internal controls, requiring employees to sign non-disclosure agreements (NDAs), and ensuring compliance with financial regulations.</a:t>
            </a:r>
          </a:p>
          <a:p>
            <a:pPr>
              <a:buNone/>
            </a:pP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85860"/>
            <a:ext cx="8229600" cy="5288676"/>
          </a:xfrm>
        </p:spPr>
        <p:txBody>
          <a:bodyPr>
            <a:normAutofit fontScale="55000" lnSpcReduction="20000"/>
          </a:bodyPr>
          <a:lstStyle/>
          <a:p>
            <a:pPr marL="88900" indent="0">
              <a:lnSpc>
                <a:spcPct val="170000"/>
              </a:lnSpc>
              <a:buNone/>
            </a:pPr>
            <a:r>
              <a:rPr lang="en-US" b="1" dirty="0" smtClean="0"/>
              <a:t>2. Data Breaches:</a:t>
            </a:r>
            <a:r>
              <a:rPr lang="en-US" dirty="0" smtClean="0"/>
              <a:t> Unauthorized access, theft, or exposure of confidential digital information. For example A cyber attack on a company’s database leads to the leak of customer credit card details, causing identity theft and financial losses. Consequences like Legal action, fines under data protection laws (e.g., GDPR, CCPA), and loss of customer trust.</a:t>
            </a:r>
          </a:p>
          <a:p>
            <a:pPr marL="88900" indent="0">
              <a:lnSpc>
                <a:spcPct val="170000"/>
              </a:lnSpc>
              <a:buNone/>
            </a:pPr>
            <a:r>
              <a:rPr lang="en-US" b="1" dirty="0" smtClean="0"/>
              <a:t>Safeguards:</a:t>
            </a:r>
            <a:r>
              <a:rPr lang="en-US" dirty="0" smtClean="0"/>
              <a:t> Strong </a:t>
            </a:r>
            <a:r>
              <a:rPr lang="en-US" dirty="0" err="1" smtClean="0"/>
              <a:t>cybersecurity</a:t>
            </a:r>
            <a:r>
              <a:rPr lang="en-US" dirty="0" smtClean="0"/>
              <a:t> measures, encrypted communication, multi-factor authentication, and employee awareness programs on </a:t>
            </a:r>
            <a:r>
              <a:rPr lang="en-US" dirty="0" err="1" smtClean="0"/>
              <a:t>cybersecurity</a:t>
            </a:r>
            <a:r>
              <a:rPr lang="en-US" dirty="0" smtClean="0"/>
              <a:t> risks.</a:t>
            </a:r>
          </a:p>
          <a:p>
            <a:pPr marL="88900" indent="0" algn="just">
              <a:lnSpc>
                <a:spcPct val="170000"/>
              </a:lnSpc>
              <a:buNone/>
            </a:pPr>
            <a:r>
              <a:rPr lang="en-US" b="1" dirty="0" smtClean="0"/>
              <a:t>3. Leaks of Trade Secrets:</a:t>
            </a:r>
            <a:r>
              <a:rPr lang="en-US" dirty="0" smtClean="0"/>
              <a:t> The unauthorized disclosure of proprietary business information to competitors or the public. For example, An employee leaving a tech company takes confidential designs for a new product and shares them with a rival company. Consequences like Legal suits, loss of competitive advantage, and reduced market share.</a:t>
            </a:r>
          </a:p>
          <a:p>
            <a:pPr marL="88900" indent="0">
              <a:lnSpc>
                <a:spcPct val="170000"/>
              </a:lnSpc>
              <a:buNone/>
            </a:pPr>
            <a:r>
              <a:rPr lang="en-US" b="1" dirty="0" smtClean="0"/>
              <a:t>Safeguards:</a:t>
            </a:r>
            <a:r>
              <a:rPr lang="en-US" dirty="0" smtClean="0"/>
              <a:t> Restricting access to confidential data, monitoring communications, and enforcing non-compete agreements.</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Ethical and Legal Responsibilities</a:t>
            </a:r>
            <a:endParaRPr lang="en-US" dirty="0"/>
          </a:p>
        </p:txBody>
      </p:sp>
      <p:sp>
        <p:nvSpPr>
          <p:cNvPr id="3" name="Content Placeholder 2"/>
          <p:cNvSpPr>
            <a:spLocks noGrp="1"/>
          </p:cNvSpPr>
          <p:nvPr>
            <p:ph idx="1"/>
          </p:nvPr>
        </p:nvSpPr>
        <p:spPr/>
        <p:txBody>
          <a:bodyPr>
            <a:normAutofit fontScale="47500" lnSpcReduction="20000"/>
          </a:bodyPr>
          <a:lstStyle/>
          <a:p>
            <a:pPr>
              <a:buNone/>
            </a:pPr>
            <a:r>
              <a:rPr lang="en-US" b="1" dirty="0" smtClean="0"/>
              <a:t>Employee Responsibilities</a:t>
            </a:r>
          </a:p>
          <a:p>
            <a:r>
              <a:rPr lang="en-US" dirty="0" smtClean="0"/>
              <a:t>Employees must uphold confidentiality agreements and not disclose sensitive information outside of authorized channels.</a:t>
            </a:r>
          </a:p>
          <a:p>
            <a:r>
              <a:rPr lang="en-US" dirty="0" smtClean="0"/>
              <a:t>Must report any suspected data leaks or unauthorized access to confidential information.</a:t>
            </a:r>
          </a:p>
          <a:p>
            <a:pPr>
              <a:buNone/>
            </a:pPr>
            <a:endParaRPr lang="en-US" dirty="0" smtClean="0"/>
          </a:p>
          <a:p>
            <a:pPr>
              <a:buNone/>
            </a:pPr>
            <a:r>
              <a:rPr lang="en-US" b="1" dirty="0" smtClean="0"/>
              <a:t>Legal Consequences of Breaching Confidentiality</a:t>
            </a:r>
          </a:p>
          <a:p>
            <a:r>
              <a:rPr lang="en-US" b="1" dirty="0" smtClean="0"/>
              <a:t>Lawsuits and Financial Penalties:</a:t>
            </a:r>
            <a:r>
              <a:rPr lang="en-US" dirty="0" smtClean="0"/>
              <a:t> Organizations can sue employees or external parties who disclose confidential information.</a:t>
            </a:r>
          </a:p>
          <a:p>
            <a:r>
              <a:rPr lang="en-US" b="1" dirty="0" smtClean="0"/>
              <a:t>Regulatory Fines:</a:t>
            </a:r>
            <a:r>
              <a:rPr lang="en-US" dirty="0" smtClean="0"/>
              <a:t> Violating data protection laws like </a:t>
            </a:r>
            <a:r>
              <a:rPr lang="en-US" b="1" dirty="0" smtClean="0"/>
              <a:t>GDPR (General Data Protection Regulation)</a:t>
            </a:r>
            <a:r>
              <a:rPr lang="en-US" dirty="0" smtClean="0"/>
              <a:t> and </a:t>
            </a:r>
            <a:r>
              <a:rPr lang="en-US" b="1" dirty="0" smtClean="0"/>
              <a:t>CCPA (California Consumer Privacy Act)</a:t>
            </a:r>
            <a:r>
              <a:rPr lang="en-US" dirty="0" smtClean="0"/>
              <a:t> can lead to millions in fines.</a:t>
            </a:r>
          </a:p>
          <a:p>
            <a:r>
              <a:rPr lang="en-US" b="1" dirty="0" smtClean="0"/>
              <a:t>Example:</a:t>
            </a:r>
            <a:r>
              <a:rPr lang="en-US" dirty="0" smtClean="0"/>
              <a:t> The </a:t>
            </a:r>
            <a:r>
              <a:rPr lang="en-US" dirty="0" err="1" smtClean="0"/>
              <a:t>Facebook</a:t>
            </a:r>
            <a:r>
              <a:rPr lang="en-US" dirty="0" smtClean="0"/>
              <a:t>-Cambridge </a:t>
            </a:r>
            <a:r>
              <a:rPr lang="en-US" dirty="0" err="1" smtClean="0"/>
              <a:t>Analytica</a:t>
            </a:r>
            <a:r>
              <a:rPr lang="en-US" dirty="0" smtClean="0"/>
              <a:t> scandal, where user data was misused for political advertising, led to regulatory fines exceeding </a:t>
            </a:r>
            <a:r>
              <a:rPr lang="en-US" b="1" dirty="0" smtClean="0"/>
              <a:t>$5 billion</a:t>
            </a:r>
            <a:r>
              <a:rPr lang="en-US" dirty="0" smtClean="0"/>
              <a:t> and severe reputational damage.</a:t>
            </a:r>
          </a:p>
          <a:p>
            <a:endParaRPr lang="en-US" b="1" dirty="0" smtClean="0"/>
          </a:p>
          <a:p>
            <a:pPr>
              <a:buNone/>
            </a:pPr>
            <a:r>
              <a:rPr lang="en-US" b="1" dirty="0" smtClean="0"/>
              <a:t>Corporate Safeguards to Protect Confidentiality</a:t>
            </a:r>
          </a:p>
          <a:p>
            <a:r>
              <a:rPr lang="en-US" b="1" dirty="0" smtClean="0"/>
              <a:t>Non-Disclosure Agreements (NDAs):</a:t>
            </a:r>
            <a:r>
              <a:rPr lang="en-US" dirty="0" smtClean="0"/>
              <a:t> Legally binding contracts that prevent employees from sharing confidential information.</a:t>
            </a:r>
          </a:p>
          <a:p>
            <a:r>
              <a:rPr lang="en-US" b="1" dirty="0" smtClean="0"/>
              <a:t>Access Controls:</a:t>
            </a:r>
            <a:r>
              <a:rPr lang="en-US" dirty="0" smtClean="0"/>
              <a:t> Implementing user permissions to restrict access to sensitive data.</a:t>
            </a:r>
          </a:p>
          <a:p>
            <a:r>
              <a:rPr lang="en-US" b="1" dirty="0" smtClean="0"/>
              <a:t>Regular Compliance Audits:</a:t>
            </a:r>
            <a:r>
              <a:rPr lang="en-US" dirty="0" smtClean="0"/>
              <a:t> Conducting periodic reviews to ensure information security policies are followed.</a:t>
            </a:r>
          </a:p>
          <a:p>
            <a:r>
              <a:rPr lang="en-US" b="1" dirty="0" smtClean="0"/>
              <a:t>Whistleblower Protection:</a:t>
            </a:r>
            <a:r>
              <a:rPr lang="en-US" dirty="0" smtClean="0"/>
              <a:t> Encouraging employees to report breaches confidentially without fear of retaliation.</a:t>
            </a:r>
          </a:p>
          <a:p>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243</TotalTime>
  <Words>2550</Words>
  <Application>Microsoft Office PowerPoint</Application>
  <PresentationFormat>On-screen Show (4:3)</PresentationFormat>
  <Paragraphs>186</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Urban</vt:lpstr>
      <vt:lpstr>ETHICAL CONFLICT IN BUSINESS</vt:lpstr>
      <vt:lpstr>Objectives</vt:lpstr>
      <vt:lpstr>Ethical Threats</vt:lpstr>
      <vt:lpstr>Types of Ethical Threats</vt:lpstr>
      <vt:lpstr>Case of Enron</vt:lpstr>
      <vt:lpstr>Ethical Safeguard</vt:lpstr>
      <vt:lpstr>Examples of Safeguards in Action</vt:lpstr>
      <vt:lpstr>Whistle-Blowing &amp; Ethical Reporting</vt:lpstr>
      <vt:lpstr>Case Study: The Volkswagen Emissions Scandal</vt:lpstr>
      <vt:lpstr>Legal &amp; Financial impact</vt:lpstr>
      <vt:lpstr>Grievance Handling in Ethical Conflicts</vt:lpstr>
      <vt:lpstr>Legal &amp; Regulatory Frameworks for Ethical Compliance</vt:lpstr>
      <vt:lpstr>The Relationship Between the CIMA Code of Ethics and the Law</vt:lpstr>
      <vt:lpstr>Legal Obligations vs. Ethical Responsibilities</vt:lpstr>
      <vt:lpstr>Consequences of Unethical Behavior</vt:lpstr>
      <vt:lpstr>The Benefits of Good Ethical Behavior</vt:lpstr>
      <vt:lpstr>Ethical Dilemmas</vt:lpstr>
      <vt:lpstr>Ethical Tensions in Business</vt:lpstr>
      <vt:lpstr>Synergies Between Ethics and Business Success</vt:lpstr>
      <vt:lpstr>Conflicts of Interest and How They Arise</vt:lpstr>
      <vt:lpstr>Issues of Corporate Confidentiality</vt:lpstr>
      <vt:lpstr>Slide 22</vt:lpstr>
      <vt:lpstr>Ethical and Legal Responsibilities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ETHICAL CONFLICT IN BUSINESS</dc:title>
  <dc:creator>admin</dc:creator>
  <cp:lastModifiedBy>admin</cp:lastModifiedBy>
  <cp:revision>8</cp:revision>
  <dcterms:created xsi:type="dcterms:W3CDTF">2025-03-24T03:53:24Z</dcterms:created>
  <dcterms:modified xsi:type="dcterms:W3CDTF">2025-03-27T04:33:57Z</dcterms:modified>
</cp:coreProperties>
</file>