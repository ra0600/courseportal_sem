
<file path=[Content_Types].xml><?xml version="1.0" encoding="utf-8"?>
<Types xmlns="http://schemas.openxmlformats.org/package/2006/content-types">
  <Override PartName="/ppt/notesSlides/notesSlide2.xml" ContentType="application/vnd.openxmlformats-officedocument.presentationml.notesSlide+xml"/>
  <Override PartName="/ppt/diagrams/drawing2.xml" ContentType="application/vnd.ms-office.drawingml.diagramDrawing+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diagrams/layout5.xml" ContentType="application/vnd.openxmlformats-officedocument.drawingml.diagramLayout+xml"/>
  <Override PartName="/ppt/diagrams/data6.xml" ContentType="application/vnd.openxmlformats-officedocument.drawingml.diagramData+xml"/>
  <Override PartName="/docProps/custom.xml" ContentType="application/vnd.openxmlformats-officedocument.custom-properties+xml"/>
  <Override PartName="/ppt/commentAuthors.xml" ContentType="application/vnd.openxmlformats-officedocument.presentationml.commentAuthors+xml"/>
  <Override PartName="/ppt/diagrams/layout3.xml" ContentType="application/vnd.openxmlformats-officedocument.drawingml.diagramLayout+xml"/>
  <Override PartName="/ppt/diagrams/data4.xml" ContentType="application/vnd.openxmlformats-officedocument.drawingml.diagramData+xml"/>
  <Override PartName="/ppt/diagrams/layout1.xml" ContentType="application/vnd.openxmlformats-officedocument.drawingml.diagramLayout+xml"/>
  <Override PartName="/ppt/diagrams/data2.xml" ContentType="application/vnd.openxmlformats-officedocument.drawingml.diagramData+xml"/>
  <Override PartName="/ppt/diagrams/colors6.xml" ContentType="application/vnd.openxmlformats-officedocument.drawingml.diagramColor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diagrams/colors4.xml" ContentType="application/vnd.openxmlformats-officedocument.drawingml.diagramColors+xml"/>
  <Override PartName="/ppt/diagrams/drawing5.xml" ContentType="application/vnd.ms-office.drawingml.diagramDrawing+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diagrams/colors2.xml" ContentType="application/vnd.openxmlformats-officedocument.drawingml.diagramColors+xml"/>
  <Override PartName="/ppt/diagrams/quickStyle5.xml" ContentType="application/vnd.openxmlformats-officedocument.drawingml.diagramStyle+xml"/>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diagrams/drawing1.xml" ContentType="application/vnd.ms-office.drawingml.diagramDrawing+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diagrams/quickStyle1.xml" ContentType="application/vnd.openxmlformats-officedocument.drawingml.diagramStyl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diagrams/layout6.xml" ContentType="application/vnd.openxmlformats-officedocument.drawingml.diagramLayout+xml"/>
  <Override PartName="/docProps/app.xml" ContentType="application/vnd.openxmlformats-officedocument.extended-properties+xml"/>
  <Override PartName="/ppt/authors.xml" ContentType="application/vnd.ms-powerpoint.author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diagrams/layout4.xml" ContentType="application/vnd.openxmlformats-officedocument.drawingml.diagram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data5.xml" ContentType="application/vnd.openxmlformats-officedocument.drawingml.diagramData+xml"/>
  <Override PartName="/ppt/diagrams/data3.xml" ContentType="application/vnd.openxmlformats-officedocument.drawingml.diagramData+xml"/>
  <Override PartName="/ppt/diagrams/colors5.xml" ContentType="application/vnd.openxmlformats-officedocument.drawingml.diagramColors+xml"/>
  <Override PartName="/ppt/notesSlides/notesSlide6.xml" ContentType="application/vnd.openxmlformats-officedocument.presentationml.notesSlide+xml"/>
  <Override PartName="/ppt/diagrams/drawing6.xml" ContentType="application/vnd.ms-office.drawingml.diagramDrawing+xml"/>
  <Override PartName="/ppt/slides/slide8.xml" ContentType="application/vnd.openxmlformats-officedocument.presentationml.slide+xml"/>
  <Override PartName="/ppt/handoutMasters/handoutMaster1.xml" ContentType="application/vnd.openxmlformats-officedocument.presentationml.handoutMaster+xml"/>
  <Override PartName="/ppt/diagrams/data1.xml" ContentType="application/vnd.openxmlformats-officedocument.drawingml.diagramData+xml"/>
  <Override PartName="/ppt/notesSlides/notesSlide4.xml" ContentType="application/vnd.openxmlformats-officedocument.presentationml.notesSlide+xml"/>
  <Override PartName="/ppt/diagrams/colors3.xml" ContentType="application/vnd.openxmlformats-officedocument.drawingml.diagramColors+xml"/>
  <Override PartName="/ppt/diagrams/quickStyle6.xml" ContentType="application/vnd.openxmlformats-officedocument.drawingml.diagramStyle+xml"/>
  <Override PartName="/docProps/core.xml" ContentType="application/vnd.openxmlformats-package.core-properties+xml"/>
  <Override PartName="/ppt/diagrams/drawing4.xml" ContentType="application/vnd.ms-office.drawingml.diagramDrawing+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Default Extension="svg" ContentType="image/svg+xml"/>
  <Override PartName="/docMetadata/LabelInfo.xml" ContentType="application/vnd.ms-office.classificationlabel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2" r:id="rId4"/>
  </p:sldMasterIdLst>
  <p:notesMasterIdLst>
    <p:notesMasterId r:id="rId26"/>
  </p:notesMasterIdLst>
  <p:handoutMasterIdLst>
    <p:handoutMasterId r:id="rId27"/>
  </p:handoutMasterIdLst>
  <p:sldIdLst>
    <p:sldId id="410" r:id="rId5"/>
    <p:sldId id="383" r:id="rId6"/>
    <p:sldId id="409" r:id="rId7"/>
    <p:sldId id="389" r:id="rId8"/>
    <p:sldId id="391" r:id="rId9"/>
    <p:sldId id="415" r:id="rId10"/>
    <p:sldId id="416" r:id="rId11"/>
    <p:sldId id="417" r:id="rId12"/>
    <p:sldId id="418" r:id="rId13"/>
    <p:sldId id="414" r:id="rId14"/>
    <p:sldId id="397" r:id="rId15"/>
    <p:sldId id="412" r:id="rId16"/>
    <p:sldId id="419" r:id="rId17"/>
    <p:sldId id="413" r:id="rId18"/>
    <p:sldId id="420" r:id="rId19"/>
    <p:sldId id="421" r:id="rId20"/>
    <p:sldId id="422" r:id="rId21"/>
    <p:sldId id="423" r:id="rId22"/>
    <p:sldId id="424" r:id="rId23"/>
    <p:sldId id="425" r:id="rId24"/>
    <p:sldId id="42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F888A1-DF39-42E8-9674-DAB64A10A219}" v="15" dt="2025-01-23T16:38:29.907"/>
  </p1510:revLst>
</p1510:revInfo>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5" autoAdjust="0"/>
    <p:restoredTop sz="96327" autoAdjust="0"/>
  </p:normalViewPr>
  <p:slideViewPr>
    <p:cSldViewPr snapToGrid="0">
      <p:cViewPr varScale="1">
        <p:scale>
          <a:sx n="113" d="100"/>
          <a:sy n="113" d="100"/>
        </p:scale>
        <p:origin x="-426"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7.svg"/><Relationship Id="rId2" Type="http://schemas.openxmlformats.org/officeDocument/2006/relationships/image" Target="../media/image7.svg"/><Relationship Id="rId1" Type="http://schemas.openxmlformats.org/officeDocument/2006/relationships/image" Target="../media/image4.png"/><Relationship Id="rId6" Type="http://schemas.openxmlformats.org/officeDocument/2006/relationships/image" Target="../media/image11.svg"/><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8.png"/></Relationships>
</file>

<file path=ppt/diagrams/_rels/data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9.svg"/><Relationship Id="rId1" Type="http://schemas.openxmlformats.org/officeDocument/2006/relationships/image" Target="../media/image10.png"/><Relationship Id="rId4" Type="http://schemas.openxmlformats.org/officeDocument/2006/relationships/image" Target="../media/image2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svg"/><Relationship Id="rId1" Type="http://schemas.openxmlformats.org/officeDocument/2006/relationships/image" Target="../media/image21.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1.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image" Target="../media/image7.svg"/><Relationship Id="rId1" Type="http://schemas.openxmlformats.org/officeDocument/2006/relationships/image" Target="../media/image61.png"/><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1.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rawing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039373-7683-456D-B610-3D8C9964CDAF}" type="doc">
      <dgm:prSet loTypeId="urn:microsoft.com/office/officeart/2005/8/layout/vProcess5" loCatId="process" qsTypeId="urn:microsoft.com/office/officeart/2005/8/quickstyle/simple1" qsCatId="simple" csTypeId="urn:microsoft.com/office/officeart/2005/8/colors/accent6_2" csCatId="accent6" phldr="1"/>
      <dgm:spPr/>
      <dgm:t>
        <a:bodyPr/>
        <a:lstStyle/>
        <a:p>
          <a:endParaRPr lang="en-US"/>
        </a:p>
      </dgm:t>
    </dgm:pt>
    <dgm:pt modelId="{BC85E3C4-8D39-4F1A-AF4F-7B32B51F2689}">
      <dgm:prSet/>
      <dgm:spPr/>
      <dgm:t>
        <a:bodyPr/>
        <a:lstStyle/>
        <a:p>
          <a:pPr>
            <a:lnSpc>
              <a:spcPct val="100000"/>
            </a:lnSpc>
          </a:pPr>
          <a:r>
            <a:rPr lang="en-US" b="1" i="0" dirty="0"/>
            <a:t>Meaning and scope</a:t>
          </a:r>
          <a:endParaRPr lang="en-US" dirty="0"/>
        </a:p>
      </dgm:t>
    </dgm:pt>
    <dgm:pt modelId="{4D91D46D-7891-4EEA-BC9E-1ACFC1B69519}" type="parTrans" cxnId="{1C6E7477-ED3E-4B13-B868-357BA64DBE04}">
      <dgm:prSet/>
      <dgm:spPr/>
      <dgm:t>
        <a:bodyPr/>
        <a:lstStyle/>
        <a:p>
          <a:endParaRPr lang="en-US"/>
        </a:p>
      </dgm:t>
    </dgm:pt>
    <dgm:pt modelId="{A92ACBFC-2A5D-4FB2-B659-1BFDB43CDE1A}" type="sibTrans" cxnId="{1C6E7477-ED3E-4B13-B868-357BA64DBE04}">
      <dgm:prSet/>
      <dgm:spPr/>
      <dgm:t>
        <a:bodyPr/>
        <a:lstStyle/>
        <a:p>
          <a:endParaRPr lang="en-US"/>
        </a:p>
      </dgm:t>
    </dgm:pt>
    <dgm:pt modelId="{5F0B2350-D344-4FEB-8162-F36DF5E469E8}">
      <dgm:prSet/>
      <dgm:spPr/>
      <dgm:t>
        <a:bodyPr/>
        <a:lstStyle/>
        <a:p>
          <a:pPr>
            <a:lnSpc>
              <a:spcPct val="100000"/>
            </a:lnSpc>
          </a:pPr>
          <a:r>
            <a:rPr lang="en-US" b="1" i="0" dirty="0"/>
            <a:t>The importance of ethics</a:t>
          </a:r>
          <a:endParaRPr lang="en-US" dirty="0"/>
        </a:p>
      </dgm:t>
    </dgm:pt>
    <dgm:pt modelId="{0185FB51-508A-4204-BC08-E40699A123F6}" type="parTrans" cxnId="{728F3C58-2A37-4687-A11A-35E117258087}">
      <dgm:prSet/>
      <dgm:spPr/>
      <dgm:t>
        <a:bodyPr/>
        <a:lstStyle/>
        <a:p>
          <a:endParaRPr lang="en-US"/>
        </a:p>
      </dgm:t>
    </dgm:pt>
    <dgm:pt modelId="{B67FDCB8-774E-4EA8-A0F5-BB95C6E77508}" type="sibTrans" cxnId="{728F3C58-2A37-4687-A11A-35E117258087}">
      <dgm:prSet/>
      <dgm:spPr/>
      <dgm:t>
        <a:bodyPr/>
        <a:lstStyle/>
        <a:p>
          <a:endParaRPr lang="en-US"/>
        </a:p>
      </dgm:t>
    </dgm:pt>
    <dgm:pt modelId="{9D9CEEBE-69A0-4CDD-9264-F524048F463D}">
      <dgm:prSet/>
      <dgm:spPr/>
      <dgm:t>
        <a:bodyPr/>
        <a:lstStyle/>
        <a:p>
          <a:pPr>
            <a:lnSpc>
              <a:spcPct val="100000"/>
            </a:lnSpc>
          </a:pPr>
          <a:r>
            <a:rPr lang="en-US" b="1" i="0" dirty="0"/>
            <a:t>The nature of ethics and its relevance to society, business and the accountancy profession</a:t>
          </a:r>
          <a:endParaRPr lang="en-US" dirty="0"/>
        </a:p>
      </dgm:t>
    </dgm:pt>
    <dgm:pt modelId="{01D0F9AD-1D7C-4E1E-9097-699694D06D31}" type="parTrans" cxnId="{F0C9F870-1E5F-476F-B006-5572F871E272}">
      <dgm:prSet/>
      <dgm:spPr/>
      <dgm:t>
        <a:bodyPr/>
        <a:lstStyle/>
        <a:p>
          <a:endParaRPr lang="en-US"/>
        </a:p>
      </dgm:t>
    </dgm:pt>
    <dgm:pt modelId="{C0EF4FBD-BE28-445A-B9FB-347285CEE264}" type="sibTrans" cxnId="{F0C9F870-1E5F-476F-B006-5572F871E272}">
      <dgm:prSet/>
      <dgm:spPr/>
      <dgm:t>
        <a:bodyPr/>
        <a:lstStyle/>
        <a:p>
          <a:endParaRPr lang="en-US"/>
        </a:p>
      </dgm:t>
    </dgm:pt>
    <dgm:pt modelId="{389D22C4-D39B-4075-8624-747D431E455C}">
      <dgm:prSet/>
      <dgm:spPr/>
      <dgm:t>
        <a:bodyPr/>
        <a:lstStyle/>
        <a:p>
          <a:pPr>
            <a:lnSpc>
              <a:spcPct val="100000"/>
            </a:lnSpc>
          </a:pPr>
          <a:r>
            <a:rPr lang="en-US" b="1" i="0" dirty="0"/>
            <a:t>Values and attitudes for professional accountants, Corporate governance ethics business ethics. </a:t>
          </a:r>
          <a:endParaRPr lang="en-US" dirty="0"/>
        </a:p>
      </dgm:t>
    </dgm:pt>
    <dgm:pt modelId="{8E02CF63-3775-4605-A2D4-40238BBAB8BF}" type="parTrans" cxnId="{8B5B4FB9-BD88-4584-9FEF-0EF3C964760B}">
      <dgm:prSet/>
      <dgm:spPr/>
      <dgm:t>
        <a:bodyPr/>
        <a:lstStyle/>
        <a:p>
          <a:endParaRPr lang="en-US"/>
        </a:p>
      </dgm:t>
    </dgm:pt>
    <dgm:pt modelId="{A9885583-CEE1-4F81-9508-0FE5A898B2CE}" type="sibTrans" cxnId="{8B5B4FB9-BD88-4584-9FEF-0EF3C964760B}">
      <dgm:prSet/>
      <dgm:spPr/>
      <dgm:t>
        <a:bodyPr/>
        <a:lstStyle/>
        <a:p>
          <a:endParaRPr lang="en-US"/>
        </a:p>
      </dgm:t>
    </dgm:pt>
    <dgm:pt modelId="{4D28B163-22A9-44BA-9E40-D4896172E385}" type="pres">
      <dgm:prSet presAssocID="{30039373-7683-456D-B610-3D8C9964CDAF}" presName="outerComposite" presStyleCnt="0">
        <dgm:presLayoutVars>
          <dgm:chMax val="5"/>
          <dgm:dir/>
          <dgm:resizeHandles val="exact"/>
        </dgm:presLayoutVars>
      </dgm:prSet>
      <dgm:spPr/>
      <dgm:t>
        <a:bodyPr/>
        <a:lstStyle/>
        <a:p>
          <a:endParaRPr lang="en-US"/>
        </a:p>
      </dgm:t>
    </dgm:pt>
    <dgm:pt modelId="{BF707B0F-541D-4FEF-BC73-96865B656FCA}" type="pres">
      <dgm:prSet presAssocID="{30039373-7683-456D-B610-3D8C9964CDAF}" presName="dummyMaxCanvas" presStyleCnt="0">
        <dgm:presLayoutVars/>
      </dgm:prSet>
      <dgm:spPr/>
    </dgm:pt>
    <dgm:pt modelId="{86324BED-E2D2-40B0-8F48-DE5C5C877BD1}" type="pres">
      <dgm:prSet presAssocID="{30039373-7683-456D-B610-3D8C9964CDAF}" presName="FourNodes_1" presStyleLbl="node1" presStyleIdx="0" presStyleCnt="4">
        <dgm:presLayoutVars>
          <dgm:bulletEnabled val="1"/>
        </dgm:presLayoutVars>
      </dgm:prSet>
      <dgm:spPr/>
      <dgm:t>
        <a:bodyPr/>
        <a:lstStyle/>
        <a:p>
          <a:endParaRPr lang="en-US"/>
        </a:p>
      </dgm:t>
    </dgm:pt>
    <dgm:pt modelId="{3F89612D-7FD8-4878-AE3A-CF071CA86279}" type="pres">
      <dgm:prSet presAssocID="{30039373-7683-456D-B610-3D8C9964CDAF}" presName="FourNodes_2" presStyleLbl="node1" presStyleIdx="1" presStyleCnt="4">
        <dgm:presLayoutVars>
          <dgm:bulletEnabled val="1"/>
        </dgm:presLayoutVars>
      </dgm:prSet>
      <dgm:spPr/>
      <dgm:t>
        <a:bodyPr/>
        <a:lstStyle/>
        <a:p>
          <a:endParaRPr lang="en-US"/>
        </a:p>
      </dgm:t>
    </dgm:pt>
    <dgm:pt modelId="{F7C8FF10-1E56-4F9C-AAEC-ADE1D333F758}" type="pres">
      <dgm:prSet presAssocID="{30039373-7683-456D-B610-3D8C9964CDAF}" presName="FourNodes_3" presStyleLbl="node1" presStyleIdx="2" presStyleCnt="4">
        <dgm:presLayoutVars>
          <dgm:bulletEnabled val="1"/>
        </dgm:presLayoutVars>
      </dgm:prSet>
      <dgm:spPr/>
      <dgm:t>
        <a:bodyPr/>
        <a:lstStyle/>
        <a:p>
          <a:endParaRPr lang="en-US"/>
        </a:p>
      </dgm:t>
    </dgm:pt>
    <dgm:pt modelId="{396C7145-547A-4DA8-951A-E2C3061CD1C1}" type="pres">
      <dgm:prSet presAssocID="{30039373-7683-456D-B610-3D8C9964CDAF}" presName="FourNodes_4" presStyleLbl="node1" presStyleIdx="3" presStyleCnt="4">
        <dgm:presLayoutVars>
          <dgm:bulletEnabled val="1"/>
        </dgm:presLayoutVars>
      </dgm:prSet>
      <dgm:spPr/>
      <dgm:t>
        <a:bodyPr/>
        <a:lstStyle/>
        <a:p>
          <a:endParaRPr lang="en-US"/>
        </a:p>
      </dgm:t>
    </dgm:pt>
    <dgm:pt modelId="{79E56C25-E72D-4633-BF3C-294B6EFFC2F2}" type="pres">
      <dgm:prSet presAssocID="{30039373-7683-456D-B610-3D8C9964CDAF}" presName="FourConn_1-2" presStyleLbl="fgAccFollowNode1" presStyleIdx="0" presStyleCnt="3">
        <dgm:presLayoutVars>
          <dgm:bulletEnabled val="1"/>
        </dgm:presLayoutVars>
      </dgm:prSet>
      <dgm:spPr/>
      <dgm:t>
        <a:bodyPr/>
        <a:lstStyle/>
        <a:p>
          <a:endParaRPr lang="en-US"/>
        </a:p>
      </dgm:t>
    </dgm:pt>
    <dgm:pt modelId="{98067876-72BA-4799-A403-4CE54D2BB345}" type="pres">
      <dgm:prSet presAssocID="{30039373-7683-456D-B610-3D8C9964CDAF}" presName="FourConn_2-3" presStyleLbl="fgAccFollowNode1" presStyleIdx="1" presStyleCnt="3">
        <dgm:presLayoutVars>
          <dgm:bulletEnabled val="1"/>
        </dgm:presLayoutVars>
      </dgm:prSet>
      <dgm:spPr/>
      <dgm:t>
        <a:bodyPr/>
        <a:lstStyle/>
        <a:p>
          <a:endParaRPr lang="en-US"/>
        </a:p>
      </dgm:t>
    </dgm:pt>
    <dgm:pt modelId="{BA6EA247-310A-4E43-AB27-9441D1C8FC02}" type="pres">
      <dgm:prSet presAssocID="{30039373-7683-456D-B610-3D8C9964CDAF}" presName="FourConn_3-4" presStyleLbl="fgAccFollowNode1" presStyleIdx="2" presStyleCnt="3">
        <dgm:presLayoutVars>
          <dgm:bulletEnabled val="1"/>
        </dgm:presLayoutVars>
      </dgm:prSet>
      <dgm:spPr/>
      <dgm:t>
        <a:bodyPr/>
        <a:lstStyle/>
        <a:p>
          <a:endParaRPr lang="en-US"/>
        </a:p>
      </dgm:t>
    </dgm:pt>
    <dgm:pt modelId="{AE18F3C7-1446-474C-B98E-BCC5FB8D4F78}" type="pres">
      <dgm:prSet presAssocID="{30039373-7683-456D-B610-3D8C9964CDAF}" presName="FourNodes_1_text" presStyleLbl="node1" presStyleIdx="3" presStyleCnt="4">
        <dgm:presLayoutVars>
          <dgm:bulletEnabled val="1"/>
        </dgm:presLayoutVars>
      </dgm:prSet>
      <dgm:spPr/>
      <dgm:t>
        <a:bodyPr/>
        <a:lstStyle/>
        <a:p>
          <a:endParaRPr lang="en-US"/>
        </a:p>
      </dgm:t>
    </dgm:pt>
    <dgm:pt modelId="{F8E1F907-D0E6-4083-8102-54BBD54B0311}" type="pres">
      <dgm:prSet presAssocID="{30039373-7683-456D-B610-3D8C9964CDAF}" presName="FourNodes_2_text" presStyleLbl="node1" presStyleIdx="3" presStyleCnt="4">
        <dgm:presLayoutVars>
          <dgm:bulletEnabled val="1"/>
        </dgm:presLayoutVars>
      </dgm:prSet>
      <dgm:spPr/>
      <dgm:t>
        <a:bodyPr/>
        <a:lstStyle/>
        <a:p>
          <a:endParaRPr lang="en-US"/>
        </a:p>
      </dgm:t>
    </dgm:pt>
    <dgm:pt modelId="{6505D34C-5B3B-492E-885A-20A7CAF1098B}" type="pres">
      <dgm:prSet presAssocID="{30039373-7683-456D-B610-3D8C9964CDAF}" presName="FourNodes_3_text" presStyleLbl="node1" presStyleIdx="3" presStyleCnt="4">
        <dgm:presLayoutVars>
          <dgm:bulletEnabled val="1"/>
        </dgm:presLayoutVars>
      </dgm:prSet>
      <dgm:spPr/>
      <dgm:t>
        <a:bodyPr/>
        <a:lstStyle/>
        <a:p>
          <a:endParaRPr lang="en-US"/>
        </a:p>
      </dgm:t>
    </dgm:pt>
    <dgm:pt modelId="{3B1B5107-0514-4956-B7AE-BE04DF7064A1}" type="pres">
      <dgm:prSet presAssocID="{30039373-7683-456D-B610-3D8C9964CDAF}" presName="FourNodes_4_text" presStyleLbl="node1" presStyleIdx="3" presStyleCnt="4">
        <dgm:presLayoutVars>
          <dgm:bulletEnabled val="1"/>
        </dgm:presLayoutVars>
      </dgm:prSet>
      <dgm:spPr/>
      <dgm:t>
        <a:bodyPr/>
        <a:lstStyle/>
        <a:p>
          <a:endParaRPr lang="en-US"/>
        </a:p>
      </dgm:t>
    </dgm:pt>
  </dgm:ptLst>
  <dgm:cxnLst>
    <dgm:cxn modelId="{45196751-B77A-4D68-8708-EC81E644DA10}" type="presOf" srcId="{5F0B2350-D344-4FEB-8162-F36DF5E469E8}" destId="{3F89612D-7FD8-4878-AE3A-CF071CA86279}" srcOrd="0" destOrd="0" presId="urn:microsoft.com/office/officeart/2005/8/layout/vProcess5"/>
    <dgm:cxn modelId="{728F3C58-2A37-4687-A11A-35E117258087}" srcId="{30039373-7683-456D-B610-3D8C9964CDAF}" destId="{5F0B2350-D344-4FEB-8162-F36DF5E469E8}" srcOrd="1" destOrd="0" parTransId="{0185FB51-508A-4204-BC08-E40699A123F6}" sibTransId="{B67FDCB8-774E-4EA8-A0F5-BB95C6E77508}"/>
    <dgm:cxn modelId="{B0F381AF-2336-45A4-86CB-DB1A5F27B9E2}" type="presOf" srcId="{30039373-7683-456D-B610-3D8C9964CDAF}" destId="{4D28B163-22A9-44BA-9E40-D4896172E385}" srcOrd="0" destOrd="0" presId="urn:microsoft.com/office/officeart/2005/8/layout/vProcess5"/>
    <dgm:cxn modelId="{6935E5CD-1436-417D-9FAD-3754E46A56C0}" type="presOf" srcId="{5F0B2350-D344-4FEB-8162-F36DF5E469E8}" destId="{F8E1F907-D0E6-4083-8102-54BBD54B0311}" srcOrd="1" destOrd="0" presId="urn:microsoft.com/office/officeart/2005/8/layout/vProcess5"/>
    <dgm:cxn modelId="{F0C9F870-1E5F-476F-B006-5572F871E272}" srcId="{30039373-7683-456D-B610-3D8C9964CDAF}" destId="{9D9CEEBE-69A0-4CDD-9264-F524048F463D}" srcOrd="2" destOrd="0" parTransId="{01D0F9AD-1D7C-4E1E-9097-699694D06D31}" sibTransId="{C0EF4FBD-BE28-445A-B9FB-347285CEE264}"/>
    <dgm:cxn modelId="{734262B5-558F-44FF-9BAC-7A6F22B0173E}" type="presOf" srcId="{9D9CEEBE-69A0-4CDD-9264-F524048F463D}" destId="{6505D34C-5B3B-492E-885A-20A7CAF1098B}" srcOrd="1" destOrd="0" presId="urn:microsoft.com/office/officeart/2005/8/layout/vProcess5"/>
    <dgm:cxn modelId="{B65570BB-4530-481E-994D-7E2356DE3897}" type="presOf" srcId="{BC85E3C4-8D39-4F1A-AF4F-7B32B51F2689}" destId="{86324BED-E2D2-40B0-8F48-DE5C5C877BD1}" srcOrd="0" destOrd="0" presId="urn:microsoft.com/office/officeart/2005/8/layout/vProcess5"/>
    <dgm:cxn modelId="{FAB65DA9-90B3-42EA-AE3F-02E4E87AB158}" type="presOf" srcId="{389D22C4-D39B-4075-8624-747D431E455C}" destId="{3B1B5107-0514-4956-B7AE-BE04DF7064A1}" srcOrd="1" destOrd="0" presId="urn:microsoft.com/office/officeart/2005/8/layout/vProcess5"/>
    <dgm:cxn modelId="{44BF78BE-51F7-4486-BC00-1843D0C0DFD0}" type="presOf" srcId="{B67FDCB8-774E-4EA8-A0F5-BB95C6E77508}" destId="{98067876-72BA-4799-A403-4CE54D2BB345}" srcOrd="0" destOrd="0" presId="urn:microsoft.com/office/officeart/2005/8/layout/vProcess5"/>
    <dgm:cxn modelId="{8F95DC91-C6F5-4CE7-87DB-4A2293832681}" type="presOf" srcId="{BC85E3C4-8D39-4F1A-AF4F-7B32B51F2689}" destId="{AE18F3C7-1446-474C-B98E-BCC5FB8D4F78}" srcOrd="1" destOrd="0" presId="urn:microsoft.com/office/officeart/2005/8/layout/vProcess5"/>
    <dgm:cxn modelId="{1C6E7477-ED3E-4B13-B868-357BA64DBE04}" srcId="{30039373-7683-456D-B610-3D8C9964CDAF}" destId="{BC85E3C4-8D39-4F1A-AF4F-7B32B51F2689}" srcOrd="0" destOrd="0" parTransId="{4D91D46D-7891-4EEA-BC9E-1ACFC1B69519}" sibTransId="{A92ACBFC-2A5D-4FB2-B659-1BFDB43CDE1A}"/>
    <dgm:cxn modelId="{5BEE3023-6BEB-43C2-A4D7-8972D9E08737}" type="presOf" srcId="{389D22C4-D39B-4075-8624-747D431E455C}" destId="{396C7145-547A-4DA8-951A-E2C3061CD1C1}" srcOrd="0" destOrd="0" presId="urn:microsoft.com/office/officeart/2005/8/layout/vProcess5"/>
    <dgm:cxn modelId="{E443F6B4-D7CC-4FB4-BACD-5BB5655071FF}" type="presOf" srcId="{C0EF4FBD-BE28-445A-B9FB-347285CEE264}" destId="{BA6EA247-310A-4E43-AB27-9441D1C8FC02}" srcOrd="0" destOrd="0" presId="urn:microsoft.com/office/officeart/2005/8/layout/vProcess5"/>
    <dgm:cxn modelId="{F3D94481-37D2-4957-B2DD-54B351841254}" type="presOf" srcId="{A92ACBFC-2A5D-4FB2-B659-1BFDB43CDE1A}" destId="{79E56C25-E72D-4633-BF3C-294B6EFFC2F2}" srcOrd="0" destOrd="0" presId="urn:microsoft.com/office/officeart/2005/8/layout/vProcess5"/>
    <dgm:cxn modelId="{EBC44960-16FF-4835-9E35-CD6CB4C3BAC8}" type="presOf" srcId="{9D9CEEBE-69A0-4CDD-9264-F524048F463D}" destId="{F7C8FF10-1E56-4F9C-AAEC-ADE1D333F758}" srcOrd="0" destOrd="0" presId="urn:microsoft.com/office/officeart/2005/8/layout/vProcess5"/>
    <dgm:cxn modelId="{8B5B4FB9-BD88-4584-9FEF-0EF3C964760B}" srcId="{30039373-7683-456D-B610-3D8C9964CDAF}" destId="{389D22C4-D39B-4075-8624-747D431E455C}" srcOrd="3" destOrd="0" parTransId="{8E02CF63-3775-4605-A2D4-40238BBAB8BF}" sibTransId="{A9885583-CEE1-4F81-9508-0FE5A898B2CE}"/>
    <dgm:cxn modelId="{0E369FEF-1C18-498D-99C5-547D58E672BB}" type="presParOf" srcId="{4D28B163-22A9-44BA-9E40-D4896172E385}" destId="{BF707B0F-541D-4FEF-BC73-96865B656FCA}" srcOrd="0" destOrd="0" presId="urn:microsoft.com/office/officeart/2005/8/layout/vProcess5"/>
    <dgm:cxn modelId="{D0351242-5CBC-4767-8801-38A6906EDCEF}" type="presParOf" srcId="{4D28B163-22A9-44BA-9E40-D4896172E385}" destId="{86324BED-E2D2-40B0-8F48-DE5C5C877BD1}" srcOrd="1" destOrd="0" presId="urn:microsoft.com/office/officeart/2005/8/layout/vProcess5"/>
    <dgm:cxn modelId="{60B5170C-600D-4707-9261-6917AE59B6D1}" type="presParOf" srcId="{4D28B163-22A9-44BA-9E40-D4896172E385}" destId="{3F89612D-7FD8-4878-AE3A-CF071CA86279}" srcOrd="2" destOrd="0" presId="urn:microsoft.com/office/officeart/2005/8/layout/vProcess5"/>
    <dgm:cxn modelId="{E630CEBB-7CB0-4A13-8824-BEB9D6D448AE}" type="presParOf" srcId="{4D28B163-22A9-44BA-9E40-D4896172E385}" destId="{F7C8FF10-1E56-4F9C-AAEC-ADE1D333F758}" srcOrd="3" destOrd="0" presId="urn:microsoft.com/office/officeart/2005/8/layout/vProcess5"/>
    <dgm:cxn modelId="{9F615112-D493-4969-900C-C77764884E6E}" type="presParOf" srcId="{4D28B163-22A9-44BA-9E40-D4896172E385}" destId="{396C7145-547A-4DA8-951A-E2C3061CD1C1}" srcOrd="4" destOrd="0" presId="urn:microsoft.com/office/officeart/2005/8/layout/vProcess5"/>
    <dgm:cxn modelId="{53819DE7-AE81-4777-B6BD-4F8D852426BE}" type="presParOf" srcId="{4D28B163-22A9-44BA-9E40-D4896172E385}" destId="{79E56C25-E72D-4633-BF3C-294B6EFFC2F2}" srcOrd="5" destOrd="0" presId="urn:microsoft.com/office/officeart/2005/8/layout/vProcess5"/>
    <dgm:cxn modelId="{42635CB7-7FE9-4042-920A-141F3905A26D}" type="presParOf" srcId="{4D28B163-22A9-44BA-9E40-D4896172E385}" destId="{98067876-72BA-4799-A403-4CE54D2BB345}" srcOrd="6" destOrd="0" presId="urn:microsoft.com/office/officeart/2005/8/layout/vProcess5"/>
    <dgm:cxn modelId="{ADDC24E2-6945-481D-A1B9-8644EB18A0FB}" type="presParOf" srcId="{4D28B163-22A9-44BA-9E40-D4896172E385}" destId="{BA6EA247-310A-4E43-AB27-9441D1C8FC02}" srcOrd="7" destOrd="0" presId="urn:microsoft.com/office/officeart/2005/8/layout/vProcess5"/>
    <dgm:cxn modelId="{9084929D-6DF0-4E0A-92F6-2721053F27E5}" type="presParOf" srcId="{4D28B163-22A9-44BA-9E40-D4896172E385}" destId="{AE18F3C7-1446-474C-B98E-BCC5FB8D4F78}" srcOrd="8" destOrd="0" presId="urn:microsoft.com/office/officeart/2005/8/layout/vProcess5"/>
    <dgm:cxn modelId="{A3A3D8AE-DCC7-400D-81B5-E893D6A0E4B7}" type="presParOf" srcId="{4D28B163-22A9-44BA-9E40-D4896172E385}" destId="{F8E1F907-D0E6-4083-8102-54BBD54B0311}" srcOrd="9" destOrd="0" presId="urn:microsoft.com/office/officeart/2005/8/layout/vProcess5"/>
    <dgm:cxn modelId="{5906DAF8-B74A-4D52-8A84-3A4B9FC64B0A}" type="presParOf" srcId="{4D28B163-22A9-44BA-9E40-D4896172E385}" destId="{6505D34C-5B3B-492E-885A-20A7CAF1098B}" srcOrd="10" destOrd="0" presId="urn:microsoft.com/office/officeart/2005/8/layout/vProcess5"/>
    <dgm:cxn modelId="{0F2912C8-68CF-430A-90AF-497119740B39}" type="presParOf" srcId="{4D28B163-22A9-44BA-9E40-D4896172E385}" destId="{3B1B5107-0514-4956-B7AE-BE04DF7064A1}" srcOrd="11" destOrd="0" presId="urn:microsoft.com/office/officeart/2005/8/layout/vProcess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E58BD4-D634-4F37-801B-BB7CDF2A1F7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CC603E-04C9-4DE9-91E2-05E795AF5C78}">
      <dgm:prSet/>
      <dgm:spPr/>
      <dgm:t>
        <a:bodyPr/>
        <a:lstStyle/>
        <a:p>
          <a:r>
            <a:rPr lang="en-US" b="1" i="0" dirty="0"/>
            <a:t>The Oxford English Dictionary defines ethics as the "moral principles that govern a person's behaviour of the conducting of an activity". </a:t>
          </a:r>
          <a:endParaRPr lang="en-US" dirty="0"/>
        </a:p>
      </dgm:t>
    </dgm:pt>
    <dgm:pt modelId="{8B605B16-8F16-4CA8-BE38-6AAA432CEFBD}" type="parTrans" cxnId="{283D4193-FC67-45B2-9B61-7BF22F039246}">
      <dgm:prSet/>
      <dgm:spPr/>
      <dgm:t>
        <a:bodyPr/>
        <a:lstStyle/>
        <a:p>
          <a:endParaRPr lang="en-US"/>
        </a:p>
      </dgm:t>
    </dgm:pt>
    <dgm:pt modelId="{1FD6DA45-F67A-452D-8979-CBB40585E02D}" type="sibTrans" cxnId="{283D4193-FC67-45B2-9B61-7BF22F039246}">
      <dgm:prSet/>
      <dgm:spPr/>
      <dgm:t>
        <a:bodyPr/>
        <a:lstStyle/>
        <a:p>
          <a:endParaRPr lang="en-US"/>
        </a:p>
      </dgm:t>
    </dgm:pt>
    <dgm:pt modelId="{E698A0EC-8D7D-437A-8B08-70E0DCE62E96}">
      <dgm:prSet/>
      <dgm:spPr/>
      <dgm:t>
        <a:bodyPr/>
        <a:lstStyle/>
        <a:p>
          <a:r>
            <a:rPr lang="en-US" b="1" i="0"/>
            <a:t>Ethics is thus concerned with how one should act in a certain situation, about ‘doing the right thing’ and is ultimately about morality – the difference between right and wrong.</a:t>
          </a:r>
          <a:endParaRPr lang="en-US"/>
        </a:p>
      </dgm:t>
    </dgm:pt>
    <dgm:pt modelId="{75312E0D-67D0-4D06-9CAE-6B4903BB8CAF}" type="parTrans" cxnId="{4883494F-8059-4A18-BDBD-3AE25653277D}">
      <dgm:prSet/>
      <dgm:spPr/>
      <dgm:t>
        <a:bodyPr/>
        <a:lstStyle/>
        <a:p>
          <a:endParaRPr lang="en-US"/>
        </a:p>
      </dgm:t>
    </dgm:pt>
    <dgm:pt modelId="{0398CE17-01FB-454E-AF9A-54706E3AC04E}" type="sibTrans" cxnId="{4883494F-8059-4A18-BDBD-3AE25653277D}">
      <dgm:prSet/>
      <dgm:spPr/>
      <dgm:t>
        <a:bodyPr/>
        <a:lstStyle/>
        <a:p>
          <a:endParaRPr lang="en-US"/>
        </a:p>
      </dgm:t>
    </dgm:pt>
    <dgm:pt modelId="{36DE4AE3-A0C6-4374-A01B-5B7E22EAD850}" type="pres">
      <dgm:prSet presAssocID="{70E58BD4-D634-4F37-801B-BB7CDF2A1F7E}" presName="root" presStyleCnt="0">
        <dgm:presLayoutVars>
          <dgm:dir/>
          <dgm:resizeHandles val="exact"/>
        </dgm:presLayoutVars>
      </dgm:prSet>
      <dgm:spPr/>
      <dgm:t>
        <a:bodyPr/>
        <a:lstStyle/>
        <a:p>
          <a:endParaRPr lang="en-US"/>
        </a:p>
      </dgm:t>
    </dgm:pt>
    <dgm:pt modelId="{49D43861-8DA9-4CBA-B556-560784651A31}" type="pres">
      <dgm:prSet presAssocID="{EDCC603E-04C9-4DE9-91E2-05E795AF5C78}" presName="compNode" presStyleCnt="0"/>
      <dgm:spPr/>
    </dgm:pt>
    <dgm:pt modelId="{1216886D-CF46-4C80-95BE-C129FD15B884}" type="pres">
      <dgm:prSet presAssocID="{EDCC603E-04C9-4DE9-91E2-05E795AF5C78}" presName="bgRect" presStyleLbl="bgShp" presStyleIdx="0" presStyleCnt="2"/>
      <dgm:spPr/>
    </dgm:pt>
    <dgm:pt modelId="{E65CE206-9FCE-49A9-957F-246569812601}" type="pres">
      <dgm:prSet presAssocID="{EDCC603E-04C9-4DE9-91E2-05E795AF5C7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xmlns=""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xmlns="" id="0" name="" descr="Books"/>
        </a:ext>
      </dgm:extLst>
    </dgm:pt>
    <dgm:pt modelId="{480C1EF7-CF55-42FC-8E53-1323E1B76C70}" type="pres">
      <dgm:prSet presAssocID="{EDCC603E-04C9-4DE9-91E2-05E795AF5C78}" presName="spaceRect" presStyleCnt="0"/>
      <dgm:spPr/>
    </dgm:pt>
    <dgm:pt modelId="{BEFD9CF6-5BD2-4461-BB58-49A51FF37131}" type="pres">
      <dgm:prSet presAssocID="{EDCC603E-04C9-4DE9-91E2-05E795AF5C78}" presName="parTx" presStyleLbl="revTx" presStyleIdx="0" presStyleCnt="2">
        <dgm:presLayoutVars>
          <dgm:chMax val="0"/>
          <dgm:chPref val="0"/>
        </dgm:presLayoutVars>
      </dgm:prSet>
      <dgm:spPr/>
      <dgm:t>
        <a:bodyPr/>
        <a:lstStyle/>
        <a:p>
          <a:endParaRPr lang="en-US"/>
        </a:p>
      </dgm:t>
    </dgm:pt>
    <dgm:pt modelId="{E6728521-AEA9-4A87-B9E0-BCE987F9FE26}" type="pres">
      <dgm:prSet presAssocID="{1FD6DA45-F67A-452D-8979-CBB40585E02D}" presName="sibTrans" presStyleCnt="0"/>
      <dgm:spPr/>
    </dgm:pt>
    <dgm:pt modelId="{B47E28A2-750E-4D53-828D-DAC1771E0D77}" type="pres">
      <dgm:prSet presAssocID="{E698A0EC-8D7D-437A-8B08-70E0DCE62E96}" presName="compNode" presStyleCnt="0"/>
      <dgm:spPr/>
    </dgm:pt>
    <dgm:pt modelId="{6582C735-1A74-4359-857C-B241A6E339A8}" type="pres">
      <dgm:prSet presAssocID="{E698A0EC-8D7D-437A-8B08-70E0DCE62E96}" presName="bgRect" presStyleLbl="bgShp" presStyleIdx="1" presStyleCnt="2"/>
      <dgm:spPr/>
    </dgm:pt>
    <dgm:pt modelId="{10ACF061-9C73-43E4-9C50-61581250CEC2}" type="pres">
      <dgm:prSet presAssocID="{E698A0EC-8D7D-437A-8B08-70E0DCE62E9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xmlns=""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xmlns="" id="0" name="" descr="Scales of Justice"/>
        </a:ext>
      </dgm:extLst>
    </dgm:pt>
    <dgm:pt modelId="{BF9604ED-9C27-4DE4-91C5-AFE4A212E5CF}" type="pres">
      <dgm:prSet presAssocID="{E698A0EC-8D7D-437A-8B08-70E0DCE62E96}" presName="spaceRect" presStyleCnt="0"/>
      <dgm:spPr/>
    </dgm:pt>
    <dgm:pt modelId="{49063FAE-BE29-40F1-A4F8-0C7CDF37EFBB}" type="pres">
      <dgm:prSet presAssocID="{E698A0EC-8D7D-437A-8B08-70E0DCE62E96}" presName="parTx" presStyleLbl="revTx" presStyleIdx="1" presStyleCnt="2">
        <dgm:presLayoutVars>
          <dgm:chMax val="0"/>
          <dgm:chPref val="0"/>
        </dgm:presLayoutVars>
      </dgm:prSet>
      <dgm:spPr/>
      <dgm:t>
        <a:bodyPr/>
        <a:lstStyle/>
        <a:p>
          <a:endParaRPr lang="en-US"/>
        </a:p>
      </dgm:t>
    </dgm:pt>
  </dgm:ptLst>
  <dgm:cxnLst>
    <dgm:cxn modelId="{53E86179-8F43-42DC-BD7E-324B01789FA2}" type="presOf" srcId="{EDCC603E-04C9-4DE9-91E2-05E795AF5C78}" destId="{BEFD9CF6-5BD2-4461-BB58-49A51FF37131}" srcOrd="0" destOrd="0" presId="urn:microsoft.com/office/officeart/2018/2/layout/IconVerticalSolidList"/>
    <dgm:cxn modelId="{27C9EB4B-158B-4998-A34A-F810EB654D8C}" type="presOf" srcId="{E698A0EC-8D7D-437A-8B08-70E0DCE62E96}" destId="{49063FAE-BE29-40F1-A4F8-0C7CDF37EFBB}" srcOrd="0" destOrd="0" presId="urn:microsoft.com/office/officeart/2018/2/layout/IconVerticalSolidList"/>
    <dgm:cxn modelId="{283D4193-FC67-45B2-9B61-7BF22F039246}" srcId="{70E58BD4-D634-4F37-801B-BB7CDF2A1F7E}" destId="{EDCC603E-04C9-4DE9-91E2-05E795AF5C78}" srcOrd="0" destOrd="0" parTransId="{8B605B16-8F16-4CA8-BE38-6AAA432CEFBD}" sibTransId="{1FD6DA45-F67A-452D-8979-CBB40585E02D}"/>
    <dgm:cxn modelId="{4883494F-8059-4A18-BDBD-3AE25653277D}" srcId="{70E58BD4-D634-4F37-801B-BB7CDF2A1F7E}" destId="{E698A0EC-8D7D-437A-8B08-70E0DCE62E96}" srcOrd="1" destOrd="0" parTransId="{75312E0D-67D0-4D06-9CAE-6B4903BB8CAF}" sibTransId="{0398CE17-01FB-454E-AF9A-54706E3AC04E}"/>
    <dgm:cxn modelId="{E01920E6-93AD-4FF9-87C4-D9CA8F43D0FA}" type="presOf" srcId="{70E58BD4-D634-4F37-801B-BB7CDF2A1F7E}" destId="{36DE4AE3-A0C6-4374-A01B-5B7E22EAD850}" srcOrd="0" destOrd="0" presId="urn:microsoft.com/office/officeart/2018/2/layout/IconVerticalSolidList"/>
    <dgm:cxn modelId="{5EAED3DE-E505-461C-8530-4FC8664BDE53}" type="presParOf" srcId="{36DE4AE3-A0C6-4374-A01B-5B7E22EAD850}" destId="{49D43861-8DA9-4CBA-B556-560784651A31}" srcOrd="0" destOrd="0" presId="urn:microsoft.com/office/officeart/2018/2/layout/IconVerticalSolidList"/>
    <dgm:cxn modelId="{64BF72DC-CE56-4395-9145-61BB7E4B0A5F}" type="presParOf" srcId="{49D43861-8DA9-4CBA-B556-560784651A31}" destId="{1216886D-CF46-4C80-95BE-C129FD15B884}" srcOrd="0" destOrd="0" presId="urn:microsoft.com/office/officeart/2018/2/layout/IconVerticalSolidList"/>
    <dgm:cxn modelId="{EFE60235-DBA4-423B-99F2-85ECC6622A48}" type="presParOf" srcId="{49D43861-8DA9-4CBA-B556-560784651A31}" destId="{E65CE206-9FCE-49A9-957F-246569812601}" srcOrd="1" destOrd="0" presId="urn:microsoft.com/office/officeart/2018/2/layout/IconVerticalSolidList"/>
    <dgm:cxn modelId="{56FDEE1F-8944-436B-BBF1-64D487C51BF5}" type="presParOf" srcId="{49D43861-8DA9-4CBA-B556-560784651A31}" destId="{480C1EF7-CF55-42FC-8E53-1323E1B76C70}" srcOrd="2" destOrd="0" presId="urn:microsoft.com/office/officeart/2018/2/layout/IconVerticalSolidList"/>
    <dgm:cxn modelId="{702F552C-3D2A-423D-A7E7-E57BFF6C78E7}" type="presParOf" srcId="{49D43861-8DA9-4CBA-B556-560784651A31}" destId="{BEFD9CF6-5BD2-4461-BB58-49A51FF37131}" srcOrd="3" destOrd="0" presId="urn:microsoft.com/office/officeart/2018/2/layout/IconVerticalSolidList"/>
    <dgm:cxn modelId="{3116D17A-E2A9-4722-8E3D-65F7CC6E9F6E}" type="presParOf" srcId="{36DE4AE3-A0C6-4374-A01B-5B7E22EAD850}" destId="{E6728521-AEA9-4A87-B9E0-BCE987F9FE26}" srcOrd="1" destOrd="0" presId="urn:microsoft.com/office/officeart/2018/2/layout/IconVerticalSolidList"/>
    <dgm:cxn modelId="{6AA80548-6D8E-4619-87F2-5584D87C21F0}" type="presParOf" srcId="{36DE4AE3-A0C6-4374-A01B-5B7E22EAD850}" destId="{B47E28A2-750E-4D53-828D-DAC1771E0D77}" srcOrd="2" destOrd="0" presId="urn:microsoft.com/office/officeart/2018/2/layout/IconVerticalSolidList"/>
    <dgm:cxn modelId="{23C8B8A1-6AD4-4238-B4C1-36E14CECA952}" type="presParOf" srcId="{B47E28A2-750E-4D53-828D-DAC1771E0D77}" destId="{6582C735-1A74-4359-857C-B241A6E339A8}" srcOrd="0" destOrd="0" presId="urn:microsoft.com/office/officeart/2018/2/layout/IconVerticalSolidList"/>
    <dgm:cxn modelId="{71419553-683F-4F7A-A24D-A415FBF5CE73}" type="presParOf" srcId="{B47E28A2-750E-4D53-828D-DAC1771E0D77}" destId="{10ACF061-9C73-43E4-9C50-61581250CEC2}" srcOrd="1" destOrd="0" presId="urn:microsoft.com/office/officeart/2018/2/layout/IconVerticalSolidList"/>
    <dgm:cxn modelId="{1FEA025D-78D0-4B2E-A3A2-46E746FD6982}" type="presParOf" srcId="{B47E28A2-750E-4D53-828D-DAC1771E0D77}" destId="{BF9604ED-9C27-4DE4-91C5-AFE4A212E5CF}" srcOrd="2" destOrd="0" presId="urn:microsoft.com/office/officeart/2018/2/layout/IconVerticalSolidList"/>
    <dgm:cxn modelId="{16CC0A61-482A-4B6D-A0F4-CB347C010B63}" type="presParOf" srcId="{B47E28A2-750E-4D53-828D-DAC1771E0D77}" destId="{49063FAE-BE29-40F1-A4F8-0C7CDF37EFBB}" srcOrd="3" destOrd="0" presId="urn:microsoft.com/office/officeart/2018/2/layout/IconVerticalSolidList"/>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57C4A83-621F-4862-B85C-6A5C0D99127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396BCE2-E819-4579-894E-7D742E8C6695}">
      <dgm:prSet/>
      <dgm:spPr/>
      <dgm:t>
        <a:bodyPr/>
        <a:lstStyle/>
        <a:p>
          <a:r>
            <a:rPr lang="en-US"/>
            <a:t>Law</a:t>
          </a:r>
        </a:p>
      </dgm:t>
    </dgm:pt>
    <dgm:pt modelId="{6D401C7F-88DC-4049-95E7-49430620DDB6}" type="parTrans" cxnId="{2CB30BEC-62F6-474F-B9C5-974CC9726BE2}">
      <dgm:prSet/>
      <dgm:spPr/>
      <dgm:t>
        <a:bodyPr/>
        <a:lstStyle/>
        <a:p>
          <a:endParaRPr lang="en-US"/>
        </a:p>
      </dgm:t>
    </dgm:pt>
    <dgm:pt modelId="{50446E48-8CEF-47F7-8FDD-77A9104AB5FA}" type="sibTrans" cxnId="{2CB30BEC-62F6-474F-B9C5-974CC9726BE2}">
      <dgm:prSet/>
      <dgm:spPr/>
      <dgm:t>
        <a:bodyPr/>
        <a:lstStyle/>
        <a:p>
          <a:endParaRPr lang="en-US"/>
        </a:p>
      </dgm:t>
    </dgm:pt>
    <dgm:pt modelId="{8114D161-B55C-46B4-9AC0-D0FC3DD38740}">
      <dgm:prSet/>
      <dgm:spPr/>
      <dgm:t>
        <a:bodyPr/>
        <a:lstStyle/>
        <a:p>
          <a:r>
            <a:rPr lang="en-US"/>
            <a:t>Government Regulations</a:t>
          </a:r>
        </a:p>
      </dgm:t>
    </dgm:pt>
    <dgm:pt modelId="{8298B5F9-D69A-46DD-9CE4-48E5389DF821}" type="parTrans" cxnId="{9D942288-6A7B-4D10-8D41-AB1FFA079204}">
      <dgm:prSet/>
      <dgm:spPr/>
      <dgm:t>
        <a:bodyPr/>
        <a:lstStyle/>
        <a:p>
          <a:endParaRPr lang="en-US"/>
        </a:p>
      </dgm:t>
    </dgm:pt>
    <dgm:pt modelId="{88D350C4-14FC-4761-A4B2-50380258E1A8}" type="sibTrans" cxnId="{9D942288-6A7B-4D10-8D41-AB1FFA079204}">
      <dgm:prSet/>
      <dgm:spPr/>
      <dgm:t>
        <a:bodyPr/>
        <a:lstStyle/>
        <a:p>
          <a:endParaRPr lang="en-US"/>
        </a:p>
      </dgm:t>
    </dgm:pt>
    <dgm:pt modelId="{D1EB4D0A-9C25-4EE5-9420-095B52B8C720}">
      <dgm:prSet/>
      <dgm:spPr/>
      <dgm:t>
        <a:bodyPr/>
        <a:lstStyle/>
        <a:p>
          <a:r>
            <a:rPr lang="en-US"/>
            <a:t>Ethical Codes</a:t>
          </a:r>
        </a:p>
      </dgm:t>
    </dgm:pt>
    <dgm:pt modelId="{22FEFDDC-DD8C-4526-91CE-F61B8FC58D0C}" type="parTrans" cxnId="{3624BD20-1BCF-4109-BD13-37E9DE3E1429}">
      <dgm:prSet/>
      <dgm:spPr/>
      <dgm:t>
        <a:bodyPr/>
        <a:lstStyle/>
        <a:p>
          <a:endParaRPr lang="en-US"/>
        </a:p>
      </dgm:t>
    </dgm:pt>
    <dgm:pt modelId="{B645FED4-6DB0-4A9E-8F7F-35F2A1D86A14}" type="sibTrans" cxnId="{3624BD20-1BCF-4109-BD13-37E9DE3E1429}">
      <dgm:prSet/>
      <dgm:spPr/>
      <dgm:t>
        <a:bodyPr/>
        <a:lstStyle/>
        <a:p>
          <a:endParaRPr lang="en-US"/>
        </a:p>
      </dgm:t>
    </dgm:pt>
    <dgm:pt modelId="{A3E58A9F-2299-48CF-B45B-FD0ADEA6A37D}">
      <dgm:prSet/>
      <dgm:spPr/>
      <dgm:t>
        <a:bodyPr/>
        <a:lstStyle/>
        <a:p>
          <a:r>
            <a:rPr lang="en-US"/>
            <a:t>Social Pressure</a:t>
          </a:r>
        </a:p>
      </dgm:t>
    </dgm:pt>
    <dgm:pt modelId="{36D52E0F-2C97-479E-93E4-42C68CD9360E}" type="parTrans" cxnId="{F52BB07C-0869-41B3-84D1-93A41095B212}">
      <dgm:prSet/>
      <dgm:spPr/>
      <dgm:t>
        <a:bodyPr/>
        <a:lstStyle/>
        <a:p>
          <a:endParaRPr lang="en-US"/>
        </a:p>
      </dgm:t>
    </dgm:pt>
    <dgm:pt modelId="{85436545-9E29-45D5-B2BE-DCB42ACBC4E6}" type="sibTrans" cxnId="{F52BB07C-0869-41B3-84D1-93A41095B212}">
      <dgm:prSet/>
      <dgm:spPr/>
      <dgm:t>
        <a:bodyPr/>
        <a:lstStyle/>
        <a:p>
          <a:endParaRPr lang="en-US"/>
        </a:p>
      </dgm:t>
    </dgm:pt>
    <dgm:pt modelId="{5998AA2F-9E7B-41B2-B84D-5E1BD8022DF5}">
      <dgm:prSet/>
      <dgm:spPr/>
      <dgm:t>
        <a:bodyPr/>
        <a:lstStyle/>
        <a:p>
          <a:r>
            <a:rPr lang="en-US"/>
            <a:t>Corporate Culture</a:t>
          </a:r>
        </a:p>
      </dgm:t>
    </dgm:pt>
    <dgm:pt modelId="{B38BE30F-5367-4042-8A28-6D951E09234E}" type="parTrans" cxnId="{A7771562-ACFB-4B58-9E56-A087AEAE5674}">
      <dgm:prSet/>
      <dgm:spPr/>
      <dgm:t>
        <a:bodyPr/>
        <a:lstStyle/>
        <a:p>
          <a:endParaRPr lang="en-US"/>
        </a:p>
      </dgm:t>
    </dgm:pt>
    <dgm:pt modelId="{5336715D-4864-439F-811B-1B9CA9DCC56C}" type="sibTrans" cxnId="{A7771562-ACFB-4B58-9E56-A087AEAE5674}">
      <dgm:prSet/>
      <dgm:spPr/>
      <dgm:t>
        <a:bodyPr/>
        <a:lstStyle/>
        <a:p>
          <a:endParaRPr lang="en-US"/>
        </a:p>
      </dgm:t>
    </dgm:pt>
    <dgm:pt modelId="{68E387F1-12BA-4DEA-A7BB-CFD49F7A574E}">
      <dgm:prSet/>
      <dgm:spPr/>
      <dgm:t>
        <a:bodyPr/>
        <a:lstStyle/>
        <a:p>
          <a:r>
            <a:rPr lang="en-US"/>
            <a:t>Personal Policies and Values</a:t>
          </a:r>
        </a:p>
      </dgm:t>
    </dgm:pt>
    <dgm:pt modelId="{99282F86-5505-4F7E-AE1A-FF560846B0A0}" type="parTrans" cxnId="{8C826A8E-B595-47C8-8B79-184F4DCAD011}">
      <dgm:prSet/>
      <dgm:spPr/>
      <dgm:t>
        <a:bodyPr/>
        <a:lstStyle/>
        <a:p>
          <a:endParaRPr lang="en-US"/>
        </a:p>
      </dgm:t>
    </dgm:pt>
    <dgm:pt modelId="{69537F53-27C6-4F5F-81B8-C57D4643B957}" type="sibTrans" cxnId="{8C826A8E-B595-47C8-8B79-184F4DCAD011}">
      <dgm:prSet/>
      <dgm:spPr/>
      <dgm:t>
        <a:bodyPr/>
        <a:lstStyle/>
        <a:p>
          <a:endParaRPr lang="en-US"/>
        </a:p>
      </dgm:t>
    </dgm:pt>
    <dgm:pt modelId="{411A49E4-5F26-4DE4-9E57-00183C3391D5}" type="pres">
      <dgm:prSet presAssocID="{757C4A83-621F-4862-B85C-6A5C0D99127D}" presName="root" presStyleCnt="0">
        <dgm:presLayoutVars>
          <dgm:dir/>
          <dgm:resizeHandles val="exact"/>
        </dgm:presLayoutVars>
      </dgm:prSet>
      <dgm:spPr/>
      <dgm:t>
        <a:bodyPr/>
        <a:lstStyle/>
        <a:p>
          <a:endParaRPr lang="en-US"/>
        </a:p>
      </dgm:t>
    </dgm:pt>
    <dgm:pt modelId="{BF658DEB-029F-491B-A128-6B7724992E22}" type="pres">
      <dgm:prSet presAssocID="{A396BCE2-E819-4579-894E-7D742E8C6695}" presName="compNode" presStyleCnt="0"/>
      <dgm:spPr/>
    </dgm:pt>
    <dgm:pt modelId="{425A31A6-C66C-4C38-B3F4-DD1ED048B61C}" type="pres">
      <dgm:prSet presAssocID="{A396BCE2-E819-4579-894E-7D742E8C6695}" presName="bgRect" presStyleLbl="bgShp" presStyleIdx="0" presStyleCnt="6"/>
      <dgm:spPr/>
    </dgm:pt>
    <dgm:pt modelId="{47717C72-8677-4EBE-9724-91D6DF5BE2AD}" type="pres">
      <dgm:prSet presAssocID="{A396BCE2-E819-4579-894E-7D742E8C6695}"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xmlns=""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xmlns="" id="0" name="" descr="Commitments"/>
        </a:ext>
      </dgm:extLst>
    </dgm:pt>
    <dgm:pt modelId="{F633CB6E-7D90-4789-9DA5-FDA3A9086CA4}" type="pres">
      <dgm:prSet presAssocID="{A396BCE2-E819-4579-894E-7D742E8C6695}" presName="spaceRect" presStyleCnt="0"/>
      <dgm:spPr/>
    </dgm:pt>
    <dgm:pt modelId="{E156F635-71D8-4E4E-8967-A2347F6ADCD8}" type="pres">
      <dgm:prSet presAssocID="{A396BCE2-E819-4579-894E-7D742E8C6695}" presName="parTx" presStyleLbl="revTx" presStyleIdx="0" presStyleCnt="6">
        <dgm:presLayoutVars>
          <dgm:chMax val="0"/>
          <dgm:chPref val="0"/>
        </dgm:presLayoutVars>
      </dgm:prSet>
      <dgm:spPr/>
      <dgm:t>
        <a:bodyPr/>
        <a:lstStyle/>
        <a:p>
          <a:endParaRPr lang="en-US"/>
        </a:p>
      </dgm:t>
    </dgm:pt>
    <dgm:pt modelId="{3FF536B5-A030-4FAD-B4A3-2A31560D6E8B}" type="pres">
      <dgm:prSet presAssocID="{50446E48-8CEF-47F7-8FDD-77A9104AB5FA}" presName="sibTrans" presStyleCnt="0"/>
      <dgm:spPr/>
    </dgm:pt>
    <dgm:pt modelId="{FEC75025-7900-4440-B07F-B98DA05092FB}" type="pres">
      <dgm:prSet presAssocID="{8114D161-B55C-46B4-9AC0-D0FC3DD38740}" presName="compNode" presStyleCnt="0"/>
      <dgm:spPr/>
    </dgm:pt>
    <dgm:pt modelId="{84252BEB-B3AE-435B-93FF-04FD3466B95C}" type="pres">
      <dgm:prSet presAssocID="{8114D161-B55C-46B4-9AC0-D0FC3DD38740}" presName="bgRect" presStyleLbl="bgShp" presStyleIdx="1" presStyleCnt="6"/>
      <dgm:spPr/>
    </dgm:pt>
    <dgm:pt modelId="{29F30BDD-BDD2-46F5-ADD1-23F268B08B57}" type="pres">
      <dgm:prSet presAssocID="{8114D161-B55C-46B4-9AC0-D0FC3DD38740}"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xmlns=""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xmlns="" id="0" name="" descr="Telemarketer"/>
        </a:ext>
      </dgm:extLst>
    </dgm:pt>
    <dgm:pt modelId="{81566AA4-5FBD-4EC9-8935-73045931A249}" type="pres">
      <dgm:prSet presAssocID="{8114D161-B55C-46B4-9AC0-D0FC3DD38740}" presName="spaceRect" presStyleCnt="0"/>
      <dgm:spPr/>
    </dgm:pt>
    <dgm:pt modelId="{2DC425A9-E907-42E8-95FD-CBBED90819EA}" type="pres">
      <dgm:prSet presAssocID="{8114D161-B55C-46B4-9AC0-D0FC3DD38740}" presName="parTx" presStyleLbl="revTx" presStyleIdx="1" presStyleCnt="6">
        <dgm:presLayoutVars>
          <dgm:chMax val="0"/>
          <dgm:chPref val="0"/>
        </dgm:presLayoutVars>
      </dgm:prSet>
      <dgm:spPr/>
      <dgm:t>
        <a:bodyPr/>
        <a:lstStyle/>
        <a:p>
          <a:endParaRPr lang="en-US"/>
        </a:p>
      </dgm:t>
    </dgm:pt>
    <dgm:pt modelId="{5C7299DF-4E9A-4E76-B7E5-586ACFB4766F}" type="pres">
      <dgm:prSet presAssocID="{88D350C4-14FC-4761-A4B2-50380258E1A8}" presName="sibTrans" presStyleCnt="0"/>
      <dgm:spPr/>
    </dgm:pt>
    <dgm:pt modelId="{C4149C27-7F8F-433E-A91E-1C63001583A9}" type="pres">
      <dgm:prSet presAssocID="{D1EB4D0A-9C25-4EE5-9420-095B52B8C720}" presName="compNode" presStyleCnt="0"/>
      <dgm:spPr/>
    </dgm:pt>
    <dgm:pt modelId="{E5783C9F-19E7-413D-B035-D8429E9E7B2A}" type="pres">
      <dgm:prSet presAssocID="{D1EB4D0A-9C25-4EE5-9420-095B52B8C720}" presName="bgRect" presStyleLbl="bgShp" presStyleIdx="2" presStyleCnt="6"/>
      <dgm:spPr/>
    </dgm:pt>
    <dgm:pt modelId="{CB61616E-A2C0-4529-9D6C-3CA2307A3BCA}" type="pres">
      <dgm:prSet presAssocID="{D1EB4D0A-9C25-4EE5-9420-095B52B8C720}"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xmlns="" val="0"/>
              </a:ext>
              <a:ext uri="{96DAC541-7B7A-43D3-8B79-37D633B846F1}">
                <asvg:svgBlip xmlns:asvg="http://schemas.microsoft.com/office/drawing/2016/SVG/main" xmlns="" r:embed="rId6"/>
              </a:ext>
            </a:extLst>
          </a:blip>
          <a:stretch>
            <a:fillRect/>
          </a:stretch>
        </a:blipFill>
        <a:ln>
          <a:noFill/>
        </a:ln>
      </dgm:spPr>
      <dgm:extLst>
        <a:ext uri="{E40237B7-FDA0-4F09-8148-C483321AD2D9}">
          <dgm14:cNvPr xmlns:dgm14="http://schemas.microsoft.com/office/drawing/2010/diagram" xmlns="" id="0" name="" descr="Code"/>
        </a:ext>
      </dgm:extLst>
    </dgm:pt>
    <dgm:pt modelId="{94CFF6BB-9CC7-4913-B37A-72C4D19D6ABA}" type="pres">
      <dgm:prSet presAssocID="{D1EB4D0A-9C25-4EE5-9420-095B52B8C720}" presName="spaceRect" presStyleCnt="0"/>
      <dgm:spPr/>
    </dgm:pt>
    <dgm:pt modelId="{8D209D51-B71B-4543-8B23-16FCD4E30F84}" type="pres">
      <dgm:prSet presAssocID="{D1EB4D0A-9C25-4EE5-9420-095B52B8C720}" presName="parTx" presStyleLbl="revTx" presStyleIdx="2" presStyleCnt="6">
        <dgm:presLayoutVars>
          <dgm:chMax val="0"/>
          <dgm:chPref val="0"/>
        </dgm:presLayoutVars>
      </dgm:prSet>
      <dgm:spPr/>
      <dgm:t>
        <a:bodyPr/>
        <a:lstStyle/>
        <a:p>
          <a:endParaRPr lang="en-US"/>
        </a:p>
      </dgm:t>
    </dgm:pt>
    <dgm:pt modelId="{94B8CEBF-A4AD-44CD-AF80-D0CDC8063299}" type="pres">
      <dgm:prSet presAssocID="{B645FED4-6DB0-4A9E-8F7F-35F2A1D86A14}" presName="sibTrans" presStyleCnt="0"/>
      <dgm:spPr/>
    </dgm:pt>
    <dgm:pt modelId="{5A394DF3-9EE1-46B1-98A3-428423BE90E8}" type="pres">
      <dgm:prSet presAssocID="{A3E58A9F-2299-48CF-B45B-FD0ADEA6A37D}" presName="compNode" presStyleCnt="0"/>
      <dgm:spPr/>
    </dgm:pt>
    <dgm:pt modelId="{22A35F38-3A2D-4E7F-BC8E-5F56D165DDAE}" type="pres">
      <dgm:prSet presAssocID="{A3E58A9F-2299-48CF-B45B-FD0ADEA6A37D}" presName="bgRect" presStyleLbl="bgShp" presStyleIdx="3" presStyleCnt="6"/>
      <dgm:spPr/>
    </dgm:pt>
    <dgm:pt modelId="{FBB473EC-85A0-414A-8022-FCF3702B0F9B}" type="pres">
      <dgm:prSet presAssocID="{A3E58A9F-2299-48CF-B45B-FD0ADEA6A37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xmlns="" val="0"/>
              </a:ext>
              <a:ext uri="{96DAC541-7B7A-43D3-8B79-37D633B846F1}">
                <asvg:svgBlip xmlns:asvg="http://schemas.microsoft.com/office/drawing/2016/SVG/main" xmlns="" r:embed="rId8"/>
              </a:ext>
            </a:extLst>
          </a:blip>
          <a:stretch>
            <a:fillRect/>
          </a:stretch>
        </a:blipFill>
        <a:ln>
          <a:noFill/>
        </a:ln>
      </dgm:spPr>
      <dgm:extLst>
        <a:ext uri="{E40237B7-FDA0-4F09-8148-C483321AD2D9}">
          <dgm14:cNvPr xmlns:dgm14="http://schemas.microsoft.com/office/drawing/2010/diagram" xmlns="" id="0" name="" descr="Frigid"/>
        </a:ext>
      </dgm:extLst>
    </dgm:pt>
    <dgm:pt modelId="{3F8409A9-1234-49CC-830B-9BC0EE28F48B}" type="pres">
      <dgm:prSet presAssocID="{A3E58A9F-2299-48CF-B45B-FD0ADEA6A37D}" presName="spaceRect" presStyleCnt="0"/>
      <dgm:spPr/>
    </dgm:pt>
    <dgm:pt modelId="{BCB66DCC-E6A1-44A9-9A5C-E0253173F1CC}" type="pres">
      <dgm:prSet presAssocID="{A3E58A9F-2299-48CF-B45B-FD0ADEA6A37D}" presName="parTx" presStyleLbl="revTx" presStyleIdx="3" presStyleCnt="6">
        <dgm:presLayoutVars>
          <dgm:chMax val="0"/>
          <dgm:chPref val="0"/>
        </dgm:presLayoutVars>
      </dgm:prSet>
      <dgm:spPr/>
      <dgm:t>
        <a:bodyPr/>
        <a:lstStyle/>
        <a:p>
          <a:endParaRPr lang="en-US"/>
        </a:p>
      </dgm:t>
    </dgm:pt>
    <dgm:pt modelId="{6FB985D9-3DB3-4E36-B0B1-C30FBDEF7698}" type="pres">
      <dgm:prSet presAssocID="{85436545-9E29-45D5-B2BE-DCB42ACBC4E6}" presName="sibTrans" presStyleCnt="0"/>
      <dgm:spPr/>
    </dgm:pt>
    <dgm:pt modelId="{F615940E-E0DA-4E04-AF8D-D12C385A2967}" type="pres">
      <dgm:prSet presAssocID="{5998AA2F-9E7B-41B2-B84D-5E1BD8022DF5}" presName="compNode" presStyleCnt="0"/>
      <dgm:spPr/>
    </dgm:pt>
    <dgm:pt modelId="{ABC15CF3-221E-4535-8DE8-1B3B248EE73A}" type="pres">
      <dgm:prSet presAssocID="{5998AA2F-9E7B-41B2-B84D-5E1BD8022DF5}" presName="bgRect" presStyleLbl="bgShp" presStyleIdx="4" presStyleCnt="6"/>
      <dgm:spPr/>
    </dgm:pt>
    <dgm:pt modelId="{C98E998B-F036-4AD6-8297-A17977D7266E}" type="pres">
      <dgm:prSet presAssocID="{5998AA2F-9E7B-41B2-B84D-5E1BD8022DF5}"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xmlns="" val="0"/>
              </a:ext>
              <a:ext uri="{96DAC541-7B7A-43D3-8B79-37D633B846F1}">
                <asvg:svgBlip xmlns:asvg="http://schemas.microsoft.com/office/drawing/2016/SVG/main" xmlns="" r:embed="rId10"/>
              </a:ext>
            </a:extLst>
          </a:blip>
          <a:stretch>
            <a:fillRect/>
          </a:stretch>
        </a:blipFill>
        <a:ln>
          <a:noFill/>
        </a:ln>
      </dgm:spPr>
      <dgm:extLst>
        <a:ext uri="{E40237B7-FDA0-4F09-8148-C483321AD2D9}">
          <dgm14:cNvPr xmlns:dgm14="http://schemas.microsoft.com/office/drawing/2010/diagram" xmlns="" id="0" name="" descr="Blog"/>
        </a:ext>
      </dgm:extLst>
    </dgm:pt>
    <dgm:pt modelId="{3966877C-DD93-47F2-8C36-8C93E891C61D}" type="pres">
      <dgm:prSet presAssocID="{5998AA2F-9E7B-41B2-B84D-5E1BD8022DF5}" presName="spaceRect" presStyleCnt="0"/>
      <dgm:spPr/>
    </dgm:pt>
    <dgm:pt modelId="{88345C5F-7ADA-4B64-BA9C-D535A19FD73C}" type="pres">
      <dgm:prSet presAssocID="{5998AA2F-9E7B-41B2-B84D-5E1BD8022DF5}" presName="parTx" presStyleLbl="revTx" presStyleIdx="4" presStyleCnt="6">
        <dgm:presLayoutVars>
          <dgm:chMax val="0"/>
          <dgm:chPref val="0"/>
        </dgm:presLayoutVars>
      </dgm:prSet>
      <dgm:spPr/>
      <dgm:t>
        <a:bodyPr/>
        <a:lstStyle/>
        <a:p>
          <a:endParaRPr lang="en-US"/>
        </a:p>
      </dgm:t>
    </dgm:pt>
    <dgm:pt modelId="{84B5AE0B-6E9A-49E0-A985-CE5FA8F006A9}" type="pres">
      <dgm:prSet presAssocID="{5336715D-4864-439F-811B-1B9CA9DCC56C}" presName="sibTrans" presStyleCnt="0"/>
      <dgm:spPr/>
    </dgm:pt>
    <dgm:pt modelId="{1531896F-EA2D-458E-B4FE-97BD5569E710}" type="pres">
      <dgm:prSet presAssocID="{68E387F1-12BA-4DEA-A7BB-CFD49F7A574E}" presName="compNode" presStyleCnt="0"/>
      <dgm:spPr/>
    </dgm:pt>
    <dgm:pt modelId="{1C0E0549-9EF6-4794-AEC5-2320D6976EFB}" type="pres">
      <dgm:prSet presAssocID="{68E387F1-12BA-4DEA-A7BB-CFD49F7A574E}" presName="bgRect" presStyleLbl="bgShp" presStyleIdx="5" presStyleCnt="6"/>
      <dgm:spPr/>
    </dgm:pt>
    <dgm:pt modelId="{347F61ED-2686-455B-BBA3-F8011DE1EE0B}" type="pres">
      <dgm:prSet presAssocID="{68E387F1-12BA-4DEA-A7BB-CFD49F7A574E}"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xmlns="" val="0"/>
              </a:ext>
              <a:ext uri="{96DAC541-7B7A-43D3-8B79-37D633B846F1}">
                <asvg:svgBlip xmlns:asvg="http://schemas.microsoft.com/office/drawing/2016/SVG/main" xmlns="" r:embed="rId12"/>
              </a:ext>
            </a:extLst>
          </a:blip>
          <a:stretch>
            <a:fillRect/>
          </a:stretch>
        </a:blipFill>
        <a:ln>
          <a:noFill/>
        </a:ln>
      </dgm:spPr>
      <dgm:extLst>
        <a:ext uri="{E40237B7-FDA0-4F09-8148-C483321AD2D9}">
          <dgm14:cNvPr xmlns:dgm14="http://schemas.microsoft.com/office/drawing/2010/diagram" xmlns="" id="0" name="" descr="Family"/>
        </a:ext>
      </dgm:extLst>
    </dgm:pt>
    <dgm:pt modelId="{1707F22A-DB7F-44D0-834B-E696FD1E0E42}" type="pres">
      <dgm:prSet presAssocID="{68E387F1-12BA-4DEA-A7BB-CFD49F7A574E}" presName="spaceRect" presStyleCnt="0"/>
      <dgm:spPr/>
    </dgm:pt>
    <dgm:pt modelId="{4979B7BF-2023-4BF6-9655-399EBD192D14}" type="pres">
      <dgm:prSet presAssocID="{68E387F1-12BA-4DEA-A7BB-CFD49F7A574E}" presName="parTx" presStyleLbl="revTx" presStyleIdx="5" presStyleCnt="6">
        <dgm:presLayoutVars>
          <dgm:chMax val="0"/>
          <dgm:chPref val="0"/>
        </dgm:presLayoutVars>
      </dgm:prSet>
      <dgm:spPr/>
      <dgm:t>
        <a:bodyPr/>
        <a:lstStyle/>
        <a:p>
          <a:endParaRPr lang="en-US"/>
        </a:p>
      </dgm:t>
    </dgm:pt>
  </dgm:ptLst>
  <dgm:cxnLst>
    <dgm:cxn modelId="{6CDFB5B0-3A7C-4E3E-A37A-B085F85F10AD}" type="presOf" srcId="{8114D161-B55C-46B4-9AC0-D0FC3DD38740}" destId="{2DC425A9-E907-42E8-95FD-CBBED90819EA}" srcOrd="0" destOrd="0" presId="urn:microsoft.com/office/officeart/2018/2/layout/IconVerticalSolidList"/>
    <dgm:cxn modelId="{88539044-8F6A-4836-82A4-0C58F8F43F6A}" type="presOf" srcId="{757C4A83-621F-4862-B85C-6A5C0D99127D}" destId="{411A49E4-5F26-4DE4-9E57-00183C3391D5}" srcOrd="0" destOrd="0" presId="urn:microsoft.com/office/officeart/2018/2/layout/IconVerticalSolidList"/>
    <dgm:cxn modelId="{9D942288-6A7B-4D10-8D41-AB1FFA079204}" srcId="{757C4A83-621F-4862-B85C-6A5C0D99127D}" destId="{8114D161-B55C-46B4-9AC0-D0FC3DD38740}" srcOrd="1" destOrd="0" parTransId="{8298B5F9-D69A-46DD-9CE4-48E5389DF821}" sibTransId="{88D350C4-14FC-4761-A4B2-50380258E1A8}"/>
    <dgm:cxn modelId="{2CB30BEC-62F6-474F-B9C5-974CC9726BE2}" srcId="{757C4A83-621F-4862-B85C-6A5C0D99127D}" destId="{A396BCE2-E819-4579-894E-7D742E8C6695}" srcOrd="0" destOrd="0" parTransId="{6D401C7F-88DC-4049-95E7-49430620DDB6}" sibTransId="{50446E48-8CEF-47F7-8FDD-77A9104AB5FA}"/>
    <dgm:cxn modelId="{9C85AD25-F28C-48FF-83D6-48B06F266096}" type="presOf" srcId="{5998AA2F-9E7B-41B2-B84D-5E1BD8022DF5}" destId="{88345C5F-7ADA-4B64-BA9C-D535A19FD73C}" srcOrd="0" destOrd="0" presId="urn:microsoft.com/office/officeart/2018/2/layout/IconVerticalSolidList"/>
    <dgm:cxn modelId="{1523C02A-9A3D-4961-A552-668838A52A59}" type="presOf" srcId="{D1EB4D0A-9C25-4EE5-9420-095B52B8C720}" destId="{8D209D51-B71B-4543-8B23-16FCD4E30F84}" srcOrd="0" destOrd="0" presId="urn:microsoft.com/office/officeart/2018/2/layout/IconVerticalSolidList"/>
    <dgm:cxn modelId="{F52BB07C-0869-41B3-84D1-93A41095B212}" srcId="{757C4A83-621F-4862-B85C-6A5C0D99127D}" destId="{A3E58A9F-2299-48CF-B45B-FD0ADEA6A37D}" srcOrd="3" destOrd="0" parTransId="{36D52E0F-2C97-479E-93E4-42C68CD9360E}" sibTransId="{85436545-9E29-45D5-B2BE-DCB42ACBC4E6}"/>
    <dgm:cxn modelId="{A7771562-ACFB-4B58-9E56-A087AEAE5674}" srcId="{757C4A83-621F-4862-B85C-6A5C0D99127D}" destId="{5998AA2F-9E7B-41B2-B84D-5E1BD8022DF5}" srcOrd="4" destOrd="0" parTransId="{B38BE30F-5367-4042-8A28-6D951E09234E}" sibTransId="{5336715D-4864-439F-811B-1B9CA9DCC56C}"/>
    <dgm:cxn modelId="{3624BD20-1BCF-4109-BD13-37E9DE3E1429}" srcId="{757C4A83-621F-4862-B85C-6A5C0D99127D}" destId="{D1EB4D0A-9C25-4EE5-9420-095B52B8C720}" srcOrd="2" destOrd="0" parTransId="{22FEFDDC-DD8C-4526-91CE-F61B8FC58D0C}" sibTransId="{B645FED4-6DB0-4A9E-8F7F-35F2A1D86A14}"/>
    <dgm:cxn modelId="{8C826A8E-B595-47C8-8B79-184F4DCAD011}" srcId="{757C4A83-621F-4862-B85C-6A5C0D99127D}" destId="{68E387F1-12BA-4DEA-A7BB-CFD49F7A574E}" srcOrd="5" destOrd="0" parTransId="{99282F86-5505-4F7E-AE1A-FF560846B0A0}" sibTransId="{69537F53-27C6-4F5F-81B8-C57D4643B957}"/>
    <dgm:cxn modelId="{D3BBAA0C-2642-4EA8-935A-AE86EBF9C9B6}" type="presOf" srcId="{A396BCE2-E819-4579-894E-7D742E8C6695}" destId="{E156F635-71D8-4E4E-8967-A2347F6ADCD8}" srcOrd="0" destOrd="0" presId="urn:microsoft.com/office/officeart/2018/2/layout/IconVerticalSolidList"/>
    <dgm:cxn modelId="{AC90CDB3-2319-4032-B071-1D80E8B2150B}" type="presOf" srcId="{A3E58A9F-2299-48CF-B45B-FD0ADEA6A37D}" destId="{BCB66DCC-E6A1-44A9-9A5C-E0253173F1CC}" srcOrd="0" destOrd="0" presId="urn:microsoft.com/office/officeart/2018/2/layout/IconVerticalSolidList"/>
    <dgm:cxn modelId="{154A54F9-0B76-4A44-BBB4-F6F8ACC8950E}" type="presOf" srcId="{68E387F1-12BA-4DEA-A7BB-CFD49F7A574E}" destId="{4979B7BF-2023-4BF6-9655-399EBD192D14}" srcOrd="0" destOrd="0" presId="urn:microsoft.com/office/officeart/2018/2/layout/IconVerticalSolidList"/>
    <dgm:cxn modelId="{25F4AE9C-2FCA-4506-943F-88DC1B726214}" type="presParOf" srcId="{411A49E4-5F26-4DE4-9E57-00183C3391D5}" destId="{BF658DEB-029F-491B-A128-6B7724992E22}" srcOrd="0" destOrd="0" presId="urn:microsoft.com/office/officeart/2018/2/layout/IconVerticalSolidList"/>
    <dgm:cxn modelId="{2023712B-6131-4DAD-8503-703F347A05FA}" type="presParOf" srcId="{BF658DEB-029F-491B-A128-6B7724992E22}" destId="{425A31A6-C66C-4C38-B3F4-DD1ED048B61C}" srcOrd="0" destOrd="0" presId="urn:microsoft.com/office/officeart/2018/2/layout/IconVerticalSolidList"/>
    <dgm:cxn modelId="{2FD9D9DE-3120-488F-9064-18DC92E60514}" type="presParOf" srcId="{BF658DEB-029F-491B-A128-6B7724992E22}" destId="{47717C72-8677-4EBE-9724-91D6DF5BE2AD}" srcOrd="1" destOrd="0" presId="urn:microsoft.com/office/officeart/2018/2/layout/IconVerticalSolidList"/>
    <dgm:cxn modelId="{5CE2BC69-B79D-4B84-87F5-6B2236BA7FD0}" type="presParOf" srcId="{BF658DEB-029F-491B-A128-6B7724992E22}" destId="{F633CB6E-7D90-4789-9DA5-FDA3A9086CA4}" srcOrd="2" destOrd="0" presId="urn:microsoft.com/office/officeart/2018/2/layout/IconVerticalSolidList"/>
    <dgm:cxn modelId="{6A5BE6E6-606E-43DA-A557-D11C0856CA6C}" type="presParOf" srcId="{BF658DEB-029F-491B-A128-6B7724992E22}" destId="{E156F635-71D8-4E4E-8967-A2347F6ADCD8}" srcOrd="3" destOrd="0" presId="urn:microsoft.com/office/officeart/2018/2/layout/IconVerticalSolidList"/>
    <dgm:cxn modelId="{E9A9F8C3-AA44-4519-89B3-751E6BD3523B}" type="presParOf" srcId="{411A49E4-5F26-4DE4-9E57-00183C3391D5}" destId="{3FF536B5-A030-4FAD-B4A3-2A31560D6E8B}" srcOrd="1" destOrd="0" presId="urn:microsoft.com/office/officeart/2018/2/layout/IconVerticalSolidList"/>
    <dgm:cxn modelId="{838A09DD-335D-4BB2-810D-DE6551426639}" type="presParOf" srcId="{411A49E4-5F26-4DE4-9E57-00183C3391D5}" destId="{FEC75025-7900-4440-B07F-B98DA05092FB}" srcOrd="2" destOrd="0" presId="urn:microsoft.com/office/officeart/2018/2/layout/IconVerticalSolidList"/>
    <dgm:cxn modelId="{DE96DEB7-B006-4D7C-9308-9F01E9E82708}" type="presParOf" srcId="{FEC75025-7900-4440-B07F-B98DA05092FB}" destId="{84252BEB-B3AE-435B-93FF-04FD3466B95C}" srcOrd="0" destOrd="0" presId="urn:microsoft.com/office/officeart/2018/2/layout/IconVerticalSolidList"/>
    <dgm:cxn modelId="{1B0B1354-FBDD-4483-884D-5F04753A5583}" type="presParOf" srcId="{FEC75025-7900-4440-B07F-B98DA05092FB}" destId="{29F30BDD-BDD2-46F5-ADD1-23F268B08B57}" srcOrd="1" destOrd="0" presId="urn:microsoft.com/office/officeart/2018/2/layout/IconVerticalSolidList"/>
    <dgm:cxn modelId="{0E3C1A12-F9DA-404C-B244-8AFBA4F9CDC3}" type="presParOf" srcId="{FEC75025-7900-4440-B07F-B98DA05092FB}" destId="{81566AA4-5FBD-4EC9-8935-73045931A249}" srcOrd="2" destOrd="0" presId="urn:microsoft.com/office/officeart/2018/2/layout/IconVerticalSolidList"/>
    <dgm:cxn modelId="{05B276D9-A4FF-4F4C-AB1C-75FFB3982807}" type="presParOf" srcId="{FEC75025-7900-4440-B07F-B98DA05092FB}" destId="{2DC425A9-E907-42E8-95FD-CBBED90819EA}" srcOrd="3" destOrd="0" presId="urn:microsoft.com/office/officeart/2018/2/layout/IconVerticalSolidList"/>
    <dgm:cxn modelId="{792B07CA-8712-4113-8F33-89B652C742D7}" type="presParOf" srcId="{411A49E4-5F26-4DE4-9E57-00183C3391D5}" destId="{5C7299DF-4E9A-4E76-B7E5-586ACFB4766F}" srcOrd="3" destOrd="0" presId="urn:microsoft.com/office/officeart/2018/2/layout/IconVerticalSolidList"/>
    <dgm:cxn modelId="{DECC1747-9339-4FC7-A467-EE4850C01BBA}" type="presParOf" srcId="{411A49E4-5F26-4DE4-9E57-00183C3391D5}" destId="{C4149C27-7F8F-433E-A91E-1C63001583A9}" srcOrd="4" destOrd="0" presId="urn:microsoft.com/office/officeart/2018/2/layout/IconVerticalSolidList"/>
    <dgm:cxn modelId="{873D0FB4-99ED-4A50-9C7D-1A6C9939130D}" type="presParOf" srcId="{C4149C27-7F8F-433E-A91E-1C63001583A9}" destId="{E5783C9F-19E7-413D-B035-D8429E9E7B2A}" srcOrd="0" destOrd="0" presId="urn:microsoft.com/office/officeart/2018/2/layout/IconVerticalSolidList"/>
    <dgm:cxn modelId="{095DFFE5-3B4B-4957-9A97-E7976C21A754}" type="presParOf" srcId="{C4149C27-7F8F-433E-A91E-1C63001583A9}" destId="{CB61616E-A2C0-4529-9D6C-3CA2307A3BCA}" srcOrd="1" destOrd="0" presId="urn:microsoft.com/office/officeart/2018/2/layout/IconVerticalSolidList"/>
    <dgm:cxn modelId="{00C47854-891D-4BD0-8DBD-4688C0FD2929}" type="presParOf" srcId="{C4149C27-7F8F-433E-A91E-1C63001583A9}" destId="{94CFF6BB-9CC7-4913-B37A-72C4D19D6ABA}" srcOrd="2" destOrd="0" presId="urn:microsoft.com/office/officeart/2018/2/layout/IconVerticalSolidList"/>
    <dgm:cxn modelId="{924E4C99-AA88-4F30-A63B-968DA74F1707}" type="presParOf" srcId="{C4149C27-7F8F-433E-A91E-1C63001583A9}" destId="{8D209D51-B71B-4543-8B23-16FCD4E30F84}" srcOrd="3" destOrd="0" presId="urn:microsoft.com/office/officeart/2018/2/layout/IconVerticalSolidList"/>
    <dgm:cxn modelId="{60A2C654-B8A8-43FA-91C7-9EC0E03B4D47}" type="presParOf" srcId="{411A49E4-5F26-4DE4-9E57-00183C3391D5}" destId="{94B8CEBF-A4AD-44CD-AF80-D0CDC8063299}" srcOrd="5" destOrd="0" presId="urn:microsoft.com/office/officeart/2018/2/layout/IconVerticalSolidList"/>
    <dgm:cxn modelId="{A94C3A69-E9C7-48B4-B949-317985EEE9ED}" type="presParOf" srcId="{411A49E4-5F26-4DE4-9E57-00183C3391D5}" destId="{5A394DF3-9EE1-46B1-98A3-428423BE90E8}" srcOrd="6" destOrd="0" presId="urn:microsoft.com/office/officeart/2018/2/layout/IconVerticalSolidList"/>
    <dgm:cxn modelId="{DCBBF326-C557-4CD6-9C2F-3963B2745E51}" type="presParOf" srcId="{5A394DF3-9EE1-46B1-98A3-428423BE90E8}" destId="{22A35F38-3A2D-4E7F-BC8E-5F56D165DDAE}" srcOrd="0" destOrd="0" presId="urn:microsoft.com/office/officeart/2018/2/layout/IconVerticalSolidList"/>
    <dgm:cxn modelId="{B36DDB73-4C59-4198-A140-059E64A7C3DE}" type="presParOf" srcId="{5A394DF3-9EE1-46B1-98A3-428423BE90E8}" destId="{FBB473EC-85A0-414A-8022-FCF3702B0F9B}" srcOrd="1" destOrd="0" presId="urn:microsoft.com/office/officeart/2018/2/layout/IconVerticalSolidList"/>
    <dgm:cxn modelId="{3666811C-782E-42EA-853D-193CE21DC86E}" type="presParOf" srcId="{5A394DF3-9EE1-46B1-98A3-428423BE90E8}" destId="{3F8409A9-1234-49CC-830B-9BC0EE28F48B}" srcOrd="2" destOrd="0" presId="urn:microsoft.com/office/officeart/2018/2/layout/IconVerticalSolidList"/>
    <dgm:cxn modelId="{01738A74-D7E0-4173-924C-839F37C1AC78}" type="presParOf" srcId="{5A394DF3-9EE1-46B1-98A3-428423BE90E8}" destId="{BCB66DCC-E6A1-44A9-9A5C-E0253173F1CC}" srcOrd="3" destOrd="0" presId="urn:microsoft.com/office/officeart/2018/2/layout/IconVerticalSolidList"/>
    <dgm:cxn modelId="{76B30C80-CD75-4D48-BA58-FE24B2CFD191}" type="presParOf" srcId="{411A49E4-5F26-4DE4-9E57-00183C3391D5}" destId="{6FB985D9-3DB3-4E36-B0B1-C30FBDEF7698}" srcOrd="7" destOrd="0" presId="urn:microsoft.com/office/officeart/2018/2/layout/IconVerticalSolidList"/>
    <dgm:cxn modelId="{A55C838D-2188-4F35-A668-6E3F4DEE9BCE}" type="presParOf" srcId="{411A49E4-5F26-4DE4-9E57-00183C3391D5}" destId="{F615940E-E0DA-4E04-AF8D-D12C385A2967}" srcOrd="8" destOrd="0" presId="urn:microsoft.com/office/officeart/2018/2/layout/IconVerticalSolidList"/>
    <dgm:cxn modelId="{7881FC01-7FC1-411F-B1CE-E5F16E69DDA9}" type="presParOf" srcId="{F615940E-E0DA-4E04-AF8D-D12C385A2967}" destId="{ABC15CF3-221E-4535-8DE8-1B3B248EE73A}" srcOrd="0" destOrd="0" presId="urn:microsoft.com/office/officeart/2018/2/layout/IconVerticalSolidList"/>
    <dgm:cxn modelId="{0FE8868E-6E5D-4A02-B158-1E891DE6436E}" type="presParOf" srcId="{F615940E-E0DA-4E04-AF8D-D12C385A2967}" destId="{C98E998B-F036-4AD6-8297-A17977D7266E}" srcOrd="1" destOrd="0" presId="urn:microsoft.com/office/officeart/2018/2/layout/IconVerticalSolidList"/>
    <dgm:cxn modelId="{A7AC330E-5D61-4F10-8659-348D2AAAB117}" type="presParOf" srcId="{F615940E-E0DA-4E04-AF8D-D12C385A2967}" destId="{3966877C-DD93-47F2-8C36-8C93E891C61D}" srcOrd="2" destOrd="0" presId="urn:microsoft.com/office/officeart/2018/2/layout/IconVerticalSolidList"/>
    <dgm:cxn modelId="{989346DB-77F6-4514-9BA2-03421527BA84}" type="presParOf" srcId="{F615940E-E0DA-4E04-AF8D-D12C385A2967}" destId="{88345C5F-7ADA-4B64-BA9C-D535A19FD73C}" srcOrd="3" destOrd="0" presId="urn:microsoft.com/office/officeart/2018/2/layout/IconVerticalSolidList"/>
    <dgm:cxn modelId="{6CC90FB6-E388-408D-A6B0-3077F42F60C9}" type="presParOf" srcId="{411A49E4-5F26-4DE4-9E57-00183C3391D5}" destId="{84B5AE0B-6E9A-49E0-A985-CE5FA8F006A9}" srcOrd="9" destOrd="0" presId="urn:microsoft.com/office/officeart/2018/2/layout/IconVerticalSolidList"/>
    <dgm:cxn modelId="{8590365D-E94F-4A06-92F4-535D6794C859}" type="presParOf" srcId="{411A49E4-5F26-4DE4-9E57-00183C3391D5}" destId="{1531896F-EA2D-458E-B4FE-97BD5569E710}" srcOrd="10" destOrd="0" presId="urn:microsoft.com/office/officeart/2018/2/layout/IconVerticalSolidList"/>
    <dgm:cxn modelId="{8F7C3BD6-6B06-4062-98E3-B0A840832D59}" type="presParOf" srcId="{1531896F-EA2D-458E-B4FE-97BD5569E710}" destId="{1C0E0549-9EF6-4794-AEC5-2320D6976EFB}" srcOrd="0" destOrd="0" presId="urn:microsoft.com/office/officeart/2018/2/layout/IconVerticalSolidList"/>
    <dgm:cxn modelId="{B6884135-3AD7-4C34-8370-C3BDA341B9B6}" type="presParOf" srcId="{1531896F-EA2D-458E-B4FE-97BD5569E710}" destId="{347F61ED-2686-455B-BBA3-F8011DE1EE0B}" srcOrd="1" destOrd="0" presId="urn:microsoft.com/office/officeart/2018/2/layout/IconVerticalSolidList"/>
    <dgm:cxn modelId="{6885714B-A12C-4751-8596-76BB24970CE6}" type="presParOf" srcId="{1531896F-EA2D-458E-B4FE-97BD5569E710}" destId="{1707F22A-DB7F-44D0-834B-E696FD1E0E42}" srcOrd="2" destOrd="0" presId="urn:microsoft.com/office/officeart/2018/2/layout/IconVerticalSolidList"/>
    <dgm:cxn modelId="{505DB100-4206-45BF-8598-C97226C353BC}" type="presParOf" srcId="{1531896F-EA2D-458E-B4FE-97BD5569E710}" destId="{4979B7BF-2023-4BF6-9655-399EBD192D14}" srcOrd="3" destOrd="0" presId="urn:microsoft.com/office/officeart/2018/2/layout/IconVerticalSolidLis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3D05888-9BED-42A5-B39B-9D9653AB9F8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562F5EB-096A-49DD-B376-FA79B1F097A8}">
      <dgm:prSet custT="1"/>
      <dgm:spPr/>
      <dgm:t>
        <a:bodyPr/>
        <a:lstStyle/>
        <a:p>
          <a:pPr>
            <a:lnSpc>
              <a:spcPct val="100000"/>
            </a:lnSpc>
          </a:pPr>
          <a:r>
            <a:rPr lang="en-US" sz="2400" b="1" dirty="0"/>
            <a:t>The Law</a:t>
          </a:r>
          <a:r>
            <a:rPr lang="en-US" sz="2400" dirty="0"/>
            <a:t>: Ethics goes beyond legal compliance, setting a higher standard for behavior that benefits society. While the law establishes minimum acceptable standards, ethics helps guide actions that are morally right, even if legal loopholes exist.</a:t>
          </a:r>
        </a:p>
      </dgm:t>
    </dgm:pt>
    <dgm:pt modelId="{DEFBC316-4EC0-4556-9B63-FD80E357E67C}" type="parTrans" cxnId="{D6F5B768-C932-47E8-B8C5-4F66C500FC73}">
      <dgm:prSet/>
      <dgm:spPr/>
      <dgm:t>
        <a:bodyPr/>
        <a:lstStyle/>
        <a:p>
          <a:endParaRPr lang="en-US"/>
        </a:p>
      </dgm:t>
    </dgm:pt>
    <dgm:pt modelId="{54E8B79F-FEED-4DE4-B3AA-8D0CBAF3CB28}" type="sibTrans" cxnId="{D6F5B768-C932-47E8-B8C5-4F66C500FC73}">
      <dgm:prSet/>
      <dgm:spPr/>
      <dgm:t>
        <a:bodyPr/>
        <a:lstStyle/>
        <a:p>
          <a:pPr>
            <a:lnSpc>
              <a:spcPct val="100000"/>
            </a:lnSpc>
          </a:pPr>
          <a:endParaRPr lang="en-US"/>
        </a:p>
      </dgm:t>
    </dgm:pt>
    <dgm:pt modelId="{0F40398D-9EC2-48C8-9E63-2CE82D9BE909}">
      <dgm:prSet custT="1"/>
      <dgm:spPr/>
      <dgm:t>
        <a:bodyPr/>
        <a:lstStyle/>
        <a:p>
          <a:pPr>
            <a:lnSpc>
              <a:spcPct val="100000"/>
            </a:lnSpc>
          </a:pPr>
          <a:r>
            <a:rPr lang="en-US" sz="2400" b="1" dirty="0"/>
            <a:t>Government Regulations</a:t>
          </a:r>
          <a:r>
            <a:rPr lang="en-US" sz="2400" dirty="0"/>
            <a:t>: Ethical behavior often involves more than following regulations. Ethics encompasses doing what is right even when it’s not enforced by law, as demonstrated by the example of the food manufacturer continuing to sell banned products overseas.</a:t>
          </a:r>
        </a:p>
      </dgm:t>
    </dgm:pt>
    <dgm:pt modelId="{FC315462-5724-49EC-981A-76373D15E323}" type="parTrans" cxnId="{491A80E2-6BDA-4BDD-963F-915BC7E03257}">
      <dgm:prSet/>
      <dgm:spPr/>
      <dgm:t>
        <a:bodyPr/>
        <a:lstStyle/>
        <a:p>
          <a:endParaRPr lang="en-US"/>
        </a:p>
      </dgm:t>
    </dgm:pt>
    <dgm:pt modelId="{99FB1BB4-3594-49C5-87D0-A21D5F7C7CB6}" type="sibTrans" cxnId="{491A80E2-6BDA-4BDD-963F-915BC7E03257}">
      <dgm:prSet/>
      <dgm:spPr/>
      <dgm:t>
        <a:bodyPr/>
        <a:lstStyle/>
        <a:p>
          <a:endParaRPr lang="en-US"/>
        </a:p>
      </dgm:t>
    </dgm:pt>
    <dgm:pt modelId="{42D3DFC3-BE4A-44AB-9044-B34F75C316CF}" type="pres">
      <dgm:prSet presAssocID="{83D05888-9BED-42A5-B39B-9D9653AB9F88}" presName="root" presStyleCnt="0">
        <dgm:presLayoutVars>
          <dgm:dir/>
          <dgm:resizeHandles val="exact"/>
        </dgm:presLayoutVars>
      </dgm:prSet>
      <dgm:spPr/>
      <dgm:t>
        <a:bodyPr/>
        <a:lstStyle/>
        <a:p>
          <a:endParaRPr lang="en-US"/>
        </a:p>
      </dgm:t>
    </dgm:pt>
    <dgm:pt modelId="{54287B67-D0C4-4B9A-9D5C-BC8C79FADB93}" type="pres">
      <dgm:prSet presAssocID="{9562F5EB-096A-49DD-B376-FA79B1F097A8}" presName="compNode" presStyleCnt="0"/>
      <dgm:spPr/>
    </dgm:pt>
    <dgm:pt modelId="{45E64BC0-8AF9-4623-9B3F-8F94EE8F5312}" type="pres">
      <dgm:prSet presAssocID="{9562F5EB-096A-49DD-B376-FA79B1F097A8}" presName="bgRect" presStyleLbl="bgShp" presStyleIdx="0" presStyleCnt="2"/>
      <dgm:spPr/>
    </dgm:pt>
    <dgm:pt modelId="{1ABF2B85-7E4A-4C80-8702-2C7357367F21}" type="pres">
      <dgm:prSet presAssocID="{9562F5EB-096A-49DD-B376-FA79B1F097A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xmlns="" val="0"/>
              </a:ext>
              <a:ext uri="{96DAC541-7B7A-43D3-8B79-37D633B846F1}">
                <asvg:svgBlip xmlns:asvg="http://schemas.microsoft.com/office/drawing/2016/SVG/main" xmlns="" r:embed="rId2"/>
              </a:ext>
            </a:extLst>
          </a:blip>
          <a:stretch>
            <a:fillRect/>
          </a:stretch>
        </a:blipFill>
      </dgm:spPr>
      <dgm:extLst>
        <a:ext uri="{E40237B7-FDA0-4F09-8148-C483321AD2D9}">
          <dgm14:cNvPr xmlns:dgm14="http://schemas.microsoft.com/office/drawing/2010/diagram" xmlns="" id="0" name="" descr="Scales of Justice"/>
        </a:ext>
      </dgm:extLst>
    </dgm:pt>
    <dgm:pt modelId="{165A9859-2210-4CD4-B19F-C39AB68174DA}" type="pres">
      <dgm:prSet presAssocID="{9562F5EB-096A-49DD-B376-FA79B1F097A8}" presName="spaceRect" presStyleCnt="0"/>
      <dgm:spPr/>
    </dgm:pt>
    <dgm:pt modelId="{D837E92E-8AE8-40DE-8871-7AF9B3B2B575}" type="pres">
      <dgm:prSet presAssocID="{9562F5EB-096A-49DD-B376-FA79B1F097A8}" presName="parTx" presStyleLbl="revTx" presStyleIdx="0" presStyleCnt="2">
        <dgm:presLayoutVars>
          <dgm:chMax val="0"/>
          <dgm:chPref val="0"/>
        </dgm:presLayoutVars>
      </dgm:prSet>
      <dgm:spPr/>
      <dgm:t>
        <a:bodyPr/>
        <a:lstStyle/>
        <a:p>
          <a:endParaRPr lang="en-US"/>
        </a:p>
      </dgm:t>
    </dgm:pt>
    <dgm:pt modelId="{BBE7D4AB-1695-4E83-96AE-06D955024D73}" type="pres">
      <dgm:prSet presAssocID="{54E8B79F-FEED-4DE4-B3AA-8D0CBAF3CB28}" presName="sibTrans" presStyleCnt="0"/>
      <dgm:spPr/>
    </dgm:pt>
    <dgm:pt modelId="{8A0ECF34-C52C-47E4-9478-0D282EE7734F}" type="pres">
      <dgm:prSet presAssocID="{0F40398D-9EC2-48C8-9E63-2CE82D9BE909}" presName="compNode" presStyleCnt="0"/>
      <dgm:spPr/>
    </dgm:pt>
    <dgm:pt modelId="{45D3F599-FAA2-43DB-9BBD-7BE9C1F2090F}" type="pres">
      <dgm:prSet presAssocID="{0F40398D-9EC2-48C8-9E63-2CE82D9BE909}" presName="bgRect" presStyleLbl="bgShp" presStyleIdx="1" presStyleCnt="2"/>
      <dgm:spPr/>
    </dgm:pt>
    <dgm:pt modelId="{F64E8A7C-E4FD-48A2-9200-A5D523FC4F64}" type="pres">
      <dgm:prSet presAssocID="{0F40398D-9EC2-48C8-9E63-2CE82D9BE90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xmlns="" val="0"/>
              </a:ext>
              <a:ext uri="{96DAC541-7B7A-43D3-8B79-37D633B846F1}">
                <asvg:svgBlip xmlns:asvg="http://schemas.microsoft.com/office/drawing/2016/SVG/main" xmlns="" r:embed="rId4"/>
              </a:ext>
            </a:extLst>
          </a:blip>
          <a:stretch>
            <a:fillRect/>
          </a:stretch>
        </a:blipFill>
      </dgm:spPr>
      <dgm:extLst>
        <a:ext uri="{E40237B7-FDA0-4F09-8148-C483321AD2D9}">
          <dgm14:cNvPr xmlns:dgm14="http://schemas.microsoft.com/office/drawing/2010/diagram" xmlns="" id="0" name="" descr="Gavel"/>
        </a:ext>
      </dgm:extLst>
    </dgm:pt>
    <dgm:pt modelId="{B50F25AA-86E3-4634-BB63-17DAC4364D79}" type="pres">
      <dgm:prSet presAssocID="{0F40398D-9EC2-48C8-9E63-2CE82D9BE909}" presName="spaceRect" presStyleCnt="0"/>
      <dgm:spPr/>
    </dgm:pt>
    <dgm:pt modelId="{7D65D02B-65E4-499B-A3A5-84E2834033BB}" type="pres">
      <dgm:prSet presAssocID="{0F40398D-9EC2-48C8-9E63-2CE82D9BE909}" presName="parTx" presStyleLbl="revTx" presStyleIdx="1" presStyleCnt="2">
        <dgm:presLayoutVars>
          <dgm:chMax val="0"/>
          <dgm:chPref val="0"/>
        </dgm:presLayoutVars>
      </dgm:prSet>
      <dgm:spPr/>
      <dgm:t>
        <a:bodyPr/>
        <a:lstStyle/>
        <a:p>
          <a:endParaRPr lang="en-US"/>
        </a:p>
      </dgm:t>
    </dgm:pt>
  </dgm:ptLst>
  <dgm:cxnLst>
    <dgm:cxn modelId="{491A80E2-6BDA-4BDD-963F-915BC7E03257}" srcId="{83D05888-9BED-42A5-B39B-9D9653AB9F88}" destId="{0F40398D-9EC2-48C8-9E63-2CE82D9BE909}" srcOrd="1" destOrd="0" parTransId="{FC315462-5724-49EC-981A-76373D15E323}" sibTransId="{99FB1BB4-3594-49C5-87D0-A21D5F7C7CB6}"/>
    <dgm:cxn modelId="{4D5EF96D-161F-41CE-B763-3873A42B83C5}" type="presOf" srcId="{9562F5EB-096A-49DD-B376-FA79B1F097A8}" destId="{D837E92E-8AE8-40DE-8871-7AF9B3B2B575}" srcOrd="0" destOrd="0" presId="urn:microsoft.com/office/officeart/2018/2/layout/IconVerticalSolidList"/>
    <dgm:cxn modelId="{D6F5B768-C932-47E8-B8C5-4F66C500FC73}" srcId="{83D05888-9BED-42A5-B39B-9D9653AB9F88}" destId="{9562F5EB-096A-49DD-B376-FA79B1F097A8}" srcOrd="0" destOrd="0" parTransId="{DEFBC316-4EC0-4556-9B63-FD80E357E67C}" sibTransId="{54E8B79F-FEED-4DE4-B3AA-8D0CBAF3CB28}"/>
    <dgm:cxn modelId="{339CEC75-0372-4633-8E13-B68E8290FBB7}" type="presOf" srcId="{83D05888-9BED-42A5-B39B-9D9653AB9F88}" destId="{42D3DFC3-BE4A-44AB-9044-B34F75C316CF}" srcOrd="0" destOrd="0" presId="urn:microsoft.com/office/officeart/2018/2/layout/IconVerticalSolidList"/>
    <dgm:cxn modelId="{AD01232A-0DDE-4F8C-9965-6CB7C3D4E1B9}" type="presOf" srcId="{0F40398D-9EC2-48C8-9E63-2CE82D9BE909}" destId="{7D65D02B-65E4-499B-A3A5-84E2834033BB}" srcOrd="0" destOrd="0" presId="urn:microsoft.com/office/officeart/2018/2/layout/IconVerticalSolidList"/>
    <dgm:cxn modelId="{38D77A9E-C1D6-4560-98CE-8E98115B9814}" type="presParOf" srcId="{42D3DFC3-BE4A-44AB-9044-B34F75C316CF}" destId="{54287B67-D0C4-4B9A-9D5C-BC8C79FADB93}" srcOrd="0" destOrd="0" presId="urn:microsoft.com/office/officeart/2018/2/layout/IconVerticalSolidList"/>
    <dgm:cxn modelId="{8977E0BC-3E07-4BBE-A297-3C0125133330}" type="presParOf" srcId="{54287B67-D0C4-4B9A-9D5C-BC8C79FADB93}" destId="{45E64BC0-8AF9-4623-9B3F-8F94EE8F5312}" srcOrd="0" destOrd="0" presId="urn:microsoft.com/office/officeart/2018/2/layout/IconVerticalSolidList"/>
    <dgm:cxn modelId="{3E99B45D-FDA7-4886-8A46-46B3CF2BC641}" type="presParOf" srcId="{54287B67-D0C4-4B9A-9D5C-BC8C79FADB93}" destId="{1ABF2B85-7E4A-4C80-8702-2C7357367F21}" srcOrd="1" destOrd="0" presId="urn:microsoft.com/office/officeart/2018/2/layout/IconVerticalSolidList"/>
    <dgm:cxn modelId="{00D07AF3-1B90-412F-A2FB-577A060E45EE}" type="presParOf" srcId="{54287B67-D0C4-4B9A-9D5C-BC8C79FADB93}" destId="{165A9859-2210-4CD4-B19F-C39AB68174DA}" srcOrd="2" destOrd="0" presId="urn:microsoft.com/office/officeart/2018/2/layout/IconVerticalSolidList"/>
    <dgm:cxn modelId="{CF2FA489-7CEC-43CD-A195-E220648B404D}" type="presParOf" srcId="{54287B67-D0C4-4B9A-9D5C-BC8C79FADB93}" destId="{D837E92E-8AE8-40DE-8871-7AF9B3B2B575}" srcOrd="3" destOrd="0" presId="urn:microsoft.com/office/officeart/2018/2/layout/IconVerticalSolidList"/>
    <dgm:cxn modelId="{B3834F20-1B14-421D-B94A-802723259977}" type="presParOf" srcId="{42D3DFC3-BE4A-44AB-9044-B34F75C316CF}" destId="{BBE7D4AB-1695-4E83-96AE-06D955024D73}" srcOrd="1" destOrd="0" presId="urn:microsoft.com/office/officeart/2018/2/layout/IconVerticalSolidList"/>
    <dgm:cxn modelId="{66C440A8-B360-43BF-9DA8-A984AA5FC925}" type="presParOf" srcId="{42D3DFC3-BE4A-44AB-9044-B34F75C316CF}" destId="{8A0ECF34-C52C-47E4-9478-0D282EE7734F}" srcOrd="2" destOrd="0" presId="urn:microsoft.com/office/officeart/2018/2/layout/IconVerticalSolidList"/>
    <dgm:cxn modelId="{E0CACF46-53DF-49E8-B261-11AC908196C9}" type="presParOf" srcId="{8A0ECF34-C52C-47E4-9478-0D282EE7734F}" destId="{45D3F599-FAA2-43DB-9BBD-7BE9C1F2090F}" srcOrd="0" destOrd="0" presId="urn:microsoft.com/office/officeart/2018/2/layout/IconVerticalSolidList"/>
    <dgm:cxn modelId="{D55D37DB-A082-4816-95C3-A399BC062A0D}" type="presParOf" srcId="{8A0ECF34-C52C-47E4-9478-0D282EE7734F}" destId="{F64E8A7C-E4FD-48A2-9200-A5D523FC4F64}" srcOrd="1" destOrd="0" presId="urn:microsoft.com/office/officeart/2018/2/layout/IconVerticalSolidList"/>
    <dgm:cxn modelId="{DC6DC550-70A3-4085-8789-812D66620B38}" type="presParOf" srcId="{8A0ECF34-C52C-47E4-9478-0D282EE7734F}" destId="{B50F25AA-86E3-4634-BB63-17DAC4364D79}" srcOrd="2" destOrd="0" presId="urn:microsoft.com/office/officeart/2018/2/layout/IconVerticalSolidList"/>
    <dgm:cxn modelId="{CB45CA57-B1AD-4C4F-9015-BE5601D9FF23}" type="presParOf" srcId="{8A0ECF34-C52C-47E4-9478-0D282EE7734F}" destId="{7D65D02B-65E4-499B-A3A5-84E2834033BB}" srcOrd="3" destOrd="0" presId="urn:microsoft.com/office/officeart/2018/2/layout/IconVerticalSolidLis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2DD0C44-120E-47B0-8994-D10AD06F003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1F29FC2-83BB-4BF2-940B-43DF0665FD00}">
      <dgm:prSet/>
      <dgm:spPr/>
      <dgm:t>
        <a:bodyPr/>
        <a:lstStyle/>
        <a:p>
          <a:r>
            <a:rPr lang="en-US" b="1"/>
            <a:t>Ethical Codes</a:t>
          </a:r>
          <a:r>
            <a:rPr lang="en-US"/>
            <a:t>: Ethical codes define the behavior expected from employees and guide decision-making. They help clarify ethical standards but also rely on individual conscience and enforcement within organizations, contributing to maintaining ethical practices.</a:t>
          </a:r>
        </a:p>
      </dgm:t>
    </dgm:pt>
    <dgm:pt modelId="{F486412E-3996-44F1-8679-F7E0159E1B6D}" type="parTrans" cxnId="{730C8D4F-8CAB-4AE9-9131-3AB5CB513479}">
      <dgm:prSet/>
      <dgm:spPr/>
      <dgm:t>
        <a:bodyPr/>
        <a:lstStyle/>
        <a:p>
          <a:endParaRPr lang="en-US"/>
        </a:p>
      </dgm:t>
    </dgm:pt>
    <dgm:pt modelId="{E641E633-AD93-484B-88DE-FA46C1C74FF3}" type="sibTrans" cxnId="{730C8D4F-8CAB-4AE9-9131-3AB5CB513479}">
      <dgm:prSet/>
      <dgm:spPr/>
      <dgm:t>
        <a:bodyPr/>
        <a:lstStyle/>
        <a:p>
          <a:endParaRPr lang="en-US"/>
        </a:p>
      </dgm:t>
    </dgm:pt>
    <dgm:pt modelId="{539144CC-10AB-4318-81A2-640D99B9F91C}">
      <dgm:prSet/>
      <dgm:spPr/>
      <dgm:t>
        <a:bodyPr/>
        <a:lstStyle/>
        <a:p>
          <a:r>
            <a:rPr lang="en-US" b="1"/>
            <a:t>Social Pressure</a:t>
          </a:r>
          <a:r>
            <a:rPr lang="en-US"/>
            <a:t>: Social norms and values play a significant role in shaping ethical behavior. As societal views evolve, ethical standards and behaviors can shift, which shows the dynamic scope of ethics, influenced by collective values and advocacy groups.</a:t>
          </a:r>
        </a:p>
      </dgm:t>
    </dgm:pt>
    <dgm:pt modelId="{D587CFF1-F15C-4338-8E38-4DC4DFECF9AB}" type="parTrans" cxnId="{B44713CC-06F1-41DF-9D8D-260E731035B4}">
      <dgm:prSet/>
      <dgm:spPr/>
      <dgm:t>
        <a:bodyPr/>
        <a:lstStyle/>
        <a:p>
          <a:endParaRPr lang="en-US"/>
        </a:p>
      </dgm:t>
    </dgm:pt>
    <dgm:pt modelId="{FA0C50F8-10FE-40B4-A8F0-A0F221685392}" type="sibTrans" cxnId="{B44713CC-06F1-41DF-9D8D-260E731035B4}">
      <dgm:prSet/>
      <dgm:spPr/>
      <dgm:t>
        <a:bodyPr/>
        <a:lstStyle/>
        <a:p>
          <a:endParaRPr lang="en-US"/>
        </a:p>
      </dgm:t>
    </dgm:pt>
    <dgm:pt modelId="{B5CFBD9B-5114-48E9-8B63-94737CAA90DC}" type="pres">
      <dgm:prSet presAssocID="{32DD0C44-120E-47B0-8994-D10AD06F003E}" presName="linear" presStyleCnt="0">
        <dgm:presLayoutVars>
          <dgm:animLvl val="lvl"/>
          <dgm:resizeHandles val="exact"/>
        </dgm:presLayoutVars>
      </dgm:prSet>
      <dgm:spPr/>
      <dgm:t>
        <a:bodyPr/>
        <a:lstStyle/>
        <a:p>
          <a:endParaRPr lang="en-US"/>
        </a:p>
      </dgm:t>
    </dgm:pt>
    <dgm:pt modelId="{E723674D-5E9C-48E1-BF01-CE384C116386}" type="pres">
      <dgm:prSet presAssocID="{31F29FC2-83BB-4BF2-940B-43DF0665FD00}" presName="parentText" presStyleLbl="node1" presStyleIdx="0" presStyleCnt="2">
        <dgm:presLayoutVars>
          <dgm:chMax val="0"/>
          <dgm:bulletEnabled val="1"/>
        </dgm:presLayoutVars>
      </dgm:prSet>
      <dgm:spPr/>
      <dgm:t>
        <a:bodyPr/>
        <a:lstStyle/>
        <a:p>
          <a:endParaRPr lang="en-US"/>
        </a:p>
      </dgm:t>
    </dgm:pt>
    <dgm:pt modelId="{CA5797E7-4E4F-4CA0-B457-BD3A89DAE4CD}" type="pres">
      <dgm:prSet presAssocID="{E641E633-AD93-484B-88DE-FA46C1C74FF3}" presName="spacer" presStyleCnt="0"/>
      <dgm:spPr/>
    </dgm:pt>
    <dgm:pt modelId="{3EFE91D5-092A-4EFF-88D4-673C805A3790}" type="pres">
      <dgm:prSet presAssocID="{539144CC-10AB-4318-81A2-640D99B9F91C}" presName="parentText" presStyleLbl="node1" presStyleIdx="1" presStyleCnt="2">
        <dgm:presLayoutVars>
          <dgm:chMax val="0"/>
          <dgm:bulletEnabled val="1"/>
        </dgm:presLayoutVars>
      </dgm:prSet>
      <dgm:spPr/>
      <dgm:t>
        <a:bodyPr/>
        <a:lstStyle/>
        <a:p>
          <a:endParaRPr lang="en-US"/>
        </a:p>
      </dgm:t>
    </dgm:pt>
  </dgm:ptLst>
  <dgm:cxnLst>
    <dgm:cxn modelId="{F4D25A21-DFFF-4EDB-B358-71CFAAD329D4}" type="presOf" srcId="{31F29FC2-83BB-4BF2-940B-43DF0665FD00}" destId="{E723674D-5E9C-48E1-BF01-CE384C116386}" srcOrd="0" destOrd="0" presId="urn:microsoft.com/office/officeart/2005/8/layout/vList2"/>
    <dgm:cxn modelId="{B44713CC-06F1-41DF-9D8D-260E731035B4}" srcId="{32DD0C44-120E-47B0-8994-D10AD06F003E}" destId="{539144CC-10AB-4318-81A2-640D99B9F91C}" srcOrd="1" destOrd="0" parTransId="{D587CFF1-F15C-4338-8E38-4DC4DFECF9AB}" sibTransId="{FA0C50F8-10FE-40B4-A8F0-A0F221685392}"/>
    <dgm:cxn modelId="{C1273DD6-19B7-464C-A804-5F8898A3211E}" type="presOf" srcId="{32DD0C44-120E-47B0-8994-D10AD06F003E}" destId="{B5CFBD9B-5114-48E9-8B63-94737CAA90DC}" srcOrd="0" destOrd="0" presId="urn:microsoft.com/office/officeart/2005/8/layout/vList2"/>
    <dgm:cxn modelId="{730C8D4F-8CAB-4AE9-9131-3AB5CB513479}" srcId="{32DD0C44-120E-47B0-8994-D10AD06F003E}" destId="{31F29FC2-83BB-4BF2-940B-43DF0665FD00}" srcOrd="0" destOrd="0" parTransId="{F486412E-3996-44F1-8679-F7E0159E1B6D}" sibTransId="{E641E633-AD93-484B-88DE-FA46C1C74FF3}"/>
    <dgm:cxn modelId="{FBF4DC12-E957-4AD3-9070-9D252ACD89DF}" type="presOf" srcId="{539144CC-10AB-4318-81A2-640D99B9F91C}" destId="{3EFE91D5-092A-4EFF-88D4-673C805A3790}" srcOrd="0" destOrd="0" presId="urn:microsoft.com/office/officeart/2005/8/layout/vList2"/>
    <dgm:cxn modelId="{1D866F83-DF2B-421A-8547-0B201FDE3456}" type="presParOf" srcId="{B5CFBD9B-5114-48E9-8B63-94737CAA90DC}" destId="{E723674D-5E9C-48E1-BF01-CE384C116386}" srcOrd="0" destOrd="0" presId="urn:microsoft.com/office/officeart/2005/8/layout/vList2"/>
    <dgm:cxn modelId="{C4B2F7B2-D51D-4501-834B-0AA994561D19}" type="presParOf" srcId="{B5CFBD9B-5114-48E9-8B63-94737CAA90DC}" destId="{CA5797E7-4E4F-4CA0-B457-BD3A89DAE4CD}" srcOrd="1" destOrd="0" presId="urn:microsoft.com/office/officeart/2005/8/layout/vList2"/>
    <dgm:cxn modelId="{D72D131B-9376-44E6-A845-B004EF808B09}" type="presParOf" srcId="{B5CFBD9B-5114-48E9-8B63-94737CAA90DC}" destId="{3EFE91D5-092A-4EFF-88D4-673C805A3790}" srcOrd="2"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80A407B-DCE7-4A38-892D-35951278D503}"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C7C47CEB-F9E2-49EF-B40F-8D95777309B0}">
      <dgm:prSet/>
      <dgm:spPr/>
      <dgm:t>
        <a:bodyPr/>
        <a:lstStyle/>
        <a:p>
          <a:r>
            <a:rPr lang="en-US" b="1"/>
            <a:t>Corporate Culture</a:t>
          </a:r>
          <a:r>
            <a:rPr lang="en-US"/>
            <a:t>: The ethical environment of an organization, shaped by its culture and leadership (especially senior management), directly impacts the behavior of employees. Corporate culture sets the tone for what is considered ethical within the organization.</a:t>
          </a:r>
        </a:p>
      </dgm:t>
    </dgm:pt>
    <dgm:pt modelId="{3CE3BF5F-8A9F-4BC5-A52A-89E14D15FBFA}" type="parTrans" cxnId="{5226AC05-3211-48DA-97F5-363F1AB39700}">
      <dgm:prSet/>
      <dgm:spPr/>
      <dgm:t>
        <a:bodyPr/>
        <a:lstStyle/>
        <a:p>
          <a:endParaRPr lang="en-US"/>
        </a:p>
      </dgm:t>
    </dgm:pt>
    <dgm:pt modelId="{ABDCCF48-48C1-4D2D-B823-F389654650CD}" type="sibTrans" cxnId="{5226AC05-3211-48DA-97F5-363F1AB39700}">
      <dgm:prSet/>
      <dgm:spPr/>
      <dgm:t>
        <a:bodyPr/>
        <a:lstStyle/>
        <a:p>
          <a:endParaRPr lang="en-US"/>
        </a:p>
      </dgm:t>
    </dgm:pt>
    <dgm:pt modelId="{7B4A1291-1466-449A-84D2-C6BE5895BB79}">
      <dgm:prSet/>
      <dgm:spPr/>
      <dgm:t>
        <a:bodyPr/>
        <a:lstStyle/>
        <a:p>
          <a:r>
            <a:rPr lang="en-US" b="1"/>
            <a:t>Personal Policies and Values</a:t>
          </a:r>
          <a:r>
            <a:rPr lang="en-US"/>
            <a:t>: An individual’s personal beliefs, values, and characteristics influence their ethical decisions and behavior, reflecting the scope of ethics as it interacts with personal morality.</a:t>
          </a:r>
        </a:p>
      </dgm:t>
    </dgm:pt>
    <dgm:pt modelId="{B90EB9D0-5519-4ECF-BE5A-A9328A0B1BB4}" type="parTrans" cxnId="{3B94116A-BB81-40D6-95D1-05EB7541CD08}">
      <dgm:prSet/>
      <dgm:spPr/>
      <dgm:t>
        <a:bodyPr/>
        <a:lstStyle/>
        <a:p>
          <a:endParaRPr lang="en-US"/>
        </a:p>
      </dgm:t>
    </dgm:pt>
    <dgm:pt modelId="{FF7B326B-86DF-4633-9894-D7C2761172FD}" type="sibTrans" cxnId="{3B94116A-BB81-40D6-95D1-05EB7541CD08}">
      <dgm:prSet/>
      <dgm:spPr/>
      <dgm:t>
        <a:bodyPr/>
        <a:lstStyle/>
        <a:p>
          <a:endParaRPr lang="en-US"/>
        </a:p>
      </dgm:t>
    </dgm:pt>
    <dgm:pt modelId="{407FEB98-797E-4FDE-AEE0-0870160A024D}" type="pres">
      <dgm:prSet presAssocID="{B80A407B-DCE7-4A38-892D-35951278D503}" presName="outerComposite" presStyleCnt="0">
        <dgm:presLayoutVars>
          <dgm:chMax val="5"/>
          <dgm:dir/>
          <dgm:resizeHandles val="exact"/>
        </dgm:presLayoutVars>
      </dgm:prSet>
      <dgm:spPr/>
      <dgm:t>
        <a:bodyPr/>
        <a:lstStyle/>
        <a:p>
          <a:endParaRPr lang="en-US"/>
        </a:p>
      </dgm:t>
    </dgm:pt>
    <dgm:pt modelId="{0F9F4F4E-EE2C-437D-8756-8384BB7884DD}" type="pres">
      <dgm:prSet presAssocID="{B80A407B-DCE7-4A38-892D-35951278D503}" presName="dummyMaxCanvas" presStyleCnt="0">
        <dgm:presLayoutVars/>
      </dgm:prSet>
      <dgm:spPr/>
    </dgm:pt>
    <dgm:pt modelId="{C2C5CC46-9DAB-40F2-93D4-E55740775FB0}" type="pres">
      <dgm:prSet presAssocID="{B80A407B-DCE7-4A38-892D-35951278D503}" presName="TwoNodes_1" presStyleLbl="node1" presStyleIdx="0" presStyleCnt="2">
        <dgm:presLayoutVars>
          <dgm:bulletEnabled val="1"/>
        </dgm:presLayoutVars>
      </dgm:prSet>
      <dgm:spPr/>
      <dgm:t>
        <a:bodyPr/>
        <a:lstStyle/>
        <a:p>
          <a:endParaRPr lang="en-US"/>
        </a:p>
      </dgm:t>
    </dgm:pt>
    <dgm:pt modelId="{E85909B8-29F4-4BC5-8A38-7135D6F896F4}" type="pres">
      <dgm:prSet presAssocID="{B80A407B-DCE7-4A38-892D-35951278D503}" presName="TwoNodes_2" presStyleLbl="node1" presStyleIdx="1" presStyleCnt="2">
        <dgm:presLayoutVars>
          <dgm:bulletEnabled val="1"/>
        </dgm:presLayoutVars>
      </dgm:prSet>
      <dgm:spPr/>
      <dgm:t>
        <a:bodyPr/>
        <a:lstStyle/>
        <a:p>
          <a:endParaRPr lang="en-US"/>
        </a:p>
      </dgm:t>
    </dgm:pt>
    <dgm:pt modelId="{B3EBC68D-07FD-482A-896D-F3401FA3B91A}" type="pres">
      <dgm:prSet presAssocID="{B80A407B-DCE7-4A38-892D-35951278D503}" presName="TwoConn_1-2" presStyleLbl="fgAccFollowNode1" presStyleIdx="0" presStyleCnt="1">
        <dgm:presLayoutVars>
          <dgm:bulletEnabled val="1"/>
        </dgm:presLayoutVars>
      </dgm:prSet>
      <dgm:spPr/>
      <dgm:t>
        <a:bodyPr/>
        <a:lstStyle/>
        <a:p>
          <a:endParaRPr lang="en-US"/>
        </a:p>
      </dgm:t>
    </dgm:pt>
    <dgm:pt modelId="{F05A752D-2283-49BE-BF63-CE427CF49889}" type="pres">
      <dgm:prSet presAssocID="{B80A407B-DCE7-4A38-892D-35951278D503}" presName="TwoNodes_1_text" presStyleLbl="node1" presStyleIdx="1" presStyleCnt="2">
        <dgm:presLayoutVars>
          <dgm:bulletEnabled val="1"/>
        </dgm:presLayoutVars>
      </dgm:prSet>
      <dgm:spPr/>
      <dgm:t>
        <a:bodyPr/>
        <a:lstStyle/>
        <a:p>
          <a:endParaRPr lang="en-US"/>
        </a:p>
      </dgm:t>
    </dgm:pt>
    <dgm:pt modelId="{39C0D348-C030-462B-AA51-7C9127EB2BBE}" type="pres">
      <dgm:prSet presAssocID="{B80A407B-DCE7-4A38-892D-35951278D503}" presName="TwoNodes_2_text" presStyleLbl="node1" presStyleIdx="1" presStyleCnt="2">
        <dgm:presLayoutVars>
          <dgm:bulletEnabled val="1"/>
        </dgm:presLayoutVars>
      </dgm:prSet>
      <dgm:spPr/>
      <dgm:t>
        <a:bodyPr/>
        <a:lstStyle/>
        <a:p>
          <a:endParaRPr lang="en-US"/>
        </a:p>
      </dgm:t>
    </dgm:pt>
  </dgm:ptLst>
  <dgm:cxnLst>
    <dgm:cxn modelId="{3B94116A-BB81-40D6-95D1-05EB7541CD08}" srcId="{B80A407B-DCE7-4A38-892D-35951278D503}" destId="{7B4A1291-1466-449A-84D2-C6BE5895BB79}" srcOrd="1" destOrd="0" parTransId="{B90EB9D0-5519-4ECF-BE5A-A9328A0B1BB4}" sibTransId="{FF7B326B-86DF-4633-9894-D7C2761172FD}"/>
    <dgm:cxn modelId="{8B49F5C8-FDDD-4FB4-ABEE-11BD275D0B6F}" type="presOf" srcId="{B80A407B-DCE7-4A38-892D-35951278D503}" destId="{407FEB98-797E-4FDE-AEE0-0870160A024D}" srcOrd="0" destOrd="0" presId="urn:microsoft.com/office/officeart/2005/8/layout/vProcess5"/>
    <dgm:cxn modelId="{04E89359-A8B1-4D2A-9D8F-72025FCEB9F1}" type="presOf" srcId="{ABDCCF48-48C1-4D2D-B823-F389654650CD}" destId="{B3EBC68D-07FD-482A-896D-F3401FA3B91A}" srcOrd="0" destOrd="0" presId="urn:microsoft.com/office/officeart/2005/8/layout/vProcess5"/>
    <dgm:cxn modelId="{1795D975-A27C-41AD-B8F2-4E39D17FDB27}" type="presOf" srcId="{C7C47CEB-F9E2-49EF-B40F-8D95777309B0}" destId="{F05A752D-2283-49BE-BF63-CE427CF49889}" srcOrd="1" destOrd="0" presId="urn:microsoft.com/office/officeart/2005/8/layout/vProcess5"/>
    <dgm:cxn modelId="{34EA4267-DC4F-4C3F-BDD3-D7F06D662395}" type="presOf" srcId="{7B4A1291-1466-449A-84D2-C6BE5895BB79}" destId="{39C0D348-C030-462B-AA51-7C9127EB2BBE}" srcOrd="1" destOrd="0" presId="urn:microsoft.com/office/officeart/2005/8/layout/vProcess5"/>
    <dgm:cxn modelId="{EBC678B2-C667-4323-8A7F-B8530212F30C}" type="presOf" srcId="{7B4A1291-1466-449A-84D2-C6BE5895BB79}" destId="{E85909B8-29F4-4BC5-8A38-7135D6F896F4}" srcOrd="0" destOrd="0" presId="urn:microsoft.com/office/officeart/2005/8/layout/vProcess5"/>
    <dgm:cxn modelId="{5226AC05-3211-48DA-97F5-363F1AB39700}" srcId="{B80A407B-DCE7-4A38-892D-35951278D503}" destId="{C7C47CEB-F9E2-49EF-B40F-8D95777309B0}" srcOrd="0" destOrd="0" parTransId="{3CE3BF5F-8A9F-4BC5-A52A-89E14D15FBFA}" sibTransId="{ABDCCF48-48C1-4D2D-B823-F389654650CD}"/>
    <dgm:cxn modelId="{24F409D0-13D3-4207-84AE-8F82EA1F04C9}" type="presOf" srcId="{C7C47CEB-F9E2-49EF-B40F-8D95777309B0}" destId="{C2C5CC46-9DAB-40F2-93D4-E55740775FB0}" srcOrd="0" destOrd="0" presId="urn:microsoft.com/office/officeart/2005/8/layout/vProcess5"/>
    <dgm:cxn modelId="{9DCB306C-EEC7-4262-B161-C5B5BE7F8746}" type="presParOf" srcId="{407FEB98-797E-4FDE-AEE0-0870160A024D}" destId="{0F9F4F4E-EE2C-437D-8756-8384BB7884DD}" srcOrd="0" destOrd="0" presId="urn:microsoft.com/office/officeart/2005/8/layout/vProcess5"/>
    <dgm:cxn modelId="{8FBD5F9C-7F59-4B1E-8D4A-CA4423D18D47}" type="presParOf" srcId="{407FEB98-797E-4FDE-AEE0-0870160A024D}" destId="{C2C5CC46-9DAB-40F2-93D4-E55740775FB0}" srcOrd="1" destOrd="0" presId="urn:microsoft.com/office/officeart/2005/8/layout/vProcess5"/>
    <dgm:cxn modelId="{494A6EC0-68CC-4110-8623-78E882D54728}" type="presParOf" srcId="{407FEB98-797E-4FDE-AEE0-0870160A024D}" destId="{E85909B8-29F4-4BC5-8A38-7135D6F896F4}" srcOrd="2" destOrd="0" presId="urn:microsoft.com/office/officeart/2005/8/layout/vProcess5"/>
    <dgm:cxn modelId="{7AF2C28A-6203-4E22-8C3D-9CA7BD91E1E8}" type="presParOf" srcId="{407FEB98-797E-4FDE-AEE0-0870160A024D}" destId="{B3EBC68D-07FD-482A-896D-F3401FA3B91A}" srcOrd="3" destOrd="0" presId="urn:microsoft.com/office/officeart/2005/8/layout/vProcess5"/>
    <dgm:cxn modelId="{7D34A133-058E-4C97-B802-34CA58B537C5}" type="presParOf" srcId="{407FEB98-797E-4FDE-AEE0-0870160A024D}" destId="{F05A752D-2283-49BE-BF63-CE427CF49889}" srcOrd="4" destOrd="0" presId="urn:microsoft.com/office/officeart/2005/8/layout/vProcess5"/>
    <dgm:cxn modelId="{836B5D94-F3A5-4EFA-A363-8006500D12FF}" type="presParOf" srcId="{407FEB98-797E-4FDE-AEE0-0870160A024D}" destId="{39C0D348-C030-462B-AA51-7C9127EB2BBE}" srcOrd="5" destOrd="0" presId="urn:microsoft.com/office/officeart/2005/8/layout/vProcess5"/>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324BED-E2D2-40B0-8F48-DE5C5C877BD1}">
      <dsp:nvSpPr>
        <dsp:cNvPr id="0" name=""/>
        <dsp:cNvSpPr/>
      </dsp:nvSpPr>
      <dsp:spPr>
        <a:xfrm>
          <a:off x="0" y="0"/>
          <a:ext cx="7195774" cy="631212"/>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100000"/>
            </a:lnSpc>
            <a:spcBef>
              <a:spcPct val="0"/>
            </a:spcBef>
            <a:spcAft>
              <a:spcPct val="35000"/>
            </a:spcAft>
            <a:buNone/>
          </a:pPr>
          <a:r>
            <a:rPr lang="en-US" sz="1500" b="1" i="0" kern="1200" dirty="0"/>
            <a:t>Meaning and scope</a:t>
          </a:r>
          <a:endParaRPr lang="en-US" sz="1500" kern="1200" dirty="0"/>
        </a:p>
      </dsp:txBody>
      <dsp:txXfrm>
        <a:off x="18488" y="18488"/>
        <a:ext cx="6461308" cy="594236"/>
      </dsp:txXfrm>
    </dsp:sp>
    <dsp:sp modelId="{3F89612D-7FD8-4878-AE3A-CF071CA86279}">
      <dsp:nvSpPr>
        <dsp:cNvPr id="0" name=""/>
        <dsp:cNvSpPr/>
      </dsp:nvSpPr>
      <dsp:spPr>
        <a:xfrm>
          <a:off x="602646" y="745978"/>
          <a:ext cx="7195774" cy="631212"/>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100000"/>
            </a:lnSpc>
            <a:spcBef>
              <a:spcPct val="0"/>
            </a:spcBef>
            <a:spcAft>
              <a:spcPct val="35000"/>
            </a:spcAft>
            <a:buNone/>
          </a:pPr>
          <a:r>
            <a:rPr lang="en-US" sz="1500" b="1" i="0" kern="1200" dirty="0"/>
            <a:t>The importance of ethics</a:t>
          </a:r>
          <a:endParaRPr lang="en-US" sz="1500" kern="1200" dirty="0"/>
        </a:p>
      </dsp:txBody>
      <dsp:txXfrm>
        <a:off x="621134" y="764466"/>
        <a:ext cx="6145864" cy="594236"/>
      </dsp:txXfrm>
    </dsp:sp>
    <dsp:sp modelId="{F7C8FF10-1E56-4F9C-AAEC-ADE1D333F758}">
      <dsp:nvSpPr>
        <dsp:cNvPr id="0" name=""/>
        <dsp:cNvSpPr/>
      </dsp:nvSpPr>
      <dsp:spPr>
        <a:xfrm>
          <a:off x="1196297" y="1491956"/>
          <a:ext cx="7195774" cy="631212"/>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100000"/>
            </a:lnSpc>
            <a:spcBef>
              <a:spcPct val="0"/>
            </a:spcBef>
            <a:spcAft>
              <a:spcPct val="35000"/>
            </a:spcAft>
            <a:buNone/>
          </a:pPr>
          <a:r>
            <a:rPr lang="en-US" sz="1500" b="1" i="0" kern="1200" dirty="0"/>
            <a:t>The nature of ethics and its relevance to society, business and the accountancy profession</a:t>
          </a:r>
          <a:endParaRPr lang="en-US" sz="1500" kern="1200" dirty="0"/>
        </a:p>
      </dsp:txBody>
      <dsp:txXfrm>
        <a:off x="1214785" y="1510444"/>
        <a:ext cx="6154858" cy="594236"/>
      </dsp:txXfrm>
    </dsp:sp>
    <dsp:sp modelId="{396C7145-547A-4DA8-951A-E2C3061CD1C1}">
      <dsp:nvSpPr>
        <dsp:cNvPr id="0" name=""/>
        <dsp:cNvSpPr/>
      </dsp:nvSpPr>
      <dsp:spPr>
        <a:xfrm>
          <a:off x="1798943" y="2237935"/>
          <a:ext cx="7195774" cy="631212"/>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100000"/>
            </a:lnSpc>
            <a:spcBef>
              <a:spcPct val="0"/>
            </a:spcBef>
            <a:spcAft>
              <a:spcPct val="35000"/>
            </a:spcAft>
            <a:buNone/>
          </a:pPr>
          <a:r>
            <a:rPr lang="en-US" sz="1500" b="1" i="0" kern="1200" dirty="0"/>
            <a:t>Values and attitudes for professional accountants, Corporate governance ethics business ethics. </a:t>
          </a:r>
          <a:endParaRPr lang="en-US" sz="1500" kern="1200" dirty="0"/>
        </a:p>
      </dsp:txBody>
      <dsp:txXfrm>
        <a:off x="1817431" y="2256423"/>
        <a:ext cx="6145864" cy="594236"/>
      </dsp:txXfrm>
    </dsp:sp>
    <dsp:sp modelId="{79E56C25-E72D-4633-BF3C-294B6EFFC2F2}">
      <dsp:nvSpPr>
        <dsp:cNvPr id="0" name=""/>
        <dsp:cNvSpPr/>
      </dsp:nvSpPr>
      <dsp:spPr>
        <a:xfrm>
          <a:off x="6785486" y="483451"/>
          <a:ext cx="410288" cy="410288"/>
        </a:xfrm>
        <a:prstGeom prst="downArrow">
          <a:avLst>
            <a:gd name="adj1" fmla="val 55000"/>
            <a:gd name="adj2" fmla="val 45000"/>
          </a:avLst>
        </a:prstGeom>
        <a:solidFill>
          <a:schemeClr val="accent6">
            <a:alpha val="90000"/>
            <a:tint val="40000"/>
            <a:hueOff val="0"/>
            <a:satOff val="0"/>
            <a:lumOff val="0"/>
            <a:alphaOff val="0"/>
          </a:schemeClr>
        </a:solidFill>
        <a:ln w="15875" cap="rnd"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6877801" y="483451"/>
        <a:ext cx="225658" cy="308742"/>
      </dsp:txXfrm>
    </dsp:sp>
    <dsp:sp modelId="{98067876-72BA-4799-A403-4CE54D2BB345}">
      <dsp:nvSpPr>
        <dsp:cNvPr id="0" name=""/>
        <dsp:cNvSpPr/>
      </dsp:nvSpPr>
      <dsp:spPr>
        <a:xfrm>
          <a:off x="7388132" y="1229429"/>
          <a:ext cx="410288" cy="410288"/>
        </a:xfrm>
        <a:prstGeom prst="downArrow">
          <a:avLst>
            <a:gd name="adj1" fmla="val 55000"/>
            <a:gd name="adj2" fmla="val 45000"/>
          </a:avLst>
        </a:prstGeom>
        <a:solidFill>
          <a:schemeClr val="accent6">
            <a:alpha val="90000"/>
            <a:tint val="40000"/>
            <a:hueOff val="0"/>
            <a:satOff val="0"/>
            <a:lumOff val="0"/>
            <a:alphaOff val="0"/>
          </a:schemeClr>
        </a:solidFill>
        <a:ln w="15875" cap="rnd"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7480447" y="1229429"/>
        <a:ext cx="225658" cy="308742"/>
      </dsp:txXfrm>
    </dsp:sp>
    <dsp:sp modelId="{BA6EA247-310A-4E43-AB27-9441D1C8FC02}">
      <dsp:nvSpPr>
        <dsp:cNvPr id="0" name=""/>
        <dsp:cNvSpPr/>
      </dsp:nvSpPr>
      <dsp:spPr>
        <a:xfrm>
          <a:off x="7981783" y="1975408"/>
          <a:ext cx="410288" cy="410288"/>
        </a:xfrm>
        <a:prstGeom prst="downArrow">
          <a:avLst>
            <a:gd name="adj1" fmla="val 55000"/>
            <a:gd name="adj2" fmla="val 45000"/>
          </a:avLst>
        </a:prstGeom>
        <a:solidFill>
          <a:schemeClr val="accent6">
            <a:alpha val="90000"/>
            <a:tint val="40000"/>
            <a:hueOff val="0"/>
            <a:satOff val="0"/>
            <a:lumOff val="0"/>
            <a:alphaOff val="0"/>
          </a:schemeClr>
        </a:solidFill>
        <a:ln w="15875" cap="rnd"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8074098" y="1975408"/>
        <a:ext cx="225658" cy="3087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16886D-CF46-4C80-95BE-C129FD15B884}">
      <dsp:nvSpPr>
        <dsp:cNvPr id="0" name=""/>
        <dsp:cNvSpPr/>
      </dsp:nvSpPr>
      <dsp:spPr>
        <a:xfrm>
          <a:off x="0" y="589985"/>
          <a:ext cx="8991114" cy="108920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5CE206-9FCE-49A9-957F-246569812601}">
      <dsp:nvSpPr>
        <dsp:cNvPr id="0" name=""/>
        <dsp:cNvSpPr/>
      </dsp:nvSpPr>
      <dsp:spPr>
        <a:xfrm>
          <a:off x="329484" y="835056"/>
          <a:ext cx="599062" cy="599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EFD9CF6-5BD2-4461-BB58-49A51FF37131}">
      <dsp:nvSpPr>
        <dsp:cNvPr id="0" name=""/>
        <dsp:cNvSpPr/>
      </dsp:nvSpPr>
      <dsp:spPr>
        <a:xfrm>
          <a:off x="1258030" y="589985"/>
          <a:ext cx="7733083" cy="1089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274" tIns="115274" rIns="115274" bIns="115274" numCol="1" spcCol="1270" anchor="ctr" anchorCtr="0">
          <a:noAutofit/>
        </a:bodyPr>
        <a:lstStyle/>
        <a:p>
          <a:pPr marL="0" lvl="0" indent="0" algn="l" defTabSz="889000">
            <a:lnSpc>
              <a:spcPct val="90000"/>
            </a:lnSpc>
            <a:spcBef>
              <a:spcPct val="0"/>
            </a:spcBef>
            <a:spcAft>
              <a:spcPct val="35000"/>
            </a:spcAft>
            <a:buNone/>
          </a:pPr>
          <a:r>
            <a:rPr lang="en-US" sz="2000" b="1" i="0" kern="1200" dirty="0"/>
            <a:t>The Oxford English Dictionary defines ethics as the "moral principles that govern a person's behaviour of the conducting of an activity". </a:t>
          </a:r>
          <a:endParaRPr lang="en-US" sz="2000" kern="1200" dirty="0"/>
        </a:p>
      </dsp:txBody>
      <dsp:txXfrm>
        <a:off x="1258030" y="589985"/>
        <a:ext cx="7733083" cy="1089204"/>
      </dsp:txXfrm>
    </dsp:sp>
    <dsp:sp modelId="{6582C735-1A74-4359-857C-B241A6E339A8}">
      <dsp:nvSpPr>
        <dsp:cNvPr id="0" name=""/>
        <dsp:cNvSpPr/>
      </dsp:nvSpPr>
      <dsp:spPr>
        <a:xfrm>
          <a:off x="0" y="1951490"/>
          <a:ext cx="8991114" cy="108920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ACF061-9C73-43E4-9C50-61581250CEC2}">
      <dsp:nvSpPr>
        <dsp:cNvPr id="0" name=""/>
        <dsp:cNvSpPr/>
      </dsp:nvSpPr>
      <dsp:spPr>
        <a:xfrm>
          <a:off x="329484" y="2196561"/>
          <a:ext cx="599062" cy="599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9063FAE-BE29-40F1-A4F8-0C7CDF37EFBB}">
      <dsp:nvSpPr>
        <dsp:cNvPr id="0" name=""/>
        <dsp:cNvSpPr/>
      </dsp:nvSpPr>
      <dsp:spPr>
        <a:xfrm>
          <a:off x="1258030" y="1951490"/>
          <a:ext cx="7733083" cy="1089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274" tIns="115274" rIns="115274" bIns="115274" numCol="1" spcCol="1270" anchor="ctr" anchorCtr="0">
          <a:noAutofit/>
        </a:bodyPr>
        <a:lstStyle/>
        <a:p>
          <a:pPr marL="0" lvl="0" indent="0" algn="l" defTabSz="889000">
            <a:lnSpc>
              <a:spcPct val="90000"/>
            </a:lnSpc>
            <a:spcBef>
              <a:spcPct val="0"/>
            </a:spcBef>
            <a:spcAft>
              <a:spcPct val="35000"/>
            </a:spcAft>
            <a:buNone/>
          </a:pPr>
          <a:r>
            <a:rPr lang="en-US" sz="2000" b="1" i="0" kern="1200"/>
            <a:t>Ethics is thus concerned with how one should act in a certain situation, about ‘doing the right thing’ and is ultimately about morality – the difference between right and wrong.</a:t>
          </a:r>
          <a:endParaRPr lang="en-US" sz="2000" kern="1200"/>
        </a:p>
      </dsp:txBody>
      <dsp:txXfrm>
        <a:off x="1258030" y="1951490"/>
        <a:ext cx="7733083" cy="10892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5A31A6-C66C-4C38-B3F4-DD1ED048B61C}">
      <dsp:nvSpPr>
        <dsp:cNvPr id="0" name=""/>
        <dsp:cNvSpPr/>
      </dsp:nvSpPr>
      <dsp:spPr>
        <a:xfrm>
          <a:off x="0" y="1401"/>
          <a:ext cx="5643563" cy="5973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717C72-8677-4EBE-9724-91D6DF5BE2AD}">
      <dsp:nvSpPr>
        <dsp:cNvPr id="0" name=""/>
        <dsp:cNvSpPr/>
      </dsp:nvSpPr>
      <dsp:spPr>
        <a:xfrm>
          <a:off x="180710" y="135814"/>
          <a:ext cx="328564" cy="3285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156F635-71D8-4E4E-8967-A2347F6ADCD8}">
      <dsp:nvSpPr>
        <dsp:cNvPr id="0" name=""/>
        <dsp:cNvSpPr/>
      </dsp:nvSpPr>
      <dsp:spPr>
        <a:xfrm>
          <a:off x="689984" y="1401"/>
          <a:ext cx="4953578" cy="597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224" tIns="63224" rIns="63224" bIns="63224" numCol="1" spcCol="1270" anchor="ctr" anchorCtr="0">
          <a:noAutofit/>
        </a:bodyPr>
        <a:lstStyle/>
        <a:p>
          <a:pPr marL="0" lvl="0" indent="0" algn="l" defTabSz="844550">
            <a:lnSpc>
              <a:spcPct val="90000"/>
            </a:lnSpc>
            <a:spcBef>
              <a:spcPct val="0"/>
            </a:spcBef>
            <a:spcAft>
              <a:spcPct val="35000"/>
            </a:spcAft>
            <a:buNone/>
          </a:pPr>
          <a:r>
            <a:rPr lang="en-US" sz="1900" kern="1200"/>
            <a:t>Law</a:t>
          </a:r>
        </a:p>
      </dsp:txBody>
      <dsp:txXfrm>
        <a:off x="689984" y="1401"/>
        <a:ext cx="4953578" cy="597389"/>
      </dsp:txXfrm>
    </dsp:sp>
    <dsp:sp modelId="{84252BEB-B3AE-435B-93FF-04FD3466B95C}">
      <dsp:nvSpPr>
        <dsp:cNvPr id="0" name=""/>
        <dsp:cNvSpPr/>
      </dsp:nvSpPr>
      <dsp:spPr>
        <a:xfrm>
          <a:off x="0" y="748138"/>
          <a:ext cx="5643563" cy="5973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F30BDD-BDD2-46F5-ADD1-23F268B08B57}">
      <dsp:nvSpPr>
        <dsp:cNvPr id="0" name=""/>
        <dsp:cNvSpPr/>
      </dsp:nvSpPr>
      <dsp:spPr>
        <a:xfrm>
          <a:off x="180710" y="882550"/>
          <a:ext cx="328564" cy="3285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DC425A9-E907-42E8-95FD-CBBED90819EA}">
      <dsp:nvSpPr>
        <dsp:cNvPr id="0" name=""/>
        <dsp:cNvSpPr/>
      </dsp:nvSpPr>
      <dsp:spPr>
        <a:xfrm>
          <a:off x="689984" y="748138"/>
          <a:ext cx="4953578" cy="597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224" tIns="63224" rIns="63224" bIns="63224" numCol="1" spcCol="1270" anchor="ctr" anchorCtr="0">
          <a:noAutofit/>
        </a:bodyPr>
        <a:lstStyle/>
        <a:p>
          <a:pPr marL="0" lvl="0" indent="0" algn="l" defTabSz="844550">
            <a:lnSpc>
              <a:spcPct val="90000"/>
            </a:lnSpc>
            <a:spcBef>
              <a:spcPct val="0"/>
            </a:spcBef>
            <a:spcAft>
              <a:spcPct val="35000"/>
            </a:spcAft>
            <a:buNone/>
          </a:pPr>
          <a:r>
            <a:rPr lang="en-US" sz="1900" kern="1200"/>
            <a:t>Government Regulations</a:t>
          </a:r>
        </a:p>
      </dsp:txBody>
      <dsp:txXfrm>
        <a:off x="689984" y="748138"/>
        <a:ext cx="4953578" cy="597389"/>
      </dsp:txXfrm>
    </dsp:sp>
    <dsp:sp modelId="{E5783C9F-19E7-413D-B035-D8429E9E7B2A}">
      <dsp:nvSpPr>
        <dsp:cNvPr id="0" name=""/>
        <dsp:cNvSpPr/>
      </dsp:nvSpPr>
      <dsp:spPr>
        <a:xfrm>
          <a:off x="0" y="1494874"/>
          <a:ext cx="5643563" cy="5973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61616E-A2C0-4529-9D6C-3CA2307A3BCA}">
      <dsp:nvSpPr>
        <dsp:cNvPr id="0" name=""/>
        <dsp:cNvSpPr/>
      </dsp:nvSpPr>
      <dsp:spPr>
        <a:xfrm>
          <a:off x="180710" y="1629287"/>
          <a:ext cx="328564" cy="32856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D209D51-B71B-4543-8B23-16FCD4E30F84}">
      <dsp:nvSpPr>
        <dsp:cNvPr id="0" name=""/>
        <dsp:cNvSpPr/>
      </dsp:nvSpPr>
      <dsp:spPr>
        <a:xfrm>
          <a:off x="689984" y="1494874"/>
          <a:ext cx="4953578" cy="597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224" tIns="63224" rIns="63224" bIns="63224" numCol="1" spcCol="1270" anchor="ctr" anchorCtr="0">
          <a:noAutofit/>
        </a:bodyPr>
        <a:lstStyle/>
        <a:p>
          <a:pPr marL="0" lvl="0" indent="0" algn="l" defTabSz="844550">
            <a:lnSpc>
              <a:spcPct val="90000"/>
            </a:lnSpc>
            <a:spcBef>
              <a:spcPct val="0"/>
            </a:spcBef>
            <a:spcAft>
              <a:spcPct val="35000"/>
            </a:spcAft>
            <a:buNone/>
          </a:pPr>
          <a:r>
            <a:rPr lang="en-US" sz="1900" kern="1200"/>
            <a:t>Ethical Codes</a:t>
          </a:r>
        </a:p>
      </dsp:txBody>
      <dsp:txXfrm>
        <a:off x="689984" y="1494874"/>
        <a:ext cx="4953578" cy="597389"/>
      </dsp:txXfrm>
    </dsp:sp>
    <dsp:sp modelId="{22A35F38-3A2D-4E7F-BC8E-5F56D165DDAE}">
      <dsp:nvSpPr>
        <dsp:cNvPr id="0" name=""/>
        <dsp:cNvSpPr/>
      </dsp:nvSpPr>
      <dsp:spPr>
        <a:xfrm>
          <a:off x="0" y="2241611"/>
          <a:ext cx="5643563" cy="5973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B473EC-85A0-414A-8022-FCF3702B0F9B}">
      <dsp:nvSpPr>
        <dsp:cNvPr id="0" name=""/>
        <dsp:cNvSpPr/>
      </dsp:nvSpPr>
      <dsp:spPr>
        <a:xfrm>
          <a:off x="180710" y="2376023"/>
          <a:ext cx="328564" cy="32856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CB66DCC-E6A1-44A9-9A5C-E0253173F1CC}">
      <dsp:nvSpPr>
        <dsp:cNvPr id="0" name=""/>
        <dsp:cNvSpPr/>
      </dsp:nvSpPr>
      <dsp:spPr>
        <a:xfrm>
          <a:off x="689984" y="2241611"/>
          <a:ext cx="4953578" cy="597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224" tIns="63224" rIns="63224" bIns="63224" numCol="1" spcCol="1270" anchor="ctr" anchorCtr="0">
          <a:noAutofit/>
        </a:bodyPr>
        <a:lstStyle/>
        <a:p>
          <a:pPr marL="0" lvl="0" indent="0" algn="l" defTabSz="844550">
            <a:lnSpc>
              <a:spcPct val="90000"/>
            </a:lnSpc>
            <a:spcBef>
              <a:spcPct val="0"/>
            </a:spcBef>
            <a:spcAft>
              <a:spcPct val="35000"/>
            </a:spcAft>
            <a:buNone/>
          </a:pPr>
          <a:r>
            <a:rPr lang="en-US" sz="1900" kern="1200"/>
            <a:t>Social Pressure</a:t>
          </a:r>
        </a:p>
      </dsp:txBody>
      <dsp:txXfrm>
        <a:off x="689984" y="2241611"/>
        <a:ext cx="4953578" cy="597389"/>
      </dsp:txXfrm>
    </dsp:sp>
    <dsp:sp modelId="{ABC15CF3-221E-4535-8DE8-1B3B248EE73A}">
      <dsp:nvSpPr>
        <dsp:cNvPr id="0" name=""/>
        <dsp:cNvSpPr/>
      </dsp:nvSpPr>
      <dsp:spPr>
        <a:xfrm>
          <a:off x="0" y="2988347"/>
          <a:ext cx="5643563" cy="5973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8E998B-F036-4AD6-8297-A17977D7266E}">
      <dsp:nvSpPr>
        <dsp:cNvPr id="0" name=""/>
        <dsp:cNvSpPr/>
      </dsp:nvSpPr>
      <dsp:spPr>
        <a:xfrm>
          <a:off x="180710" y="3122760"/>
          <a:ext cx="328564" cy="32856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8345C5F-7ADA-4B64-BA9C-D535A19FD73C}">
      <dsp:nvSpPr>
        <dsp:cNvPr id="0" name=""/>
        <dsp:cNvSpPr/>
      </dsp:nvSpPr>
      <dsp:spPr>
        <a:xfrm>
          <a:off x="689984" y="2988347"/>
          <a:ext cx="4953578" cy="597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224" tIns="63224" rIns="63224" bIns="63224" numCol="1" spcCol="1270" anchor="ctr" anchorCtr="0">
          <a:noAutofit/>
        </a:bodyPr>
        <a:lstStyle/>
        <a:p>
          <a:pPr marL="0" lvl="0" indent="0" algn="l" defTabSz="844550">
            <a:lnSpc>
              <a:spcPct val="90000"/>
            </a:lnSpc>
            <a:spcBef>
              <a:spcPct val="0"/>
            </a:spcBef>
            <a:spcAft>
              <a:spcPct val="35000"/>
            </a:spcAft>
            <a:buNone/>
          </a:pPr>
          <a:r>
            <a:rPr lang="en-US" sz="1900" kern="1200"/>
            <a:t>Corporate Culture</a:t>
          </a:r>
        </a:p>
      </dsp:txBody>
      <dsp:txXfrm>
        <a:off x="689984" y="2988347"/>
        <a:ext cx="4953578" cy="597389"/>
      </dsp:txXfrm>
    </dsp:sp>
    <dsp:sp modelId="{1C0E0549-9EF6-4794-AEC5-2320D6976EFB}">
      <dsp:nvSpPr>
        <dsp:cNvPr id="0" name=""/>
        <dsp:cNvSpPr/>
      </dsp:nvSpPr>
      <dsp:spPr>
        <a:xfrm>
          <a:off x="0" y="3735083"/>
          <a:ext cx="5643563" cy="5973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7F61ED-2686-455B-BBA3-F8011DE1EE0B}">
      <dsp:nvSpPr>
        <dsp:cNvPr id="0" name=""/>
        <dsp:cNvSpPr/>
      </dsp:nvSpPr>
      <dsp:spPr>
        <a:xfrm>
          <a:off x="180710" y="3869496"/>
          <a:ext cx="328564" cy="32856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979B7BF-2023-4BF6-9655-399EBD192D14}">
      <dsp:nvSpPr>
        <dsp:cNvPr id="0" name=""/>
        <dsp:cNvSpPr/>
      </dsp:nvSpPr>
      <dsp:spPr>
        <a:xfrm>
          <a:off x="689984" y="3735083"/>
          <a:ext cx="4953578" cy="597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224" tIns="63224" rIns="63224" bIns="63224" numCol="1" spcCol="1270" anchor="ctr" anchorCtr="0">
          <a:noAutofit/>
        </a:bodyPr>
        <a:lstStyle/>
        <a:p>
          <a:pPr marL="0" lvl="0" indent="0" algn="l" defTabSz="844550">
            <a:lnSpc>
              <a:spcPct val="90000"/>
            </a:lnSpc>
            <a:spcBef>
              <a:spcPct val="0"/>
            </a:spcBef>
            <a:spcAft>
              <a:spcPct val="35000"/>
            </a:spcAft>
            <a:buNone/>
          </a:pPr>
          <a:r>
            <a:rPr lang="en-US" sz="1900" kern="1200"/>
            <a:t>Personal Policies and Values</a:t>
          </a:r>
        </a:p>
      </dsp:txBody>
      <dsp:txXfrm>
        <a:off x="689984" y="3735083"/>
        <a:ext cx="4953578" cy="5973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E64BC0-8AF9-4623-9B3F-8F94EE8F5312}">
      <dsp:nvSpPr>
        <dsp:cNvPr id="0" name=""/>
        <dsp:cNvSpPr/>
      </dsp:nvSpPr>
      <dsp:spPr>
        <a:xfrm>
          <a:off x="0" y="2949"/>
          <a:ext cx="10848657" cy="209569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BF2B85-7E4A-4C80-8702-2C7357367F21}">
      <dsp:nvSpPr>
        <dsp:cNvPr id="0" name=""/>
        <dsp:cNvSpPr/>
      </dsp:nvSpPr>
      <dsp:spPr>
        <a:xfrm>
          <a:off x="633946" y="474479"/>
          <a:ext cx="1153757" cy="11526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37E92E-8AE8-40DE-8871-7AF9B3B2B575}">
      <dsp:nvSpPr>
        <dsp:cNvPr id="0" name=""/>
        <dsp:cNvSpPr/>
      </dsp:nvSpPr>
      <dsp:spPr>
        <a:xfrm>
          <a:off x="2421651" y="2949"/>
          <a:ext cx="8256940" cy="2097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2011" tIns="222011" rIns="222011" bIns="222011" numCol="1" spcCol="1270" anchor="ctr" anchorCtr="0">
          <a:noAutofit/>
        </a:bodyPr>
        <a:lstStyle/>
        <a:p>
          <a:pPr marL="0" lvl="0" indent="0" algn="l" defTabSz="1066800">
            <a:lnSpc>
              <a:spcPct val="100000"/>
            </a:lnSpc>
            <a:spcBef>
              <a:spcPct val="0"/>
            </a:spcBef>
            <a:spcAft>
              <a:spcPct val="35000"/>
            </a:spcAft>
            <a:buNone/>
          </a:pPr>
          <a:r>
            <a:rPr lang="en-US" sz="2400" b="1" kern="1200" dirty="0"/>
            <a:t>The Law</a:t>
          </a:r>
          <a:r>
            <a:rPr lang="en-US" sz="2400" kern="1200" dirty="0"/>
            <a:t>: Ethics goes beyond legal compliance, setting a higher standard for behavior that benefits society. While the law establishes minimum acceptable standards, ethics helps guide actions that are morally right, even if legal loopholes exist.</a:t>
          </a:r>
        </a:p>
      </dsp:txBody>
      <dsp:txXfrm>
        <a:off x="2421651" y="2949"/>
        <a:ext cx="8256940" cy="2097741"/>
      </dsp:txXfrm>
    </dsp:sp>
    <dsp:sp modelId="{45D3F599-FAA2-43DB-9BBD-7BE9C1F2090F}">
      <dsp:nvSpPr>
        <dsp:cNvPr id="0" name=""/>
        <dsp:cNvSpPr/>
      </dsp:nvSpPr>
      <dsp:spPr>
        <a:xfrm>
          <a:off x="0" y="2395109"/>
          <a:ext cx="10848657" cy="209569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4E8A7C-E4FD-48A2-9200-A5D523FC4F64}">
      <dsp:nvSpPr>
        <dsp:cNvPr id="0" name=""/>
        <dsp:cNvSpPr/>
      </dsp:nvSpPr>
      <dsp:spPr>
        <a:xfrm>
          <a:off x="633946" y="2866640"/>
          <a:ext cx="1153757" cy="11526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65D02B-65E4-499B-A3A5-84E2834033BB}">
      <dsp:nvSpPr>
        <dsp:cNvPr id="0" name=""/>
        <dsp:cNvSpPr/>
      </dsp:nvSpPr>
      <dsp:spPr>
        <a:xfrm>
          <a:off x="2421651" y="2395109"/>
          <a:ext cx="8256940" cy="2097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2011" tIns="222011" rIns="222011" bIns="222011" numCol="1" spcCol="1270" anchor="ctr" anchorCtr="0">
          <a:noAutofit/>
        </a:bodyPr>
        <a:lstStyle/>
        <a:p>
          <a:pPr marL="0" lvl="0" indent="0" algn="l" defTabSz="1066800">
            <a:lnSpc>
              <a:spcPct val="100000"/>
            </a:lnSpc>
            <a:spcBef>
              <a:spcPct val="0"/>
            </a:spcBef>
            <a:spcAft>
              <a:spcPct val="35000"/>
            </a:spcAft>
            <a:buNone/>
          </a:pPr>
          <a:r>
            <a:rPr lang="en-US" sz="2400" b="1" kern="1200" dirty="0"/>
            <a:t>Government Regulations</a:t>
          </a:r>
          <a:r>
            <a:rPr lang="en-US" sz="2400" kern="1200" dirty="0"/>
            <a:t>: Ethical behavior often involves more than following regulations. Ethics encompasses doing what is right even when it’s not enforced by law, as demonstrated by the example of the food manufacturer continuing to sell banned products overseas.</a:t>
          </a:r>
        </a:p>
      </dsp:txBody>
      <dsp:txXfrm>
        <a:off x="2421651" y="2395109"/>
        <a:ext cx="8256940" cy="209774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23674D-5E9C-48E1-BF01-CE384C116386}">
      <dsp:nvSpPr>
        <dsp:cNvPr id="0" name=""/>
        <dsp:cNvSpPr/>
      </dsp:nvSpPr>
      <dsp:spPr>
        <a:xfrm>
          <a:off x="0" y="89263"/>
          <a:ext cx="7810500" cy="17316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t>Ethical Codes</a:t>
          </a:r>
          <a:r>
            <a:rPr lang="en-US" sz="2000" kern="1200"/>
            <a:t>: Ethical codes define the behavior expected from employees and guide decision-making. They help clarify ethical standards but also rely on individual conscience and enforcement within organizations, contributing to maintaining ethical practices.</a:t>
          </a:r>
        </a:p>
      </dsp:txBody>
      <dsp:txXfrm>
        <a:off x="84530" y="173793"/>
        <a:ext cx="7641440" cy="1562540"/>
      </dsp:txXfrm>
    </dsp:sp>
    <dsp:sp modelId="{3EFE91D5-092A-4EFF-88D4-673C805A3790}">
      <dsp:nvSpPr>
        <dsp:cNvPr id="0" name=""/>
        <dsp:cNvSpPr/>
      </dsp:nvSpPr>
      <dsp:spPr>
        <a:xfrm>
          <a:off x="0" y="1878464"/>
          <a:ext cx="7810500" cy="17316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t>Social Pressure</a:t>
          </a:r>
          <a:r>
            <a:rPr lang="en-US" sz="2000" kern="1200"/>
            <a:t>: Social norms and values play a significant role in shaping ethical behavior. As societal views evolve, ethical standards and behaviors can shift, which shows the dynamic scope of ethics, influenced by collective values and advocacy groups.</a:t>
          </a:r>
        </a:p>
      </dsp:txBody>
      <dsp:txXfrm>
        <a:off x="84530" y="1962994"/>
        <a:ext cx="7641440" cy="15625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5CC46-9DAB-40F2-93D4-E55740775FB0}">
      <dsp:nvSpPr>
        <dsp:cNvPr id="0" name=""/>
        <dsp:cNvSpPr/>
      </dsp:nvSpPr>
      <dsp:spPr>
        <a:xfrm>
          <a:off x="0" y="0"/>
          <a:ext cx="9067800" cy="255272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Corporate Culture</a:t>
          </a:r>
          <a:r>
            <a:rPr lang="en-US" sz="2200" kern="1200"/>
            <a:t>: The ethical environment of an organization, shaped by its culture and leadership (especially senior management), directly impacts the behavior of employees. Corporate culture sets the tone for what is considered ethical within the organization.</a:t>
          </a:r>
        </a:p>
      </dsp:txBody>
      <dsp:txXfrm>
        <a:off x="74767" y="74767"/>
        <a:ext cx="6429357" cy="2403192"/>
      </dsp:txXfrm>
    </dsp:sp>
    <dsp:sp modelId="{E85909B8-29F4-4BC5-8A38-7135D6F896F4}">
      <dsp:nvSpPr>
        <dsp:cNvPr id="0" name=""/>
        <dsp:cNvSpPr/>
      </dsp:nvSpPr>
      <dsp:spPr>
        <a:xfrm>
          <a:off x="1600199" y="3119999"/>
          <a:ext cx="9067800" cy="255272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Personal Policies and Values</a:t>
          </a:r>
          <a:r>
            <a:rPr lang="en-US" sz="2200" kern="1200"/>
            <a:t>: An individual’s personal beliefs, values, and characteristics influence their ethical decisions and behavior, reflecting the scope of ethics as it interacts with personal morality.</a:t>
          </a:r>
        </a:p>
      </dsp:txBody>
      <dsp:txXfrm>
        <a:off x="1674966" y="3194766"/>
        <a:ext cx="5658793" cy="2403192"/>
      </dsp:txXfrm>
    </dsp:sp>
    <dsp:sp modelId="{B3EBC68D-07FD-482A-896D-F3401FA3B91A}">
      <dsp:nvSpPr>
        <dsp:cNvPr id="0" name=""/>
        <dsp:cNvSpPr/>
      </dsp:nvSpPr>
      <dsp:spPr>
        <a:xfrm>
          <a:off x="7408527" y="2006726"/>
          <a:ext cx="1659272" cy="1659272"/>
        </a:xfrm>
        <a:prstGeom prst="downArrow">
          <a:avLst>
            <a:gd name="adj1" fmla="val 55000"/>
            <a:gd name="adj2" fmla="val 45000"/>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781863" y="2006726"/>
        <a:ext cx="912600" cy="124860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xmlns=""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pPr/>
              <a:t>1/31/2025</a:t>
            </a:fld>
            <a:endParaRPr lang="en-US" dirty="0"/>
          </a:p>
        </p:txBody>
      </p:sp>
      <p:sp>
        <p:nvSpPr>
          <p:cNvPr id="6" name="Slide Number Placeholder 5">
            <a:extLst>
              <a:ext uri="{FF2B5EF4-FFF2-40B4-BE49-F238E27FC236}">
                <a16:creationId xmlns:a16="http://schemas.microsoft.com/office/drawing/2014/main" xmlns=""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pPr/>
              <a:t>‹#›</a:t>
            </a:fld>
            <a:endParaRPr lang="en-US" dirty="0"/>
          </a:p>
        </p:txBody>
      </p:sp>
      <p:sp>
        <p:nvSpPr>
          <p:cNvPr id="7" name="Footer Placeholder 6">
            <a:extLst>
              <a:ext uri="{FF2B5EF4-FFF2-40B4-BE49-F238E27FC236}">
                <a16:creationId xmlns:a16="http://schemas.microsoft.com/office/drawing/2014/main" xmlns=""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xmlns=""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xmlns=""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pPr/>
              <a:t>1/31/2025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pPr/>
              <a:t>‹#›</a:t>
            </a:fld>
            <a:endParaRPr lang="en-US" dirty="0"/>
          </a:p>
        </p:txBody>
      </p:sp>
    </p:spTree>
    <p:extLst>
      <p:ext uri="{BB962C8B-B14F-4D97-AF65-F5344CB8AC3E}">
        <p14:creationId xmlns:p14="http://schemas.microsoft.com/office/powerpoint/2010/main" xmlns=""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pPr/>
              <a:t>1</a:t>
            </a:fld>
            <a:endParaRPr lang="en-US" dirty="0"/>
          </a:p>
        </p:txBody>
      </p:sp>
    </p:spTree>
    <p:extLst>
      <p:ext uri="{BB962C8B-B14F-4D97-AF65-F5344CB8AC3E}">
        <p14:creationId xmlns:p14="http://schemas.microsoft.com/office/powerpoint/2010/main" xmlns=""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pPr/>
              <a:t>2</a:t>
            </a:fld>
            <a:endParaRPr lang="en-US" dirty="0"/>
          </a:p>
        </p:txBody>
      </p:sp>
    </p:spTree>
    <p:extLst>
      <p:ext uri="{BB962C8B-B14F-4D97-AF65-F5344CB8AC3E}">
        <p14:creationId xmlns:p14="http://schemas.microsoft.com/office/powerpoint/2010/main" xmlns=""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pPr/>
              <a:t>3</a:t>
            </a:fld>
            <a:endParaRPr lang="en-US" dirty="0"/>
          </a:p>
        </p:txBody>
      </p:sp>
    </p:spTree>
    <p:extLst>
      <p:ext uri="{BB962C8B-B14F-4D97-AF65-F5344CB8AC3E}">
        <p14:creationId xmlns:p14="http://schemas.microsoft.com/office/powerpoint/2010/main" xmlns="" val="2730433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pPr/>
              <a:t>4</a:t>
            </a:fld>
            <a:endParaRPr lang="en-US" dirty="0"/>
          </a:p>
        </p:txBody>
      </p:sp>
    </p:spTree>
    <p:extLst>
      <p:ext uri="{BB962C8B-B14F-4D97-AF65-F5344CB8AC3E}">
        <p14:creationId xmlns:p14="http://schemas.microsoft.com/office/powerpoint/2010/main" xmlns="" val="3576248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pPr/>
              <a:t>5</a:t>
            </a:fld>
            <a:endParaRPr lang="en-US" dirty="0"/>
          </a:p>
        </p:txBody>
      </p:sp>
    </p:spTree>
    <p:extLst>
      <p:ext uri="{BB962C8B-B14F-4D97-AF65-F5344CB8AC3E}">
        <p14:creationId xmlns:p14="http://schemas.microsoft.com/office/powerpoint/2010/main" xmlns="" val="3908276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4BBC04D-2568-C19F-6211-ABA7996CB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BBBD96A4-D432-FA69-5E46-4DF91D77C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EF639921-CFBB-DE6F-31EB-81B758CA02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4453E3F8-8185-F97B-2F08-1F44FCE2A5AB}"/>
              </a:ext>
            </a:extLst>
          </p:cNvPr>
          <p:cNvSpPr>
            <a:spLocks noGrp="1"/>
          </p:cNvSpPr>
          <p:nvPr>
            <p:ph type="sldNum" sz="quarter" idx="5"/>
          </p:nvPr>
        </p:nvSpPr>
        <p:spPr/>
        <p:txBody>
          <a:bodyPr/>
          <a:lstStyle/>
          <a:p>
            <a:fld id="{A89C7E07-3C67-C64C-8DA0-0404F6303970}" type="slidenum">
              <a:rPr lang="en-US" smtClean="0"/>
              <a:pPr/>
              <a:t>11</a:t>
            </a:fld>
            <a:endParaRPr lang="en-US" dirty="0"/>
          </a:p>
        </p:txBody>
      </p:sp>
    </p:spTree>
    <p:extLst>
      <p:ext uri="{BB962C8B-B14F-4D97-AF65-F5344CB8AC3E}">
        <p14:creationId xmlns:p14="http://schemas.microsoft.com/office/powerpoint/2010/main" xmlns="" val="3727777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latin typeface="+mn-lt"/>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148115517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latin typeface="+mn-lt"/>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xmlns="" val="316663813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latin typeface="+mn-lt"/>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xmlns="" val="241055070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latin typeface="+mn-lt"/>
            </a:endParaRP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xmlns="" val="65818241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latin typeface="+mn-lt"/>
            </a:endParaRPr>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xmlns="" val="10647041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latin typeface="+mn-lt"/>
            </a:endParaRPr>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xmlns="" val="287466407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latin typeface="+mn-lt"/>
            </a:endParaRPr>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xmlns="" val="311423986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latin typeface="+mn-lt"/>
            </a:endParaRP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xmlns="" val="238666156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latin typeface="+mn-lt"/>
            </a:endParaRP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xmlns="" val="54958257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endParaRPr lang="en-US" dirty="0">
              <a:latin typeface="+mn-lt"/>
            </a:endParaRPr>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xmlns="" val="137688822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latin typeface="+mn-lt"/>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xmlns="" val="217790063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latin typeface="+mn-lt"/>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xmlns="" val="260183437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latin typeface="+mn-lt"/>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xmlns="" val="20379018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latin typeface="+mn-lt"/>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xmlns="" val="40012146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latin typeface="+mn-lt"/>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xmlns="" val="72303863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latin typeface="+mn-lt"/>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xmlns="" val="187750035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latin typeface="+mn-lt"/>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xmlns="" val="2806935365"/>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xmlns="" id="{C26C18C3-ED25-DD4B-BA72-24932D54DE37}"/>
              </a:ext>
              <a:ext uri="{C183D7F6-B498-43B3-948B-1728B52AA6E4}">
                <adec:decorative xmlns:adec="http://schemas.microsoft.com/office/drawing/2017/decorative" xmlns=""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xmlns=""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xmlns=""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xmlns=""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xmlns=""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xmlns=""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xmlns="" id="{A69706A2-3726-FE4E-B923-E75D48597816}"/>
              </a:ext>
              <a:ext uri="{C183D7F6-B498-43B3-948B-1728B52AA6E4}">
                <adec:decorative xmlns:adec="http://schemas.microsoft.com/office/drawing/2017/decorative" xmlns=""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xmlns="" val="16718031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xmlns="" id="{806C6F65-35CD-D64B-992A-0C1C1E00384D}"/>
              </a:ext>
              <a:ext uri="{C183D7F6-B498-43B3-948B-1728B52AA6E4}">
                <adec:decorative xmlns:adec="http://schemas.microsoft.com/office/drawing/2017/decorative" xmlns=""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xmlns=""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xmlns=""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xmlns=""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xmlns=""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xmlns=""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xmlns=""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xmlns=""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xmlns=""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xmlns=""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xmlns=""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xmlns=""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xmlns="" id="{979826C1-7A52-DA25-F422-EE62DED7D1B6}"/>
              </a:ext>
              <a:ext uri="{C183D7F6-B498-43B3-948B-1728B52AA6E4}">
                <adec:decorative xmlns:adec="http://schemas.microsoft.com/office/drawing/2017/decorative" xmlns=""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xmlns="" val="13325675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xmlns=""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xmlns=""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xmlns="" id="{D96BA398-1ED2-1FCA-63B9-8915A8C7A524}"/>
              </a:ext>
              <a:ext uri="{C183D7F6-B498-43B3-948B-1728B52AA6E4}">
                <adec:decorative xmlns:adec="http://schemas.microsoft.com/office/drawing/2017/decorative" xmlns=""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xmlns="" val="488903757"/>
      </p:ext>
    </p:extLst>
  </p:cSld>
  <p:clrMapOvr>
    <a:masterClrMapping/>
  </p:clrMapOvr>
  <p:extLst>
    <p:ext uri="{DCECCB84-F9BA-43D5-87BE-67443E8EF086}">
      <p15:sldGuideLst xmlns:p15="http://schemas.microsoft.com/office/powerpoint/2012/main" xmlns="">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xmlns=""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xmlns=""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xmlns="" id="{29169ED6-4B82-6844-119F-AC15CDF2D3E5}"/>
              </a:ext>
              <a:ext uri="{C183D7F6-B498-43B3-948B-1728B52AA6E4}">
                <adec:decorative xmlns:adec="http://schemas.microsoft.com/office/drawing/2017/decorative" xmlns=""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xmlns="" val="7368652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xmlns="" id="{C57F1500-1A16-D1EF-4F0C-030852B291FC}"/>
              </a:ext>
              <a:ext uri="{C183D7F6-B498-43B3-948B-1728B52AA6E4}">
                <adec:decorative xmlns:adec="http://schemas.microsoft.com/office/drawing/2017/decorative" xmlns=""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xmlns="" id="{2D07A0BE-3890-193E-9439-F294E61A71B9}"/>
              </a:ext>
              <a:ext uri="{C183D7F6-B498-43B3-948B-1728B52AA6E4}">
                <adec:decorative xmlns:adec="http://schemas.microsoft.com/office/drawing/2017/decorative" xmlns=""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xmlns=""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xmlns=""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xmlns=""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xmlns=""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xmlns=""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xmlns=""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xmlns=""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xmlns=""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xmlns=""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xmlns="" val="7834336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xmlns="">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xmlns="" id="{C26C18C3-ED25-DD4B-BA72-24932D54DE37}"/>
              </a:ext>
              <a:ext uri="{C183D7F6-B498-43B3-948B-1728B52AA6E4}">
                <adec:decorative xmlns:adec="http://schemas.microsoft.com/office/drawing/2017/decorative" xmlns=""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xmlns=""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xmlns=""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xmlns=""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xmlns=""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xmlns=""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xmlns="" id="{A69706A2-3726-FE4E-B923-E75D48597816}"/>
              </a:ext>
              <a:ext uri="{C183D7F6-B498-43B3-948B-1728B52AA6E4}">
                <adec:decorative xmlns:adec="http://schemas.microsoft.com/office/drawing/2017/decorative" xmlns=""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xmlns=""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xmlns="" val="2226273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endParaRPr lang="en-US" dirty="0">
              <a:latin typeface="+mn-lt"/>
            </a:endParaRPr>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xmlns="" val="3098726105"/>
      </p:ext>
    </p:extLst>
  </p:cSld>
  <p:clrMap bg1="dk1" tx1="lt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 id="2147483730" r:id="rId18"/>
    <p:sldLayoutId id="2147483731" r:id="rId19"/>
    <p:sldLayoutId id="2147483732" r:id="rId20"/>
    <p:sldLayoutId id="2147483733" r:id="rId21"/>
    <p:sldLayoutId id="2147483734" r:id="rId22"/>
    <p:sldLayoutId id="2147483735" r:id="rId23"/>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pos="600" userDrawn="1">
          <p15:clr>
            <a:srgbClr val="547EBF"/>
          </p15:clr>
        </p15:guide>
        <p15:guide id="2"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B1D9D6-2977-ABCD-FDF8-51AFA5064E54}"/>
              </a:ext>
            </a:extLst>
          </p:cNvPr>
          <p:cNvSpPr>
            <a:spLocks noGrp="1"/>
          </p:cNvSpPr>
          <p:nvPr>
            <p:ph type="ctrTitle"/>
          </p:nvPr>
        </p:nvSpPr>
        <p:spPr>
          <a:xfrm>
            <a:off x="3474720" y="411479"/>
            <a:ext cx="8321584" cy="3291840"/>
          </a:xfrm>
        </p:spPr>
        <p:txBody>
          <a:bodyPr/>
          <a:lstStyle/>
          <a:p>
            <a:r>
              <a:rPr lang="en-US" dirty="0"/>
              <a:t>INTRODUCTION TO BUSINESS ETHICS AND ETHICAL CONFLICT </a:t>
            </a:r>
          </a:p>
        </p:txBody>
      </p:sp>
      <p:sp>
        <p:nvSpPr>
          <p:cNvPr id="3" name="TextBox 2">
            <a:extLst>
              <a:ext uri="{FF2B5EF4-FFF2-40B4-BE49-F238E27FC236}">
                <a16:creationId xmlns:a16="http://schemas.microsoft.com/office/drawing/2014/main" xmlns="" id="{C10B849A-608D-5F89-07D9-5AB9CDE9B6CC}"/>
              </a:ext>
            </a:extLst>
          </p:cNvPr>
          <p:cNvSpPr txBox="1"/>
          <p:nvPr/>
        </p:nvSpPr>
        <p:spPr>
          <a:xfrm>
            <a:off x="4960620" y="4434840"/>
            <a:ext cx="6766560" cy="369332"/>
          </a:xfrm>
          <a:prstGeom prst="rect">
            <a:avLst/>
          </a:prstGeom>
          <a:noFill/>
        </p:spPr>
        <p:txBody>
          <a:bodyPr wrap="square" rtlCol="0">
            <a:spAutoFit/>
          </a:bodyPr>
          <a:lstStyle/>
          <a:p>
            <a:r>
              <a:rPr lang="en-US" b="1" dirty="0">
                <a:solidFill>
                  <a:srgbClr val="FF0000"/>
                </a:solidFill>
              </a:rPr>
              <a:t>Ms. Ifra Fathima I Assistant Professor (Sr. Grade)</a:t>
            </a:r>
          </a:p>
        </p:txBody>
      </p:sp>
    </p:spTree>
    <p:extLst>
      <p:ext uri="{BB962C8B-B14F-4D97-AF65-F5344CB8AC3E}">
        <p14:creationId xmlns:p14="http://schemas.microsoft.com/office/powerpoint/2010/main" xmlns=""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xmlns="" id="{B455B88A-C127-47B3-B317-724BD4EAAD0E}"/>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xmlns="" id="{3F07A923-368D-45E6-AACC-9ECE4057AAC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xmlns="" id="{3FE16B44-FE3C-4330-AF20-E869FC7B78A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xmlns="" id="{81CB6733-6A12-4A1C-87C3-B676FB381DB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xmlns="" id="{A754CCFD-DC5E-453F-B95A-F045ED9B290B}"/>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xmlns="" id="{AE826A39-89EA-44EA-ABC5-F4469349217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9" name="Rectangle 28">
            <a:extLst>
              <a:ext uri="{FF2B5EF4-FFF2-40B4-BE49-F238E27FC236}">
                <a16:creationId xmlns:a16="http://schemas.microsoft.com/office/drawing/2014/main" xmlns="" id="{E6419F60-9469-4D44-868E-3CA3817DBA1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B530BF65-C84B-45C3-72CA-AFDA68851174}"/>
              </a:ext>
            </a:extLst>
          </p:cNvPr>
          <p:cNvSpPr>
            <a:spLocks noGrp="1"/>
          </p:cNvSpPr>
          <p:nvPr>
            <p:ph type="title"/>
          </p:nvPr>
        </p:nvSpPr>
        <p:spPr>
          <a:xfrm>
            <a:off x="684212" y="4487332"/>
            <a:ext cx="8534400" cy="1507067"/>
          </a:xfrm>
        </p:spPr>
        <p:txBody>
          <a:bodyPr vert="horz" lIns="91440" tIns="45720" rIns="91440" bIns="45720" rtlCol="0" anchor="ctr">
            <a:normAutofit/>
          </a:bodyPr>
          <a:lstStyle/>
          <a:p>
            <a:r>
              <a:rPr lang="en-US" sz="3600" kern="1200" cap="all">
                <a:ln w="3175" cmpd="sng">
                  <a:noFill/>
                </a:ln>
                <a:solidFill>
                  <a:srgbClr val="FFFFFF"/>
                </a:solidFill>
                <a:effectLst/>
                <a:latin typeface="+mj-lt"/>
                <a:ea typeface="+mj-ea"/>
                <a:cs typeface="+mj-cs"/>
              </a:rPr>
              <a:t>objectives</a:t>
            </a:r>
          </a:p>
        </p:txBody>
      </p:sp>
      <p:sp useBgFill="1">
        <p:nvSpPr>
          <p:cNvPr id="30" name="Snip Diagonal Corner Rectangle 21">
            <a:extLst>
              <a:ext uri="{FF2B5EF4-FFF2-40B4-BE49-F238E27FC236}">
                <a16:creationId xmlns:a16="http://schemas.microsoft.com/office/drawing/2014/main" xmlns="" id="{A3CF6F3D-089E-4C46-A15D-27A0B525A28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34000" y="620722"/>
            <a:ext cx="10281652" cy="3612950"/>
          </a:xfrm>
          <a:prstGeom prst="snip2DiagRect">
            <a:avLst>
              <a:gd name="adj1" fmla="val 8741"/>
              <a:gd name="adj2" fmla="val 0"/>
            </a:avLst>
          </a:prstGeom>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xmlns="" id="{D5DE9D45-335A-43DE-A422-9B6120B513E5}"/>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22" name="Straight Connector 21">
              <a:extLst>
                <a:ext uri="{FF2B5EF4-FFF2-40B4-BE49-F238E27FC236}">
                  <a16:creationId xmlns:a16="http://schemas.microsoft.com/office/drawing/2014/main" xmlns="" id="{45DCC818-F319-42A9-B67E-2B9FF55E646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xmlns="" id="{4DDAF678-0C93-46A0-8E9F-F26AB84CA28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xmlns="" id="{F8A60AE9-0541-4D1E-AD06-FEC218C8C90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xmlns="" id="{149FB520-BCD8-4D13-8DB5-23741BFB9DB0}"/>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xmlns="" id="{BFEB6369-138D-4B28-856E-2115F72DF83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graphicFrame>
        <p:nvGraphicFramePr>
          <p:cNvPr id="5" name="Text Placeholder 2">
            <a:extLst>
              <a:ext uri="{FF2B5EF4-FFF2-40B4-BE49-F238E27FC236}">
                <a16:creationId xmlns:a16="http://schemas.microsoft.com/office/drawing/2014/main" xmlns="" id="{8EB96F17-B659-C2A7-3A4F-769010CB8D4E}"/>
              </a:ext>
            </a:extLst>
          </p:cNvPr>
          <p:cNvGraphicFramePr>
            <a:graphicFrameLocks noGrp="1"/>
          </p:cNvGraphicFramePr>
          <p:nvPr>
            <p:ph sz="quarter" idx="13"/>
            <p:extLst>
              <p:ext uri="{D42A27DB-BD31-4B8C-83A1-F6EECF244321}">
                <p14:modId xmlns:p14="http://schemas.microsoft.com/office/powerpoint/2010/main" xmlns="" val="192924064"/>
              </p:ext>
            </p:extLst>
          </p:nvPr>
        </p:nvGraphicFramePr>
        <p:xfrm>
          <a:off x="1274294" y="1006997"/>
          <a:ext cx="8994718" cy="28691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xmlns="" val="3346685798"/>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xmlns="" id="{8FD48FB1-66D8-4676-B0AA-C139A1DB78D1}"/>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xmlns="" id="{F033F5AE-6728-4F19-8DED-658E674B31B9}"/>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xmlns="" id="{82C7D74A-18BA-4709-A808-44E8815C4430}"/>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xmlns="" id="{B5164A3F-1561-4039-8185-AB0EEB713EA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xmlns="" id="{2A35DB53-42BE-460E-9CA1-1294C98463CB}"/>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xmlns="" id="{8777B48D-7BF2-470D-876B-50CD5CC83E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xmlns="" id="{9C37279A-330D-886F-340D-494A5005E5FC}"/>
              </a:ext>
            </a:extLst>
          </p:cNvPr>
          <p:cNvSpPr>
            <a:spLocks noGrp="1"/>
          </p:cNvSpPr>
          <p:nvPr>
            <p:ph type="title"/>
          </p:nvPr>
        </p:nvSpPr>
        <p:spPr>
          <a:xfrm>
            <a:off x="1205717" y="2309707"/>
            <a:ext cx="3739197" cy="1508760"/>
          </a:xfrm>
        </p:spPr>
        <p:txBody>
          <a:bodyPr vert="horz" lIns="91440" tIns="45720" rIns="91440" bIns="45720" rtlCol="0" anchor="b">
            <a:normAutofit fontScale="90000"/>
          </a:bodyPr>
          <a:lstStyle/>
          <a:p>
            <a:r>
              <a:rPr lang="en-US" sz="9600">
                <a:solidFill>
                  <a:srgbClr val="FF0000"/>
                </a:solidFill>
              </a:rPr>
              <a:t>Ethics</a:t>
            </a:r>
          </a:p>
        </p:txBody>
      </p:sp>
      <p:pic>
        <p:nvPicPr>
          <p:cNvPr id="2" name="Picture 1">
            <a:extLst>
              <a:ext uri="{FF2B5EF4-FFF2-40B4-BE49-F238E27FC236}">
                <a16:creationId xmlns:a16="http://schemas.microsoft.com/office/drawing/2014/main" xmlns="" id="{46505C1B-29F2-E31B-3E06-25476AD546B7}"/>
              </a:ext>
            </a:extLst>
          </p:cNvPr>
          <p:cNvPicPr>
            <a:picLocks noChangeAspect="1"/>
          </p:cNvPicPr>
          <p:nvPr/>
        </p:nvPicPr>
        <p:blipFill>
          <a:blip r:embed="rId3"/>
          <a:srcRect l="17570" r="32430"/>
          <a:stretch/>
        </p:blipFill>
        <p:spPr>
          <a:xfrm>
            <a:off x="6096000" y="10"/>
            <a:ext cx="6095999" cy="6857990"/>
          </a:xfrm>
          <a:prstGeom prst="rect">
            <a:avLst/>
          </a:prstGeom>
          <a:effectLst>
            <a:innerShdw blurRad="57150" dist="38100" dir="14460000">
              <a:prstClr val="black">
                <a:alpha val="70000"/>
              </a:prstClr>
            </a:innerShdw>
          </a:effectLst>
        </p:spPr>
      </p:pic>
      <p:grpSp>
        <p:nvGrpSpPr>
          <p:cNvPr id="20" name="Group 19">
            <a:extLst>
              <a:ext uri="{FF2B5EF4-FFF2-40B4-BE49-F238E27FC236}">
                <a16:creationId xmlns:a16="http://schemas.microsoft.com/office/drawing/2014/main" xmlns="" id="{83DA8283-3FF4-47B3-9266-60768C743207}"/>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6393200" y="8468"/>
            <a:ext cx="5795625" cy="5874808"/>
            <a:chOff x="6108170" y="8467"/>
            <a:chExt cx="6080656" cy="6163733"/>
          </a:xfrm>
        </p:grpSpPr>
        <p:cxnSp>
          <p:nvCxnSpPr>
            <p:cNvPr id="21" name="Straight Connector 20">
              <a:extLst>
                <a:ext uri="{FF2B5EF4-FFF2-40B4-BE49-F238E27FC236}">
                  <a16:creationId xmlns:a16="http://schemas.microsoft.com/office/drawing/2014/main" xmlns="" id="{EDEB65FF-EAD9-4242-80AE-A3FC7EB1EB10}"/>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8228012" y="8467"/>
              <a:ext cx="3810000" cy="3810000"/>
            </a:xfrm>
            <a:prstGeom prst="line">
              <a:avLst/>
            </a:prstGeom>
            <a:ln w="12700">
              <a:solidFill>
                <a:srgbClr val="FFFFFF">
                  <a:alpha val="81176"/>
                </a:srgb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xmlns="" id="{178B5500-48F2-41FA-BD8C-3C2400F620E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6108170" y="91545"/>
              <a:ext cx="6080655" cy="6080655"/>
            </a:xfrm>
            <a:prstGeom prst="line">
              <a:avLst/>
            </a:prstGeom>
            <a:ln w="12700">
              <a:solidFill>
                <a:srgbClr val="FFFFFF">
                  <a:alpha val="81176"/>
                </a:srgb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xmlns="" id="{847B2E66-9934-4251-A5B0-A180C0CC933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7235825" y="228600"/>
              <a:ext cx="4953000" cy="4953000"/>
            </a:xfrm>
            <a:prstGeom prst="line">
              <a:avLst/>
            </a:prstGeom>
            <a:ln w="12700">
              <a:solidFill>
                <a:srgbClr val="FFFFFF">
                  <a:alpha val="81176"/>
                </a:srgb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xmlns="" id="{5CDA1666-64EC-4838-B0E1-4D545ECEA29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7335837" y="32278"/>
              <a:ext cx="4852989" cy="4852989"/>
            </a:xfrm>
            <a:prstGeom prst="line">
              <a:avLst/>
            </a:prstGeom>
            <a:ln w="31750">
              <a:solidFill>
                <a:srgbClr val="FFFFFF">
                  <a:alpha val="81176"/>
                </a:srgb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xmlns="" id="{7CC99E35-6C12-4F89-8CDA-9FD8B3CEE15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7845426" y="609601"/>
              <a:ext cx="4343399" cy="4343399"/>
            </a:xfrm>
            <a:prstGeom prst="line">
              <a:avLst/>
            </a:prstGeom>
            <a:ln w="31750">
              <a:solidFill>
                <a:srgbClr val="FFFFFF">
                  <a:alpha val="81176"/>
                </a:srgb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xmlns="" val="2249372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B455B88A-C127-47B3-B317-724BD4EAAD0E}"/>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10" name="Straight Connector 9">
              <a:extLst>
                <a:ext uri="{FF2B5EF4-FFF2-40B4-BE49-F238E27FC236}">
                  <a16:creationId xmlns:a16="http://schemas.microsoft.com/office/drawing/2014/main" xmlns="" id="{3F07A923-368D-45E6-AACC-9ECE4057AAC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xmlns="" id="{3FE16B44-FE3C-4330-AF20-E869FC7B78A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xmlns="" id="{81CB6733-6A12-4A1C-87C3-B676FB381DB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xmlns="" id="{A754CCFD-DC5E-453F-B95A-F045ED9B290B}"/>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xmlns="" id="{AE826A39-89EA-44EA-ABC5-F4469349217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6" name="Rectangle 15">
            <a:extLst>
              <a:ext uri="{FF2B5EF4-FFF2-40B4-BE49-F238E27FC236}">
                <a16:creationId xmlns:a16="http://schemas.microsoft.com/office/drawing/2014/main" xmlns="" id="{40BBD06B-552C-4DF7-9E19-C5617573E25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5B8CE60-587E-1D5C-8B50-ED3441BA49CE}"/>
              </a:ext>
            </a:extLst>
          </p:cNvPr>
          <p:cNvSpPr>
            <a:spLocks noGrp="1"/>
          </p:cNvSpPr>
          <p:nvPr>
            <p:ph type="ctrTitle"/>
          </p:nvPr>
        </p:nvSpPr>
        <p:spPr>
          <a:xfrm>
            <a:off x="748286" y="5181599"/>
            <a:ext cx="8707922" cy="839821"/>
          </a:xfrm>
        </p:spPr>
        <p:txBody>
          <a:bodyPr vert="horz" lIns="91440" tIns="45720" rIns="91440" bIns="45720" rtlCol="0" anchor="b">
            <a:normAutofit/>
          </a:bodyPr>
          <a:lstStyle/>
          <a:p>
            <a:r>
              <a:rPr lang="en-US" sz="3200" kern="1200" cap="all">
                <a:ln w="3175" cmpd="sng">
                  <a:noFill/>
                </a:ln>
                <a:solidFill>
                  <a:srgbClr val="FFFFFF"/>
                </a:solidFill>
                <a:effectLst/>
                <a:latin typeface="+mj-lt"/>
                <a:ea typeface="+mj-ea"/>
                <a:cs typeface="+mj-cs"/>
              </a:rPr>
              <a:t>Meaning</a:t>
            </a:r>
          </a:p>
        </p:txBody>
      </p:sp>
      <p:sp useBgFill="1">
        <p:nvSpPr>
          <p:cNvPr id="18" name="Snip Diagonal Corner Rectangle 21">
            <a:extLst>
              <a:ext uri="{FF2B5EF4-FFF2-40B4-BE49-F238E27FC236}">
                <a16:creationId xmlns:a16="http://schemas.microsoft.com/office/drawing/2014/main" xmlns="" id="{1D27B411-D85B-4FEE-8EF5-0726CC104B5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33999" y="620722"/>
            <a:ext cx="9805929" cy="4418206"/>
          </a:xfrm>
          <a:prstGeom prst="snip2DiagRect">
            <a:avLst>
              <a:gd name="adj1" fmla="val 8741"/>
              <a:gd name="adj2" fmla="val 0"/>
            </a:avLst>
          </a:prstGeom>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xmlns="" id="{21C33B52-966B-48AB-B150-0703D341A00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21" name="Straight Connector 20">
              <a:extLst>
                <a:ext uri="{FF2B5EF4-FFF2-40B4-BE49-F238E27FC236}">
                  <a16:creationId xmlns:a16="http://schemas.microsoft.com/office/drawing/2014/main" xmlns="" id="{A15605B8-360E-48F8-8236-1D79EF8EBF3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xmlns="" id="{FA3977D2-0245-428A-8353-C7231D91ED87}"/>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xmlns="" id="{E9420A79-B7F1-42B2-8A65-7F990211ADB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xmlns="" id="{DF944D0E-1FE0-47ED-9362-B7A1560D700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xmlns="" id="{35A66304-0B88-40BA-A57C-226AA50D434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graphicFrame>
        <p:nvGraphicFramePr>
          <p:cNvPr id="7" name="Text Placeholder 2">
            <a:extLst>
              <a:ext uri="{FF2B5EF4-FFF2-40B4-BE49-F238E27FC236}">
                <a16:creationId xmlns:a16="http://schemas.microsoft.com/office/drawing/2014/main" xmlns="" id="{193C1F48-BB85-044A-9F1C-BFAAEA015105}"/>
              </a:ext>
            </a:extLst>
          </p:cNvPr>
          <p:cNvGraphicFramePr/>
          <p:nvPr>
            <p:extLst>
              <p:ext uri="{D42A27DB-BD31-4B8C-83A1-F6EECF244321}">
                <p14:modId xmlns:p14="http://schemas.microsoft.com/office/powerpoint/2010/main" xmlns="" val="4019649635"/>
              </p:ext>
            </p:extLst>
          </p:nvPr>
        </p:nvGraphicFramePr>
        <p:xfrm>
          <a:off x="1098550" y="1096964"/>
          <a:ext cx="8991114" cy="3630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xmlns="" val="1440871986"/>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545D3755-C3E2-975E-DE68-CDECC4B526EC}"/>
              </a:ext>
            </a:extLst>
          </p:cNvPr>
          <p:cNvSpPr>
            <a:spLocks noGrp="1"/>
          </p:cNvSpPr>
          <p:nvPr>
            <p:ph type="title"/>
          </p:nvPr>
        </p:nvSpPr>
        <p:spPr/>
        <p:txBody>
          <a:bodyPr/>
          <a:lstStyle/>
          <a:p>
            <a:pPr algn="ctr"/>
            <a:r>
              <a:rPr lang="en-US" sz="8800" dirty="0">
                <a:solidFill>
                  <a:srgbClr val="FF0000"/>
                </a:solidFill>
              </a:rPr>
              <a:t>business ethics</a:t>
            </a:r>
          </a:p>
        </p:txBody>
      </p:sp>
      <p:sp>
        <p:nvSpPr>
          <p:cNvPr id="7" name="Text Placeholder 6">
            <a:extLst>
              <a:ext uri="{FF2B5EF4-FFF2-40B4-BE49-F238E27FC236}">
                <a16:creationId xmlns:a16="http://schemas.microsoft.com/office/drawing/2014/main" xmlns="" id="{F70BD87D-F7DA-961B-4024-A354DC87D168}"/>
              </a:ext>
            </a:extLst>
          </p:cNvPr>
          <p:cNvSpPr>
            <a:spLocks noGrp="1"/>
          </p:cNvSpPr>
          <p:nvPr>
            <p:ph sz="quarter" idx="13"/>
          </p:nvPr>
        </p:nvSpPr>
        <p:spPr>
          <a:xfrm>
            <a:off x="2205990" y="2282008"/>
            <a:ext cx="9262110" cy="3699328"/>
          </a:xfrm>
        </p:spPr>
        <p:txBody>
          <a:bodyPr>
            <a:normAutofit fontScale="70000" lnSpcReduction="20000"/>
          </a:bodyPr>
          <a:lstStyle/>
          <a:p>
            <a:pPr algn="just"/>
            <a:r>
              <a:rPr lang="en-US" sz="2900" dirty="0">
                <a:solidFill>
                  <a:schemeClr val="bg2"/>
                </a:solidFill>
              </a:rPr>
              <a:t>Business ethics is the application of ethical principles to the problems typically encountered in a business setting. Whether an action is considered to be right or wrong normally depends on a number of different factors, including: </a:t>
            </a:r>
          </a:p>
          <a:p>
            <a:pPr lvl="1" algn="just">
              <a:lnSpc>
                <a:spcPct val="120000"/>
              </a:lnSpc>
              <a:buFont typeface="Wingdings" panose="05000000000000000000" pitchFamily="2" charset="2"/>
              <a:buChar char="§"/>
            </a:pPr>
            <a:r>
              <a:rPr lang="en-US" sz="2600" dirty="0">
                <a:solidFill>
                  <a:schemeClr val="accent6"/>
                </a:solidFill>
              </a:rPr>
              <a:t>the consequences – does the end justify the means? </a:t>
            </a:r>
          </a:p>
          <a:p>
            <a:pPr lvl="1" algn="just">
              <a:lnSpc>
                <a:spcPct val="120000"/>
              </a:lnSpc>
              <a:buFont typeface="Wingdings" panose="05000000000000000000" pitchFamily="2" charset="2"/>
              <a:buChar char="§"/>
            </a:pPr>
            <a:r>
              <a:rPr lang="en-US" sz="2600" dirty="0">
                <a:solidFill>
                  <a:schemeClr val="accent6"/>
                </a:solidFill>
              </a:rPr>
              <a:t>the motivation behind the action </a:t>
            </a:r>
          </a:p>
          <a:p>
            <a:pPr lvl="1" algn="just">
              <a:lnSpc>
                <a:spcPct val="120000"/>
              </a:lnSpc>
              <a:buFont typeface="Wingdings" panose="05000000000000000000" pitchFamily="2" charset="2"/>
              <a:buChar char="§"/>
            </a:pPr>
            <a:r>
              <a:rPr lang="en-US" sz="2600" dirty="0">
                <a:solidFill>
                  <a:schemeClr val="accent6"/>
                </a:solidFill>
              </a:rPr>
              <a:t>guiding principles – e.g. ‘treat others as you would be treated’</a:t>
            </a:r>
          </a:p>
          <a:p>
            <a:pPr lvl="1" algn="just">
              <a:lnSpc>
                <a:spcPct val="120000"/>
              </a:lnSpc>
              <a:buFont typeface="Wingdings" panose="05000000000000000000" pitchFamily="2" charset="2"/>
              <a:buChar char="§"/>
            </a:pPr>
            <a:r>
              <a:rPr lang="en-US" sz="2600" dirty="0">
                <a:solidFill>
                  <a:schemeClr val="accent6"/>
                </a:solidFill>
              </a:rPr>
              <a:t> key values – such as the importance of human rights. </a:t>
            </a:r>
          </a:p>
          <a:p>
            <a:endParaRPr lang="en-US" dirty="0"/>
          </a:p>
        </p:txBody>
      </p:sp>
      <p:grpSp>
        <p:nvGrpSpPr>
          <p:cNvPr id="19" name="Group 18">
            <a:extLst>
              <a:ext uri="{FF2B5EF4-FFF2-40B4-BE49-F238E27FC236}">
                <a16:creationId xmlns:a16="http://schemas.microsoft.com/office/drawing/2014/main" xmlns="" id="{C78CEA4F-D72A-C069-6A51-328B103CA0CA}"/>
              </a:ext>
              <a:ext uri="{C183D7F6-B498-43B3-948B-1728B52AA6E4}">
                <adec:decorative xmlns:adec="http://schemas.microsoft.com/office/drawing/2017/decorative" xmlns=""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xmlns=""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xmlns=""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xmlns=""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xmlns=""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xmlns=""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xmlns="" val="3200312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xmlns="" id="{B455B88A-C127-47B3-B317-724BD4EAAD0E}"/>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24" name="Straight Connector 23">
              <a:extLst>
                <a:ext uri="{FF2B5EF4-FFF2-40B4-BE49-F238E27FC236}">
                  <a16:creationId xmlns:a16="http://schemas.microsoft.com/office/drawing/2014/main" xmlns="" id="{3F07A923-368D-45E6-AACC-9ECE4057AAC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xmlns="" id="{3FE16B44-FE3C-4330-AF20-E869FC7B78A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xmlns="" id="{81CB6733-6A12-4A1C-87C3-B676FB381DB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xmlns="" id="{A754CCFD-DC5E-453F-B95A-F045ED9B290B}"/>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xmlns="" id="{AE826A39-89EA-44EA-ABC5-F4469349217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1" name="Rectangle 40">
            <a:extLst>
              <a:ext uri="{FF2B5EF4-FFF2-40B4-BE49-F238E27FC236}">
                <a16:creationId xmlns:a16="http://schemas.microsoft.com/office/drawing/2014/main" xmlns="" id="{44C5530E-85F5-4469-A5C9-54B113C1123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25121504-C0F2-8B21-2F0D-E7F94C698A67}"/>
              </a:ext>
            </a:extLst>
          </p:cNvPr>
          <p:cNvSpPr>
            <a:spLocks noGrp="1"/>
          </p:cNvSpPr>
          <p:nvPr>
            <p:ph type="title"/>
          </p:nvPr>
        </p:nvSpPr>
        <p:spPr>
          <a:xfrm>
            <a:off x="7532710" y="620722"/>
            <a:ext cx="3654099" cy="3532989"/>
          </a:xfrm>
        </p:spPr>
        <p:txBody>
          <a:bodyPr vert="horz" lIns="91440" tIns="45720" rIns="91440" bIns="45720" rtlCol="0" anchor="b">
            <a:normAutofit/>
          </a:bodyPr>
          <a:lstStyle/>
          <a:p>
            <a:r>
              <a:rPr lang="en-US" sz="3600" kern="1200" cap="all">
                <a:ln w="3175" cmpd="sng">
                  <a:noFill/>
                </a:ln>
                <a:solidFill>
                  <a:srgbClr val="FFFFFF"/>
                </a:solidFill>
                <a:effectLst/>
                <a:latin typeface="+mj-lt"/>
                <a:ea typeface="+mj-ea"/>
                <a:cs typeface="+mj-cs"/>
              </a:rPr>
              <a:t>Importance &amp; Scope of Ethics</a:t>
            </a:r>
          </a:p>
        </p:txBody>
      </p:sp>
      <p:sp useBgFill="1">
        <p:nvSpPr>
          <p:cNvPr id="42" name="Snip Diagonal Corner Rectangle 21">
            <a:extLst>
              <a:ext uri="{FF2B5EF4-FFF2-40B4-BE49-F238E27FC236}">
                <a16:creationId xmlns:a16="http://schemas.microsoft.com/office/drawing/2014/main" xmlns="" id="{A9CEB52D-0D40-45E3-94F9-CDB2083A935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34000" y="620722"/>
            <a:ext cx="6575496" cy="5286838"/>
          </a:xfrm>
          <a:prstGeom prst="snip2DiagRect">
            <a:avLst>
              <a:gd name="adj1" fmla="val 8741"/>
              <a:gd name="adj2" fmla="val 0"/>
            </a:avLst>
          </a:prstGeom>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xmlns="" id="{0F7EB202-DE79-4E39-BCF0-D9855DA1738F}"/>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35" name="Straight Connector 34">
              <a:extLst>
                <a:ext uri="{FF2B5EF4-FFF2-40B4-BE49-F238E27FC236}">
                  <a16:creationId xmlns:a16="http://schemas.microsoft.com/office/drawing/2014/main" xmlns="" id="{4DF8FC51-F3B0-4D84-A367-A147071636C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xmlns="" id="{5B3C3EDB-3DD5-4F8C-84C2-B598DB12A22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xmlns="" id="{C9DD3267-7A88-4810-94C1-0176A11D9CC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xmlns="" id="{A9F7E30E-9755-4BB4-B799-15752AE2756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xmlns="" id="{2A0A74F5-C569-4A54-9AA8-8F85E9E7E03F}"/>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graphicFrame>
        <p:nvGraphicFramePr>
          <p:cNvPr id="43" name="Content Placeholder 2">
            <a:extLst>
              <a:ext uri="{FF2B5EF4-FFF2-40B4-BE49-F238E27FC236}">
                <a16:creationId xmlns:a16="http://schemas.microsoft.com/office/drawing/2014/main" xmlns="" id="{4AB3C266-4111-5ABA-99AF-FEE7DF863E97}"/>
              </a:ext>
            </a:extLst>
          </p:cNvPr>
          <p:cNvGraphicFramePr>
            <a:graphicFrameLocks noGrp="1"/>
          </p:cNvGraphicFramePr>
          <p:nvPr>
            <p:ph sz="quarter" idx="13"/>
            <p:extLst>
              <p:ext uri="{D42A27DB-BD31-4B8C-83A1-F6EECF244321}">
                <p14:modId xmlns:p14="http://schemas.microsoft.com/office/powerpoint/2010/main" xmlns="" val="1952808132"/>
              </p:ext>
            </p:extLst>
          </p:nvPr>
        </p:nvGraphicFramePr>
        <p:xfrm>
          <a:off x="1098550" y="1096963"/>
          <a:ext cx="5643563" cy="4333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207092891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xmlns="" id="{6CC7770B-E4E1-42D6-9437-DAA4A3A9E65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9" name="Straight Connector 8">
              <a:extLst>
                <a:ext uri="{FF2B5EF4-FFF2-40B4-BE49-F238E27FC236}">
                  <a16:creationId xmlns:a16="http://schemas.microsoft.com/office/drawing/2014/main" xmlns="" id="{5A26DE5B-A1A6-4746-8EF7-4D6809ED75E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xmlns="" id="{377A3DDA-BF17-4302-867E-EBFD777B0627}"/>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xmlns="" id="{CBE30704-4227-4B7B-BDB8-BFCF39086FA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xmlns="" id="{B923B1E7-AEA4-42D8-8F4A-9D116F29665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xmlns="" id="{321B6244-6EAE-442C-ACCF-8146103EC1D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5" name="Snip Diagonal Corner Rectangle 6">
            <a:extLst>
              <a:ext uri="{FF2B5EF4-FFF2-40B4-BE49-F238E27FC236}">
                <a16:creationId xmlns:a16="http://schemas.microsoft.com/office/drawing/2014/main" xmlns="" id="{AD2D45C7-2E37-44FD-AC77-116CD14B9E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925" y="2"/>
            <a:ext cx="12191075" cy="6857998"/>
          </a:xfrm>
          <a:prstGeom prst="rect">
            <a:avLst/>
          </a:prstGeom>
          <a:ln>
            <a:noFill/>
          </a:ln>
        </p:spPr>
        <p:style>
          <a:lnRef idx="2">
            <a:schemeClr val="accent2"/>
          </a:lnRef>
          <a:fillRef idx="1002">
            <a:schemeClr val="dk2"/>
          </a:fillRef>
          <a:effectRef idx="0">
            <a:schemeClr val="accent2"/>
          </a:effectRef>
          <a:fontRef idx="minor">
            <a:schemeClr val="dk1"/>
          </a:fontRef>
        </p:style>
        <p:txBody>
          <a:bodyPr wrap="square" rtlCol="0" anchor="ctr">
            <a:noAutofit/>
          </a:bodyPr>
          <a:lstStyle/>
          <a:p>
            <a:pPr algn="ctr"/>
            <a:endParaRPr lang="en-US"/>
          </a:p>
        </p:txBody>
      </p:sp>
      <p:sp useBgFill="1">
        <p:nvSpPr>
          <p:cNvPr id="17" name="Snip Single Corner Rectangle 17">
            <a:extLst>
              <a:ext uri="{FF2B5EF4-FFF2-40B4-BE49-F238E27FC236}">
                <a16:creationId xmlns:a16="http://schemas.microsoft.com/office/drawing/2014/main" xmlns="" id="{1FF88480-2CF1-4C54-8CE3-2CA9CD9FF8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0" y="1"/>
            <a:ext cx="12188825" cy="6857999"/>
          </a:xfrm>
          <a:prstGeom prst="snip1Rect">
            <a:avLst>
              <a:gd name="adj" fmla="val 50000"/>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graphicFrame>
        <p:nvGraphicFramePr>
          <p:cNvPr id="19" name="Content Placeholder 2">
            <a:extLst>
              <a:ext uri="{FF2B5EF4-FFF2-40B4-BE49-F238E27FC236}">
                <a16:creationId xmlns:a16="http://schemas.microsoft.com/office/drawing/2014/main" xmlns="" id="{94EB0C5B-796C-3AA0-0173-A7E3D103A13D}"/>
              </a:ext>
            </a:extLst>
          </p:cNvPr>
          <p:cNvGraphicFramePr>
            <a:graphicFrameLocks noGrp="1"/>
          </p:cNvGraphicFramePr>
          <p:nvPr>
            <p:ph sz="quarter" idx="13"/>
            <p:extLst>
              <p:ext uri="{D42A27DB-BD31-4B8C-83A1-F6EECF244321}">
                <p14:modId xmlns:p14="http://schemas.microsoft.com/office/powerpoint/2010/main" xmlns="" val="2607988583"/>
              </p:ext>
            </p:extLst>
          </p:nvPr>
        </p:nvGraphicFramePr>
        <p:xfrm>
          <a:off x="671671" y="1181100"/>
          <a:ext cx="10848658" cy="449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4172785482"/>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xmlns="" id="{07AB3651-4547-50C3-6945-0E62E492E28B}"/>
              </a:ext>
            </a:extLst>
          </p:cNvPr>
          <p:cNvGraphicFramePr>
            <a:graphicFrameLocks noGrp="1"/>
          </p:cNvGraphicFramePr>
          <p:nvPr>
            <p:ph sz="quarter" idx="13"/>
          </p:nvPr>
        </p:nvGraphicFramePr>
        <p:xfrm>
          <a:off x="3657600" y="2282008"/>
          <a:ext cx="7810500" cy="36993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2412428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xmlns="" id="{982881C2-0ADB-E212-EAC6-E01AC9095173}"/>
              </a:ext>
            </a:extLst>
          </p:cNvPr>
          <p:cNvGraphicFramePr>
            <a:graphicFrameLocks noGrp="1"/>
          </p:cNvGraphicFramePr>
          <p:nvPr>
            <p:ph sz="quarter" idx="13"/>
          </p:nvPr>
        </p:nvGraphicFramePr>
        <p:xfrm>
          <a:off x="800100" y="308610"/>
          <a:ext cx="10668000" cy="56727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2976223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xmlns="" id="{6CC7770B-E4E1-42D6-9437-DAA4A3A9E65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xmlns="" id="{5A26DE5B-A1A6-4746-8EF7-4D6809ED75E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xmlns="" id="{377A3DDA-BF17-4302-867E-EBFD777B0627}"/>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xmlns="" id="{CBE30704-4227-4B7B-BDB8-BFCF39086FA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xmlns="" id="{B923B1E7-AEA4-42D8-8F4A-9D116F29665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xmlns="" id="{321B6244-6EAE-442C-ACCF-8146103EC1D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2" name="Snip Diagonal Corner Rectangle 6">
            <a:extLst>
              <a:ext uri="{FF2B5EF4-FFF2-40B4-BE49-F238E27FC236}">
                <a16:creationId xmlns:a16="http://schemas.microsoft.com/office/drawing/2014/main" xmlns="" id="{AD2D45C7-2E37-44FD-AC77-116CD14B9E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925" y="2"/>
            <a:ext cx="12191075" cy="6857998"/>
          </a:xfrm>
          <a:prstGeom prst="rect">
            <a:avLst/>
          </a:prstGeom>
          <a:ln>
            <a:noFill/>
          </a:ln>
        </p:spPr>
        <p:style>
          <a:lnRef idx="2">
            <a:schemeClr val="accent2"/>
          </a:lnRef>
          <a:fillRef idx="1002">
            <a:schemeClr val="dk2"/>
          </a:fillRef>
          <a:effectRef idx="0">
            <a:schemeClr val="accent2"/>
          </a:effectRef>
          <a:fontRef idx="minor">
            <a:schemeClr val="dk1"/>
          </a:fontRef>
        </p:style>
        <p:txBody>
          <a:bodyPr wrap="square" rtlCol="0" anchor="ctr">
            <a:noAutofit/>
          </a:bodyPr>
          <a:lstStyle/>
          <a:p>
            <a:pPr algn="ctr"/>
            <a:endParaRPr lang="en-US"/>
          </a:p>
        </p:txBody>
      </p:sp>
      <p:sp useBgFill="1">
        <p:nvSpPr>
          <p:cNvPr id="23" name="Snip Single Corner Rectangle 17">
            <a:extLst>
              <a:ext uri="{FF2B5EF4-FFF2-40B4-BE49-F238E27FC236}">
                <a16:creationId xmlns:a16="http://schemas.microsoft.com/office/drawing/2014/main" xmlns="" id="{1FF88480-2CF1-4C54-8CE3-2CA9CD9FF8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0" y="1"/>
            <a:ext cx="12188825" cy="6857999"/>
          </a:xfrm>
          <a:prstGeom prst="snip1Rect">
            <a:avLst>
              <a:gd name="adj" fmla="val 50000"/>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xmlns="" id="{E9B08521-2039-1330-A12D-11CE58E1F8FC}"/>
              </a:ext>
            </a:extLst>
          </p:cNvPr>
          <p:cNvSpPr>
            <a:spLocks noGrp="1"/>
          </p:cNvSpPr>
          <p:nvPr>
            <p:ph type="title"/>
          </p:nvPr>
        </p:nvSpPr>
        <p:spPr>
          <a:xfrm>
            <a:off x="678391" y="5037666"/>
            <a:ext cx="8534400" cy="1507067"/>
          </a:xfrm>
        </p:spPr>
        <p:txBody>
          <a:bodyPr vert="horz" lIns="91440" tIns="45720" rIns="91440" bIns="45720" rtlCol="0" anchor="ctr">
            <a:normAutofit/>
          </a:bodyPr>
          <a:lstStyle/>
          <a:p>
            <a:r>
              <a:rPr lang="en-US" sz="4000" dirty="0">
                <a:solidFill>
                  <a:schemeClr val="tx2"/>
                </a:solidFill>
              </a:rPr>
              <a:t>factors that affect ethical obligations</a:t>
            </a:r>
          </a:p>
        </p:txBody>
      </p:sp>
      <p:sp>
        <p:nvSpPr>
          <p:cNvPr id="24" name="TextBox 23">
            <a:extLst>
              <a:ext uri="{FF2B5EF4-FFF2-40B4-BE49-F238E27FC236}">
                <a16:creationId xmlns:a16="http://schemas.microsoft.com/office/drawing/2014/main" xmlns="" id="{3547AB1F-5DC0-9292-E18C-53ECC141A4D2}"/>
              </a:ext>
            </a:extLst>
          </p:cNvPr>
          <p:cNvSpPr txBox="1"/>
          <p:nvPr/>
        </p:nvSpPr>
        <p:spPr>
          <a:xfrm>
            <a:off x="678391" y="1082993"/>
            <a:ext cx="10928668" cy="3615267"/>
          </a:xfrm>
          <a:prstGeom prst="rect">
            <a:avLst/>
          </a:prstGeom>
        </p:spPr>
        <p:txBody>
          <a:bodyPr vert="horz" lIns="91440" tIns="45720" rIns="91440" bIns="45720" rtlCol="0" anchor="ctr">
            <a:noAutofit/>
          </a:bodyPr>
          <a:lstStyle/>
          <a:p>
            <a:pPr>
              <a:lnSpc>
                <a:spcPct val="90000"/>
              </a:lnSpc>
              <a:spcBef>
                <a:spcPct val="20000"/>
              </a:spcBef>
              <a:spcAft>
                <a:spcPts val="600"/>
              </a:spcAft>
              <a:buClr>
                <a:schemeClr val="tx1"/>
              </a:buClr>
              <a:buSzPct val="80000"/>
              <a:buFont typeface="Wingdings 3" panose="05040102010807070707" pitchFamily="18" charset="2"/>
              <a:buChar char=""/>
            </a:pPr>
            <a:r>
              <a:rPr lang="en-US" dirty="0"/>
              <a:t>The Law: Deceptive advertising is illegal, with consequences like fines and court actions. Ethics goes beyond legality, e.g., using legal loopholes to minimize taxes may be legal but unethical.</a:t>
            </a:r>
          </a:p>
          <a:p>
            <a:pPr>
              <a:lnSpc>
                <a:spcPct val="90000"/>
              </a:lnSpc>
              <a:spcBef>
                <a:spcPct val="20000"/>
              </a:spcBef>
              <a:spcAft>
                <a:spcPts val="600"/>
              </a:spcAft>
              <a:buClr>
                <a:schemeClr val="tx1"/>
              </a:buClr>
              <a:buSzPct val="80000"/>
              <a:buFont typeface="Wingdings 3" panose="05040102010807070707" pitchFamily="18" charset="2"/>
              <a:buChar char=""/>
            </a:pPr>
            <a:r>
              <a:rPr lang="en-US" dirty="0"/>
              <a:t>Government Regulations: Regulations set standards on issues like unfair competition and unsafe products. Non-compliance can lead to fines or criminal charges, though some companies still circumvent regulations.</a:t>
            </a:r>
          </a:p>
          <a:p>
            <a:pPr>
              <a:lnSpc>
                <a:spcPct val="90000"/>
              </a:lnSpc>
              <a:spcBef>
                <a:spcPct val="20000"/>
              </a:spcBef>
              <a:spcAft>
                <a:spcPts val="600"/>
              </a:spcAft>
              <a:buClr>
                <a:schemeClr val="tx1"/>
              </a:buClr>
              <a:buSzPct val="80000"/>
              <a:buFont typeface="Wingdings 3" panose="05040102010807070707" pitchFamily="18" charset="2"/>
              <a:buChar char=""/>
            </a:pPr>
            <a:r>
              <a:rPr lang="en-US" dirty="0"/>
              <a:t>Ethical Codes: Many organizations have written codes that outline ethical standards. Enforcement through disciplinary procedures is common, though some companies rely on unwritten codes.</a:t>
            </a:r>
          </a:p>
          <a:p>
            <a:pPr>
              <a:lnSpc>
                <a:spcPct val="90000"/>
              </a:lnSpc>
              <a:spcBef>
                <a:spcPct val="20000"/>
              </a:spcBef>
              <a:spcAft>
                <a:spcPts val="600"/>
              </a:spcAft>
              <a:buClr>
                <a:schemeClr val="tx1"/>
              </a:buClr>
              <a:buSzPct val="80000"/>
              <a:buFont typeface="Wingdings 3" panose="05040102010807070707" pitchFamily="18" charset="2"/>
              <a:buChar char=""/>
            </a:pPr>
            <a:r>
              <a:rPr lang="en-US" dirty="0"/>
              <a:t>Social Pressure: People's values are often influenced by what others do, and societal changes can shift public values, as seen in the evolution of discrimination laws.</a:t>
            </a:r>
          </a:p>
          <a:p>
            <a:pPr>
              <a:lnSpc>
                <a:spcPct val="90000"/>
              </a:lnSpc>
              <a:spcBef>
                <a:spcPct val="20000"/>
              </a:spcBef>
              <a:spcAft>
                <a:spcPts val="600"/>
              </a:spcAft>
              <a:buClr>
                <a:schemeClr val="tx1"/>
              </a:buClr>
              <a:buSzPct val="80000"/>
              <a:buFont typeface="Wingdings 3" panose="05040102010807070707" pitchFamily="18" charset="2"/>
              <a:buChar char=""/>
            </a:pPr>
            <a:r>
              <a:rPr lang="en-US" dirty="0"/>
              <a:t>Corporate Culture: The norms and attitudes within an organization shape ethical behavior. Senior management's actions, or "tone at the top," are crucial in promoting ethical practices.</a:t>
            </a:r>
          </a:p>
          <a:p>
            <a:pPr>
              <a:lnSpc>
                <a:spcPct val="90000"/>
              </a:lnSpc>
              <a:spcBef>
                <a:spcPct val="20000"/>
              </a:spcBef>
              <a:spcAft>
                <a:spcPts val="600"/>
              </a:spcAft>
              <a:buClr>
                <a:schemeClr val="tx1"/>
              </a:buClr>
              <a:buSzPct val="80000"/>
              <a:buFont typeface="Wingdings 3" panose="05040102010807070707" pitchFamily="18" charset="2"/>
              <a:buChar char=""/>
            </a:pPr>
            <a:r>
              <a:rPr lang="en-US" dirty="0"/>
              <a:t>Personal Policies and Values: An individual’s personal characteristics, like gender, age, and beliefs, influence their approach to ethics.</a:t>
            </a:r>
          </a:p>
        </p:txBody>
      </p:sp>
    </p:spTree>
    <p:extLst>
      <p:ext uri="{BB962C8B-B14F-4D97-AF65-F5344CB8AC3E}">
        <p14:creationId xmlns:p14="http://schemas.microsoft.com/office/powerpoint/2010/main" xmlns="" val="4131765834"/>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21633A5-8BE3-D44D-57F3-2EF16137684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xmlns="" id="{5AB6D40A-2A0A-AF3D-8CF7-3ECD37765637}"/>
              </a:ext>
            </a:extLst>
          </p:cNvPr>
          <p:cNvSpPr>
            <a:spLocks noGrp="1"/>
          </p:cNvSpPr>
          <p:nvPr>
            <p:ph type="ctrTitle"/>
          </p:nvPr>
        </p:nvSpPr>
        <p:spPr>
          <a:xfrm>
            <a:off x="3017520" y="411479"/>
            <a:ext cx="8778784" cy="3291840"/>
          </a:xfrm>
        </p:spPr>
        <p:txBody>
          <a:bodyPr/>
          <a:lstStyle/>
          <a:p>
            <a:r>
              <a:rPr lang="en-US" dirty="0"/>
              <a:t>The role of the accountant in promoting ethical behaviour</a:t>
            </a:r>
          </a:p>
        </p:txBody>
      </p:sp>
    </p:spTree>
    <p:extLst>
      <p:ext uri="{BB962C8B-B14F-4D97-AF65-F5344CB8AC3E}">
        <p14:creationId xmlns:p14="http://schemas.microsoft.com/office/powerpoint/2010/main" xmlns="" val="2039059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2FC82D2-5A47-14F1-CCAF-A4AC2A9C188A}"/>
              </a:ext>
            </a:extLst>
          </p:cNvPr>
          <p:cNvSpPr txBox="1"/>
          <p:nvPr/>
        </p:nvSpPr>
        <p:spPr>
          <a:xfrm>
            <a:off x="742950" y="756702"/>
            <a:ext cx="10949940" cy="512294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b="1" dirty="0">
                <a:solidFill>
                  <a:schemeClr val="bg2"/>
                </a:solidFill>
                <a:latin typeface="Amasis MT Pro" panose="020F0502020204030204" pitchFamily="18" charset="0"/>
              </a:rPr>
              <a:t>A management accountant provides essential information for decision-making within an organization.</a:t>
            </a:r>
          </a:p>
          <a:p>
            <a:pPr marL="342900" indent="-342900" algn="just">
              <a:lnSpc>
                <a:spcPct val="150000"/>
              </a:lnSpc>
              <a:buFont typeface="Arial" panose="020B0604020202020204" pitchFamily="34" charset="0"/>
              <a:buChar char="•"/>
            </a:pPr>
            <a:r>
              <a:rPr lang="en-US" sz="2000" b="1" dirty="0">
                <a:solidFill>
                  <a:schemeClr val="bg2"/>
                </a:solidFill>
                <a:latin typeface="Amasis MT Pro" panose="020F0502020204030204" pitchFamily="18" charset="0"/>
              </a:rPr>
              <a:t>Poor or unethical work can lead to disciplinary actions, financial instability, and inefficiency for the organization.</a:t>
            </a:r>
          </a:p>
          <a:p>
            <a:pPr marL="342900" indent="-342900" algn="just">
              <a:lnSpc>
                <a:spcPct val="150000"/>
              </a:lnSpc>
              <a:buFont typeface="Arial" panose="020B0604020202020204" pitchFamily="34" charset="0"/>
              <a:buChar char="•"/>
            </a:pPr>
            <a:r>
              <a:rPr lang="en-US" sz="2000" b="1" dirty="0">
                <a:solidFill>
                  <a:schemeClr val="bg2"/>
                </a:solidFill>
                <a:latin typeface="Amasis MT Pro" panose="020F0502020204030204" pitchFamily="18" charset="0"/>
              </a:rPr>
              <a:t>In the public sector, management accountants handle taxpayers' money, and mismanagement can result in waste or misuse of funds.</a:t>
            </a:r>
          </a:p>
          <a:p>
            <a:pPr marL="342900" indent="-342900" algn="just">
              <a:lnSpc>
                <a:spcPct val="150000"/>
              </a:lnSpc>
              <a:buFont typeface="Arial" panose="020B0604020202020204" pitchFamily="34" charset="0"/>
              <a:buChar char="•"/>
            </a:pPr>
            <a:r>
              <a:rPr lang="en-US" sz="2000" b="1" dirty="0">
                <a:solidFill>
                  <a:schemeClr val="bg2"/>
                </a:solidFill>
                <a:latin typeface="Amasis MT Pro" panose="020F0502020204030204" pitchFamily="18" charset="0"/>
              </a:rPr>
              <a:t>Professional accountants are the only ones in many business settings bound by a duty to act in the public interest, which refers to societal well-being.</a:t>
            </a:r>
          </a:p>
          <a:p>
            <a:pPr marL="342900" indent="-342900" algn="just">
              <a:lnSpc>
                <a:spcPct val="150000"/>
              </a:lnSpc>
              <a:buFont typeface="Arial" panose="020B0604020202020204" pitchFamily="34" charset="0"/>
              <a:buChar char="•"/>
            </a:pPr>
            <a:r>
              <a:rPr lang="en-US" sz="2000" b="1" dirty="0">
                <a:solidFill>
                  <a:schemeClr val="bg2"/>
                </a:solidFill>
                <a:latin typeface="Amasis MT Pro" panose="020F0502020204030204" pitchFamily="18" charset="0"/>
              </a:rPr>
              <a:t>They must consider both public and business interests, balancing ethical responsibilities.</a:t>
            </a:r>
          </a:p>
          <a:p>
            <a:pPr marL="342900" indent="-342900" algn="just">
              <a:lnSpc>
                <a:spcPct val="150000"/>
              </a:lnSpc>
              <a:buFont typeface="Arial" panose="020B0604020202020204" pitchFamily="34" charset="0"/>
              <a:buChar char="•"/>
            </a:pPr>
            <a:r>
              <a:rPr lang="en-US" sz="2000" b="1" dirty="0">
                <a:solidFill>
                  <a:schemeClr val="bg2"/>
                </a:solidFill>
                <a:latin typeface="Amasis MT Pro" panose="020F0502020204030204" pitchFamily="18" charset="0"/>
              </a:rPr>
              <a:t>Management accountants have a special role in promoting ethical behavior throughout the organization.</a:t>
            </a:r>
          </a:p>
        </p:txBody>
      </p:sp>
    </p:spTree>
    <p:extLst>
      <p:ext uri="{BB962C8B-B14F-4D97-AF65-F5344CB8AC3E}">
        <p14:creationId xmlns:p14="http://schemas.microsoft.com/office/powerpoint/2010/main" xmlns="" val="4082524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C09AFD-638A-658E-45B9-420E57CEF351}"/>
              </a:ext>
            </a:extLst>
          </p:cNvPr>
          <p:cNvSpPr>
            <a:spLocks noGrp="1"/>
          </p:cNvSpPr>
          <p:nvPr>
            <p:ph type="ctrTitle"/>
          </p:nvPr>
        </p:nvSpPr>
        <p:spPr/>
        <p:txBody>
          <a:bodyPr/>
          <a:lstStyle/>
          <a:p>
            <a:r>
              <a:rPr lang="en-US" dirty="0"/>
              <a:t>The costs and benefits of business ethics </a:t>
            </a:r>
          </a:p>
        </p:txBody>
      </p:sp>
    </p:spTree>
    <p:extLst>
      <p:ext uri="{BB962C8B-B14F-4D97-AF65-F5344CB8AC3E}">
        <p14:creationId xmlns:p14="http://schemas.microsoft.com/office/powerpoint/2010/main" xmlns="" val="133171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xmlns="" id="{6CC7770B-E4E1-42D6-9437-DAA4A3A9E65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38" name="Straight Connector 37">
              <a:extLst>
                <a:ext uri="{FF2B5EF4-FFF2-40B4-BE49-F238E27FC236}">
                  <a16:creationId xmlns:a16="http://schemas.microsoft.com/office/drawing/2014/main" xmlns="" id="{5A26DE5B-A1A6-4746-8EF7-4D6809ED75E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xmlns="" id="{377A3DDA-BF17-4302-867E-EBFD777B0627}"/>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xmlns="" id="{CBE30704-4227-4B7B-BDB8-BFCF39086FA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xmlns="" id="{B923B1E7-AEA4-42D8-8F4A-9D116F29665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xmlns="" id="{321B6244-6EAE-442C-ACCF-8146103EC1D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39" name="Rectangle 38">
            <a:extLst>
              <a:ext uri="{FF2B5EF4-FFF2-40B4-BE49-F238E27FC236}">
                <a16:creationId xmlns:a16="http://schemas.microsoft.com/office/drawing/2014/main" xmlns="" id="{CADF2543-1B6F-4FBC-A7AF-53A0430E05A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xmlns="" id="{A80A6E81-6B71-43DF-877B-E964A9A4CB68}"/>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9206969" y="2963333"/>
            <a:ext cx="2981858" cy="3208867"/>
            <a:chOff x="9206969" y="2963333"/>
            <a:chExt cx="2981858" cy="3208867"/>
          </a:xfrm>
        </p:grpSpPr>
        <p:cxnSp>
          <p:nvCxnSpPr>
            <p:cNvPr id="41" name="Straight Connector 40">
              <a:extLst>
                <a:ext uri="{FF2B5EF4-FFF2-40B4-BE49-F238E27FC236}">
                  <a16:creationId xmlns:a16="http://schemas.microsoft.com/office/drawing/2014/main" xmlns="" id="{4E35C3AD-357F-4004-A3F3-2D4EAF34A63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xmlns="" id="{337B6032-0A70-4F26-A9A3-B4D60DF1181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xmlns="" id="{DE192CE3-3DD1-448F-93BE-42983DA0D5A9}"/>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xmlns="" id="{E6D3DA09-5C72-4562-BEDE-1937DF87E81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xmlns="" id="{D6ACA7CA-2A20-49D7-9053-E076463D79A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xmlns=""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43" name="TextBox 42">
            <a:extLst>
              <a:ext uri="{FF2B5EF4-FFF2-40B4-BE49-F238E27FC236}">
                <a16:creationId xmlns:a16="http://schemas.microsoft.com/office/drawing/2014/main" xmlns="" id="{F1D86599-6BAB-F276-AF8A-00114D3E5BDB}"/>
              </a:ext>
            </a:extLst>
          </p:cNvPr>
          <p:cNvSpPr txBox="1"/>
          <p:nvPr/>
        </p:nvSpPr>
        <p:spPr>
          <a:xfrm>
            <a:off x="608806" y="1676400"/>
            <a:ext cx="10974388" cy="3615267"/>
          </a:xfrm>
          <a:prstGeom prst="rect">
            <a:avLst/>
          </a:prstGeom>
        </p:spPr>
        <p:txBody>
          <a:bodyPr vert="horz" lIns="91440" tIns="45720" rIns="91440" bIns="45720" rtlCol="0" anchor="ctr">
            <a:noAutofit/>
          </a:bodyPr>
          <a:lstStyle/>
          <a:p>
            <a:pPr marL="285750" indent="-285750">
              <a:lnSpc>
                <a:spcPct val="90000"/>
              </a:lnSpc>
              <a:spcBef>
                <a:spcPct val="20000"/>
              </a:spcBef>
              <a:spcAft>
                <a:spcPts val="600"/>
              </a:spcAft>
              <a:buClr>
                <a:schemeClr val="tx1"/>
              </a:buClr>
              <a:buSzPct val="80000"/>
              <a:buFont typeface="Wingdings 3" panose="05040102010807070707" pitchFamily="18" charset="2"/>
              <a:buChar char=""/>
            </a:pPr>
            <a:r>
              <a:rPr lang="en-US" sz="2400" dirty="0"/>
              <a:t>The primary purpose of a business is often to earn a profit, with directors responsible for ensuring a return on investment for the owners.</a:t>
            </a:r>
          </a:p>
          <a:p>
            <a:pPr marL="285750" indent="-285750">
              <a:lnSpc>
                <a:spcPct val="90000"/>
              </a:lnSpc>
              <a:spcBef>
                <a:spcPct val="20000"/>
              </a:spcBef>
              <a:spcAft>
                <a:spcPts val="600"/>
              </a:spcAft>
              <a:buClr>
                <a:schemeClr val="tx1"/>
              </a:buClr>
              <a:buSzPct val="80000"/>
              <a:buFont typeface="Wingdings 3" panose="05040102010807070707" pitchFamily="18" charset="2"/>
              <a:buChar char=""/>
            </a:pPr>
            <a:r>
              <a:rPr lang="en-US" sz="2400" dirty="0"/>
              <a:t>Some argue that ethical behavior can reduce profits by increasing costs, such as sourcing ethical materials (e.g., Fairtrade products) or turning away customers that don’t align with ethical standards.</a:t>
            </a:r>
          </a:p>
          <a:p>
            <a:pPr marL="285750" indent="-285750">
              <a:lnSpc>
                <a:spcPct val="90000"/>
              </a:lnSpc>
              <a:spcBef>
                <a:spcPct val="20000"/>
              </a:spcBef>
              <a:spcAft>
                <a:spcPts val="600"/>
              </a:spcAft>
              <a:buClr>
                <a:schemeClr val="tx1"/>
              </a:buClr>
              <a:buSzPct val="80000"/>
              <a:buFont typeface="Wingdings 3" panose="05040102010807070707" pitchFamily="18" charset="2"/>
              <a:buChar char=""/>
            </a:pPr>
            <a:r>
              <a:rPr lang="en-US" sz="2400" dirty="0"/>
              <a:t>Ethical business practices can offer commercial benefits, such as attracting customers who prefer to trade with ethical companies, thereby enhancing a company’s reputation and brand.</a:t>
            </a:r>
          </a:p>
          <a:p>
            <a:pPr marL="285750" indent="-285750">
              <a:lnSpc>
                <a:spcPct val="90000"/>
              </a:lnSpc>
              <a:spcBef>
                <a:spcPct val="20000"/>
              </a:spcBef>
              <a:spcAft>
                <a:spcPts val="600"/>
              </a:spcAft>
              <a:buClr>
                <a:schemeClr val="tx1"/>
              </a:buClr>
              <a:buSzPct val="80000"/>
              <a:buFont typeface="Wingdings 3" panose="05040102010807070707" pitchFamily="18" charset="2"/>
              <a:buChar char=""/>
            </a:pPr>
            <a:r>
              <a:rPr lang="en-US" sz="2400" dirty="0"/>
              <a:t>Good ethics can result in a more effective workforce by improving working conditions, attracting higher-caliber employees, and promoting teamwork and productivity.</a:t>
            </a:r>
          </a:p>
          <a:p>
            <a:pPr marL="285750" indent="-285750">
              <a:lnSpc>
                <a:spcPct val="90000"/>
              </a:lnSpc>
              <a:spcBef>
                <a:spcPct val="20000"/>
              </a:spcBef>
              <a:spcAft>
                <a:spcPts val="600"/>
              </a:spcAft>
              <a:buClr>
                <a:schemeClr val="tx1"/>
              </a:buClr>
              <a:buSzPct val="80000"/>
              <a:buFont typeface="Wingdings 3" panose="05040102010807070707" pitchFamily="18" charset="2"/>
              <a:buChar char=""/>
            </a:pPr>
            <a:r>
              <a:rPr lang="en-US" sz="2400" dirty="0"/>
              <a:t>Ethics can lead to cost savings, such as avoiding pollution, which reduces the risk of fines or increased taxes from government regulations.</a:t>
            </a:r>
          </a:p>
          <a:p>
            <a:pPr marL="285750" indent="-285750">
              <a:lnSpc>
                <a:spcPct val="90000"/>
              </a:lnSpc>
              <a:spcBef>
                <a:spcPct val="20000"/>
              </a:spcBef>
              <a:spcAft>
                <a:spcPts val="600"/>
              </a:spcAft>
              <a:buClr>
                <a:schemeClr val="tx1"/>
              </a:buClr>
              <a:buSzPct val="80000"/>
              <a:buFont typeface="Wingdings 3" panose="05040102010807070707" pitchFamily="18" charset="2"/>
              <a:buChar char=""/>
            </a:pPr>
            <a:r>
              <a:rPr lang="en-US" sz="2400" dirty="0"/>
              <a:t>Ethical behavior can reduce business risk, as many companies have failed due to unethical practices.</a:t>
            </a:r>
          </a:p>
        </p:txBody>
      </p:sp>
    </p:spTree>
    <p:extLst>
      <p:ext uri="{BB962C8B-B14F-4D97-AF65-F5344CB8AC3E}">
        <p14:creationId xmlns:p14="http://schemas.microsoft.com/office/powerpoint/2010/main" xmlns="" val="139104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7600" y="411479"/>
            <a:ext cx="10678704" cy="1374988"/>
          </a:xfrm>
        </p:spPr>
        <p:txBody>
          <a:bodyPr/>
          <a:lstStyle/>
          <a:p>
            <a:r>
              <a:rPr lang="en-US" dirty="0" smtClean="0"/>
              <a:t>Values of Professional accountants</a:t>
            </a:r>
            <a:endParaRPr lang="en-US" dirty="0"/>
          </a:p>
        </p:txBody>
      </p:sp>
      <p:sp>
        <p:nvSpPr>
          <p:cNvPr id="3" name="TextBox 2"/>
          <p:cNvSpPr txBox="1"/>
          <p:nvPr/>
        </p:nvSpPr>
        <p:spPr>
          <a:xfrm>
            <a:off x="998108" y="1831037"/>
            <a:ext cx="9391291" cy="452431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buFont typeface="Arial" pitchFamily="34" charset="0"/>
              <a:buChar char="•"/>
            </a:pPr>
            <a:r>
              <a:rPr lang="en-US" b="1" dirty="0" smtClean="0">
                <a:solidFill>
                  <a:schemeClr val="bg2"/>
                </a:solidFill>
              </a:rPr>
              <a:t>Integrity</a:t>
            </a:r>
            <a:r>
              <a:rPr lang="en-US" dirty="0" smtClean="0">
                <a:solidFill>
                  <a:schemeClr val="bg2"/>
                </a:solidFill>
              </a:rPr>
              <a:t>: Accountants are expected to be honest, transparent, and forthright in their professional conduct. They should avoid situations that might create a conflict of interest.</a:t>
            </a:r>
          </a:p>
          <a:p>
            <a:pPr>
              <a:buFont typeface="Arial" pitchFamily="34" charset="0"/>
              <a:buChar char="•"/>
            </a:pPr>
            <a:r>
              <a:rPr lang="en-US" b="1" dirty="0" smtClean="0">
                <a:solidFill>
                  <a:schemeClr val="bg2"/>
                </a:solidFill>
              </a:rPr>
              <a:t>Objectivity</a:t>
            </a:r>
            <a:r>
              <a:rPr lang="en-US" dirty="0" smtClean="0">
                <a:solidFill>
                  <a:schemeClr val="bg2"/>
                </a:solidFill>
              </a:rPr>
              <a:t>: Maintaining impartiality is key. Accountants should avoid bias and conflict of interest, ensuring that their judgments and decisions are based on facts and sound reasoning.</a:t>
            </a:r>
          </a:p>
          <a:p>
            <a:pPr>
              <a:buFont typeface="Arial" pitchFamily="34" charset="0"/>
              <a:buChar char="•"/>
            </a:pPr>
            <a:r>
              <a:rPr lang="en-US" b="1" dirty="0" smtClean="0">
                <a:solidFill>
                  <a:schemeClr val="bg2"/>
                </a:solidFill>
              </a:rPr>
              <a:t>Professional Competence</a:t>
            </a:r>
            <a:r>
              <a:rPr lang="en-US" dirty="0" smtClean="0">
                <a:solidFill>
                  <a:schemeClr val="bg2"/>
                </a:solidFill>
              </a:rPr>
              <a:t>: Accountants must maintain high levels of professional knowledge and skills, ensuring they stay updated with changes in laws, regulations, and accounting standards.</a:t>
            </a:r>
          </a:p>
          <a:p>
            <a:pPr>
              <a:buFont typeface="Arial" pitchFamily="34" charset="0"/>
              <a:buChar char="•"/>
            </a:pPr>
            <a:r>
              <a:rPr lang="en-US" b="1" dirty="0" smtClean="0">
                <a:solidFill>
                  <a:schemeClr val="bg2"/>
                </a:solidFill>
              </a:rPr>
              <a:t>Confidentiality</a:t>
            </a:r>
            <a:r>
              <a:rPr lang="en-US" dirty="0" smtClean="0">
                <a:solidFill>
                  <a:schemeClr val="bg2"/>
                </a:solidFill>
              </a:rPr>
              <a:t>: Accountants are often privy to sensitive financial information and are expected to respect privacy and not disclose any information without proper authorization.</a:t>
            </a:r>
          </a:p>
          <a:p>
            <a:pPr>
              <a:buFont typeface="Arial" pitchFamily="34" charset="0"/>
              <a:buChar char="•"/>
            </a:pPr>
            <a:r>
              <a:rPr lang="en-US" b="1" dirty="0" smtClean="0">
                <a:solidFill>
                  <a:schemeClr val="bg2"/>
                </a:solidFill>
              </a:rPr>
              <a:t>Due Care</a:t>
            </a:r>
            <a:r>
              <a:rPr lang="en-US" dirty="0" smtClean="0">
                <a:solidFill>
                  <a:schemeClr val="bg2"/>
                </a:solidFill>
              </a:rPr>
              <a:t>: Accountants should exercise reasonable care in the performance of their professional duties, ensuring that they provide services with a high degree of competence and attention to detail.</a:t>
            </a:r>
          </a:p>
          <a:p>
            <a:endParaRPr lang="en-US" dirty="0">
              <a:solidFill>
                <a:schemeClr val="bg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1067" y="411479"/>
            <a:ext cx="11305237" cy="1595121"/>
          </a:xfrm>
        </p:spPr>
        <p:txBody>
          <a:bodyPr/>
          <a:lstStyle/>
          <a:p>
            <a:r>
              <a:rPr lang="en-US" dirty="0" smtClean="0"/>
              <a:t>Corporate governance ethics</a:t>
            </a:r>
            <a:endParaRPr lang="en-US" dirty="0"/>
          </a:p>
        </p:txBody>
      </p:sp>
      <p:sp>
        <p:nvSpPr>
          <p:cNvPr id="3" name="Rectangle 2"/>
          <p:cNvSpPr/>
          <p:nvPr/>
        </p:nvSpPr>
        <p:spPr>
          <a:xfrm>
            <a:off x="372535" y="2074333"/>
            <a:ext cx="11336866" cy="34163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smtClean="0">
                <a:solidFill>
                  <a:schemeClr val="bg2"/>
                </a:solidFill>
              </a:rPr>
              <a:t>Corporate governance focuses on the structures, rules, and processes that guide a company’s operations and decision-making. Key ethical considerations in corporate governance include:</a:t>
            </a:r>
          </a:p>
          <a:p>
            <a:pPr>
              <a:buFont typeface="Arial" pitchFamily="34" charset="0"/>
              <a:buChar char="•"/>
            </a:pPr>
            <a:r>
              <a:rPr lang="en-US" b="1" dirty="0" smtClean="0">
                <a:solidFill>
                  <a:schemeClr val="bg2"/>
                </a:solidFill>
              </a:rPr>
              <a:t>Accountability</a:t>
            </a:r>
            <a:r>
              <a:rPr lang="en-US" dirty="0" smtClean="0">
                <a:solidFill>
                  <a:schemeClr val="bg2"/>
                </a:solidFill>
              </a:rPr>
              <a:t>: Ensuring that company leaders and boards are accountable for their actions and decisions, particularly with respect to financial performance and governance.</a:t>
            </a:r>
          </a:p>
          <a:p>
            <a:pPr>
              <a:buFont typeface="Arial" pitchFamily="34" charset="0"/>
              <a:buChar char="•"/>
            </a:pPr>
            <a:r>
              <a:rPr lang="en-US" b="1" dirty="0" smtClean="0">
                <a:solidFill>
                  <a:schemeClr val="bg2"/>
                </a:solidFill>
              </a:rPr>
              <a:t>Transparency</a:t>
            </a:r>
            <a:r>
              <a:rPr lang="en-US" dirty="0" smtClean="0">
                <a:solidFill>
                  <a:schemeClr val="bg2"/>
                </a:solidFill>
              </a:rPr>
              <a:t>: Companies are expected to disclose accurate and complete information to stakeholders, which includes shareholders, employees, and regulatory bodies.</a:t>
            </a:r>
          </a:p>
          <a:p>
            <a:pPr>
              <a:buFont typeface="Arial" pitchFamily="34" charset="0"/>
              <a:buChar char="•"/>
            </a:pPr>
            <a:r>
              <a:rPr lang="en-US" b="1" dirty="0" smtClean="0">
                <a:solidFill>
                  <a:schemeClr val="bg2"/>
                </a:solidFill>
              </a:rPr>
              <a:t>Fairness</a:t>
            </a:r>
            <a:r>
              <a:rPr lang="en-US" dirty="0" smtClean="0">
                <a:solidFill>
                  <a:schemeClr val="bg2"/>
                </a:solidFill>
              </a:rPr>
              <a:t>: Corporate governance should ensure that all stakeholders, including minority shareholders, employees, and customers, are treated fairly and equitably.</a:t>
            </a:r>
          </a:p>
          <a:p>
            <a:pPr>
              <a:buFont typeface="Arial" pitchFamily="34" charset="0"/>
              <a:buChar char="•"/>
            </a:pPr>
            <a:r>
              <a:rPr lang="en-US" b="1" dirty="0" smtClean="0">
                <a:solidFill>
                  <a:schemeClr val="bg2"/>
                </a:solidFill>
              </a:rPr>
              <a:t>Responsibility</a:t>
            </a:r>
            <a:r>
              <a:rPr lang="en-US" dirty="0" smtClean="0">
                <a:solidFill>
                  <a:schemeClr val="bg2"/>
                </a:solidFill>
              </a:rPr>
              <a:t>: Ethical corporate governance requires leaders to make decisions that are in the long-term best interest of the company, its employees, and society.</a:t>
            </a:r>
          </a:p>
          <a:p>
            <a:pPr>
              <a:buFont typeface="Arial" pitchFamily="34" charset="0"/>
              <a:buChar char="•"/>
            </a:pPr>
            <a:r>
              <a:rPr lang="en-US" b="1" dirty="0" smtClean="0">
                <a:solidFill>
                  <a:schemeClr val="bg2"/>
                </a:solidFill>
              </a:rPr>
              <a:t>Sustainability</a:t>
            </a:r>
            <a:r>
              <a:rPr lang="en-US" dirty="0" smtClean="0">
                <a:solidFill>
                  <a:schemeClr val="bg2"/>
                </a:solidFill>
              </a:rPr>
              <a:t>: Companies should consider the environmental and social impacts of their actions, aiming for sustainable business practices that benefit both the company and the wider community.</a:t>
            </a:r>
            <a:endParaRPr lang="en-US" dirty="0">
              <a:solidFill>
                <a:schemeClr val="bg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9533" y="411479"/>
            <a:ext cx="11296771" cy="2077721"/>
          </a:xfrm>
        </p:spPr>
        <p:txBody>
          <a:bodyPr/>
          <a:lstStyle/>
          <a:p>
            <a:r>
              <a:rPr lang="en-US" dirty="0" smtClean="0">
                <a:solidFill>
                  <a:schemeClr val="bg2"/>
                </a:solidFill>
              </a:rPr>
              <a:t>Case Study: The Enron Scandal</a:t>
            </a:r>
          </a:p>
        </p:txBody>
      </p:sp>
      <p:sp>
        <p:nvSpPr>
          <p:cNvPr id="3" name="Rectangle 2"/>
          <p:cNvSpPr/>
          <p:nvPr/>
        </p:nvSpPr>
        <p:spPr>
          <a:xfrm>
            <a:off x="389467" y="2844800"/>
            <a:ext cx="11582400" cy="313932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smtClean="0">
                <a:solidFill>
                  <a:schemeClr val="bg2"/>
                </a:solidFill>
              </a:rPr>
              <a:t>Background</a:t>
            </a:r>
            <a:r>
              <a:rPr lang="en-US" b="1" dirty="0" smtClean="0">
                <a:solidFill>
                  <a:schemeClr val="bg2"/>
                </a:solidFill>
              </a:rPr>
              <a:t>:</a:t>
            </a:r>
          </a:p>
          <a:p>
            <a:r>
              <a:rPr lang="en-US" dirty="0" smtClean="0">
                <a:solidFill>
                  <a:schemeClr val="bg2"/>
                </a:solidFill>
              </a:rPr>
              <a:t>Enron Corporation, once one of the largest energy companies in the world, filed for bankruptcy in December 2001. The company's leadership, including top executives, engaged in fraudulent activities to misrepresent the company’s financial position. Through the use of complex accounting tricks, such as off-balance-sheet entities, Enron hid massive debts and inflated profits, misleading investors, auditors, and stakeholders.</a:t>
            </a:r>
          </a:p>
          <a:p>
            <a:r>
              <a:rPr lang="en-US" dirty="0" smtClean="0">
                <a:solidFill>
                  <a:schemeClr val="bg2"/>
                </a:solidFill>
              </a:rPr>
              <a:t>Enron’s accounting firm, Arthur Andersen, was complicit in overlooking the company’s unethical financial practices. When the truth emerged, Enron’s stock price plummeted, employees lost their jobs and savings, and shareholders were left with nothing. The scandal led to a significant loss of trust in corporate governance and accounting practices, prompting reforms such as the Sarbanes-Oxley Act of 2002</a:t>
            </a:r>
            <a:r>
              <a:rPr lang="en-US" dirty="0" smtClean="0">
                <a:solidFill>
                  <a:schemeClr val="bg2"/>
                </a:solidFill>
              </a:rPr>
              <a:t>.</a:t>
            </a:r>
            <a:endParaRPr lang="en-US" dirty="0" smtClean="0">
              <a:solidFill>
                <a:schemeClr val="bg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95867" y="433276"/>
            <a:ext cx="10320866" cy="612475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800" b="1" dirty="0" smtClean="0">
                <a:solidFill>
                  <a:schemeClr val="bg2"/>
                </a:solidFill>
              </a:rPr>
              <a:t>Ethical Issues Involved:</a:t>
            </a:r>
          </a:p>
          <a:p>
            <a:r>
              <a:rPr lang="en-US" sz="2800" b="1" dirty="0" smtClean="0">
                <a:solidFill>
                  <a:schemeClr val="bg2"/>
                </a:solidFill>
              </a:rPr>
              <a:t>Integrity and Transparency</a:t>
            </a:r>
            <a:r>
              <a:rPr lang="en-US" sz="2800" dirty="0" smtClean="0">
                <a:solidFill>
                  <a:schemeClr val="bg2"/>
                </a:solidFill>
              </a:rPr>
              <a:t>: Enron executives and their accounting firm were not transparent about the company's financial status. They intentionally misled stakeholders about the company's performance.</a:t>
            </a:r>
          </a:p>
          <a:p>
            <a:r>
              <a:rPr lang="en-US" sz="2800" b="1" dirty="0" smtClean="0">
                <a:solidFill>
                  <a:schemeClr val="bg2"/>
                </a:solidFill>
              </a:rPr>
              <a:t>Accountability</a:t>
            </a:r>
            <a:r>
              <a:rPr lang="en-US" sz="2800" dirty="0" smtClean="0">
                <a:solidFill>
                  <a:schemeClr val="bg2"/>
                </a:solidFill>
              </a:rPr>
              <a:t>: Both the executives and the accounting firm (Arthur Andersen) failed to take responsibility for their roles in the scandal.</a:t>
            </a:r>
          </a:p>
          <a:p>
            <a:r>
              <a:rPr lang="en-US" sz="2800" b="1" dirty="0" smtClean="0">
                <a:solidFill>
                  <a:schemeClr val="bg2"/>
                </a:solidFill>
              </a:rPr>
              <a:t>Conflicts of Interest</a:t>
            </a:r>
            <a:r>
              <a:rPr lang="en-US" sz="2800" dirty="0" smtClean="0">
                <a:solidFill>
                  <a:schemeClr val="bg2"/>
                </a:solidFill>
              </a:rPr>
              <a:t>: Enron's executives had conflicts of interest, as they benefited personally from the inflated stock prices while the company’s health deteriorated.</a:t>
            </a:r>
          </a:p>
          <a:p>
            <a:r>
              <a:rPr lang="en-US" sz="2800" b="1" dirty="0" smtClean="0">
                <a:solidFill>
                  <a:schemeClr val="bg2"/>
                </a:solidFill>
              </a:rPr>
              <a:t>Professionalism</a:t>
            </a:r>
            <a:r>
              <a:rPr lang="en-US" sz="2800" dirty="0" smtClean="0">
                <a:solidFill>
                  <a:schemeClr val="bg2"/>
                </a:solidFill>
              </a:rPr>
              <a:t>: Arthur Andersen failed in its duty as a professional accounting firm by overlooking and even enabling fraudulent practices.</a:t>
            </a:r>
            <a:endParaRPr lang="en-US" sz="2800" dirty="0">
              <a:solidFill>
                <a:schemeClr val="bg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9400" y="411479"/>
            <a:ext cx="11516904" cy="1019388"/>
          </a:xfrm>
        </p:spPr>
        <p:txBody>
          <a:bodyPr/>
          <a:lstStyle/>
          <a:p>
            <a:r>
              <a:rPr lang="en-US" sz="4400" dirty="0" smtClean="0">
                <a:solidFill>
                  <a:schemeClr val="bg2"/>
                </a:solidFill>
              </a:rPr>
              <a:t>Solution and Ethical Recommendations:</a:t>
            </a:r>
          </a:p>
        </p:txBody>
      </p:sp>
      <p:sp>
        <p:nvSpPr>
          <p:cNvPr id="3" name="Rectangle 2"/>
          <p:cNvSpPr/>
          <p:nvPr/>
        </p:nvSpPr>
        <p:spPr>
          <a:xfrm>
            <a:off x="245533" y="1778001"/>
            <a:ext cx="11760200" cy="34778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000" b="1" dirty="0" smtClean="0">
                <a:solidFill>
                  <a:schemeClr val="bg2"/>
                </a:solidFill>
              </a:rPr>
              <a:t>Improved </a:t>
            </a:r>
            <a:r>
              <a:rPr lang="en-US" sz="2000" b="1" dirty="0" smtClean="0">
                <a:solidFill>
                  <a:schemeClr val="bg2"/>
                </a:solidFill>
              </a:rPr>
              <a:t>Corporate Governance</a:t>
            </a:r>
            <a:r>
              <a:rPr lang="en-US" sz="2000" dirty="0" smtClean="0">
                <a:solidFill>
                  <a:schemeClr val="bg2"/>
                </a:solidFill>
              </a:rPr>
              <a:t>:</a:t>
            </a:r>
          </a:p>
          <a:p>
            <a:pPr lvl="1"/>
            <a:r>
              <a:rPr lang="en-US" sz="2000" b="1" dirty="0" smtClean="0">
                <a:solidFill>
                  <a:schemeClr val="bg2"/>
                </a:solidFill>
              </a:rPr>
              <a:t>Independent Board of Directors</a:t>
            </a:r>
            <a:r>
              <a:rPr lang="en-US" sz="2000" dirty="0" smtClean="0">
                <a:solidFill>
                  <a:schemeClr val="bg2"/>
                </a:solidFill>
              </a:rPr>
              <a:t>: The company should have had a truly independent board of directors with no conflicts of interest, capable of overseeing and questioning management decisions.</a:t>
            </a:r>
          </a:p>
          <a:p>
            <a:pPr lvl="1"/>
            <a:r>
              <a:rPr lang="en-US" sz="2000" b="1" dirty="0" smtClean="0">
                <a:solidFill>
                  <a:schemeClr val="bg2"/>
                </a:solidFill>
              </a:rPr>
              <a:t>Clear Separation of Roles</a:t>
            </a:r>
            <a:r>
              <a:rPr lang="en-US" sz="2000" dirty="0" smtClean="0">
                <a:solidFill>
                  <a:schemeClr val="bg2"/>
                </a:solidFill>
              </a:rPr>
              <a:t>: Enron had instances where management and the board of directors were too closely tied, blurring the lines between accountability. In the solution, a clear separation of the board's role from management is emphasized to avoid any conflicts.</a:t>
            </a:r>
          </a:p>
          <a:p>
            <a:pPr lvl="1"/>
            <a:r>
              <a:rPr lang="en-US" sz="2000" b="1" dirty="0" smtClean="0">
                <a:solidFill>
                  <a:schemeClr val="bg2"/>
                </a:solidFill>
              </a:rPr>
              <a:t>Ethical Leadership</a:t>
            </a:r>
            <a:r>
              <a:rPr lang="en-US" sz="2000" dirty="0" smtClean="0">
                <a:solidFill>
                  <a:schemeClr val="bg2"/>
                </a:solidFill>
              </a:rPr>
              <a:t>: Enron’s leadership failed to demonstrate ethical behavior. Ethical leadership is essential in fostering a culture of integrity, transparency, and accountability at all levels of the organization</a:t>
            </a:r>
            <a:r>
              <a:rPr lang="en-US" sz="2000" dirty="0" smtClean="0">
                <a:solidFill>
                  <a:schemeClr val="bg2"/>
                </a:solidFill>
              </a:rPr>
              <a:t>.</a:t>
            </a:r>
            <a:endParaRPr lang="en-US" sz="2000" dirty="0" smtClean="0">
              <a:solidFill>
                <a:schemeClr val="bg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58799" y="302359"/>
            <a:ext cx="10989733" cy="655564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800" b="1" dirty="0" smtClean="0">
                <a:solidFill>
                  <a:schemeClr val="bg2"/>
                </a:solidFill>
              </a:rPr>
              <a:t>Stronger Financial Reporting and Oversight</a:t>
            </a:r>
            <a:r>
              <a:rPr lang="en-US" sz="2800" dirty="0" smtClean="0">
                <a:solidFill>
                  <a:schemeClr val="bg2"/>
                </a:solidFill>
              </a:rPr>
              <a:t>:</a:t>
            </a:r>
          </a:p>
          <a:p>
            <a:r>
              <a:rPr lang="en-US" sz="2800" b="1" dirty="0" smtClean="0">
                <a:solidFill>
                  <a:schemeClr val="bg2"/>
                </a:solidFill>
              </a:rPr>
              <a:t>External Auditing and Internal Controls</a:t>
            </a:r>
            <a:r>
              <a:rPr lang="en-US" sz="2800" dirty="0" smtClean="0">
                <a:solidFill>
                  <a:schemeClr val="bg2"/>
                </a:solidFill>
              </a:rPr>
              <a:t>: The involvement of Arthur Andersen as both an auditor and a consultant for Enron created a significant conflict of interest. A better solution would have been a clear distinction between auditing services and consulting, with auditors maintaining full independence from the company. Stronger internal controls should have been put in place to ensure the accuracy of financial statements.</a:t>
            </a:r>
          </a:p>
          <a:p>
            <a:r>
              <a:rPr lang="en-US" sz="2800" b="1" dirty="0" smtClean="0">
                <a:solidFill>
                  <a:schemeClr val="bg2"/>
                </a:solidFill>
              </a:rPr>
              <a:t>Enhanced Transparency</a:t>
            </a:r>
            <a:r>
              <a:rPr lang="en-US" sz="2800" dirty="0" smtClean="0">
                <a:solidFill>
                  <a:schemeClr val="bg2"/>
                </a:solidFill>
              </a:rPr>
              <a:t>: Financial statements should have fully disclosed the risks associated with off-balance-sheet transactions and other questionable financial practices. Full transparency with stakeholders about the company’s financial health would have made it easier to identify the fraud early on.</a:t>
            </a:r>
            <a:endParaRPr lang="en-US" sz="2800" dirty="0">
              <a:solidFill>
                <a:schemeClr val="bg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98910" y="569184"/>
            <a:ext cx="10381890" cy="452431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smtClean="0">
                <a:solidFill>
                  <a:schemeClr val="bg2"/>
                </a:solidFill>
              </a:rPr>
              <a:t>Whistleblower Protections</a:t>
            </a:r>
            <a:r>
              <a:rPr lang="en-US" dirty="0" smtClean="0">
                <a:solidFill>
                  <a:schemeClr val="bg2"/>
                </a:solidFill>
              </a:rPr>
              <a:t>:</a:t>
            </a:r>
          </a:p>
          <a:p>
            <a:r>
              <a:rPr lang="en-US" dirty="0" smtClean="0">
                <a:solidFill>
                  <a:schemeClr val="bg2"/>
                </a:solidFill>
              </a:rPr>
              <a:t>Enron employees who were aware of the fraudulent activities were afraid to speak out due to the company’s culture of secrecy and fear of retaliation. A whistleblower protection system should have been in place, encouraging employees to report unethical practices without fear of losing their jobs.</a:t>
            </a:r>
          </a:p>
          <a:p>
            <a:r>
              <a:rPr lang="en-US" b="1" dirty="0" smtClean="0">
                <a:solidFill>
                  <a:schemeClr val="bg2"/>
                </a:solidFill>
              </a:rPr>
              <a:t>Education and Training on Ethics</a:t>
            </a:r>
            <a:r>
              <a:rPr lang="en-US" dirty="0" smtClean="0">
                <a:solidFill>
                  <a:schemeClr val="bg2"/>
                </a:solidFill>
              </a:rPr>
              <a:t>:</a:t>
            </a:r>
          </a:p>
          <a:p>
            <a:r>
              <a:rPr lang="en-US" dirty="0" smtClean="0">
                <a:solidFill>
                  <a:schemeClr val="bg2"/>
                </a:solidFill>
              </a:rPr>
              <a:t>Accountants and business executives should be regularly trained in ethical decision-making and given clear guidelines on what constitutes unethical behavior. They should be encouraged to ask questions and seek advice when faced with ethical dilemmas.</a:t>
            </a:r>
          </a:p>
          <a:p>
            <a:r>
              <a:rPr lang="en-US" b="1" dirty="0" smtClean="0">
                <a:solidFill>
                  <a:schemeClr val="bg2"/>
                </a:solidFill>
              </a:rPr>
              <a:t>Legal and Regulatory Reforms</a:t>
            </a:r>
            <a:r>
              <a:rPr lang="en-US" dirty="0" smtClean="0">
                <a:solidFill>
                  <a:schemeClr val="bg2"/>
                </a:solidFill>
              </a:rPr>
              <a:t>:</a:t>
            </a:r>
          </a:p>
          <a:p>
            <a:r>
              <a:rPr lang="en-US" dirty="0" smtClean="0">
                <a:solidFill>
                  <a:schemeClr val="bg2"/>
                </a:solidFill>
              </a:rPr>
              <a:t>The scandal highlighted gaps in existing regulations. After the Enron scandal, the U.S. passed the </a:t>
            </a:r>
            <a:r>
              <a:rPr lang="en-US" b="1" dirty="0" smtClean="0">
                <a:solidFill>
                  <a:schemeClr val="bg2"/>
                </a:solidFill>
              </a:rPr>
              <a:t>Sarbanes-Oxley Act</a:t>
            </a:r>
            <a:r>
              <a:rPr lang="en-US" dirty="0" smtClean="0">
                <a:solidFill>
                  <a:schemeClr val="bg2"/>
                </a:solidFill>
              </a:rPr>
              <a:t> in 2002, which introduced stringent reforms to improve corporate governance, financial disclosures, and penalties for unethical financial reporting. A key reform was the establishment of the </a:t>
            </a:r>
            <a:r>
              <a:rPr lang="en-US" b="1" dirty="0" smtClean="0">
                <a:solidFill>
                  <a:schemeClr val="bg2"/>
                </a:solidFill>
              </a:rPr>
              <a:t>Public Company Accounting Oversight Board (PCAOB)</a:t>
            </a:r>
            <a:r>
              <a:rPr lang="en-US" dirty="0" smtClean="0">
                <a:solidFill>
                  <a:schemeClr val="bg2"/>
                </a:solidFill>
              </a:rPr>
              <a:t> to oversee auditors.</a:t>
            </a:r>
          </a:p>
          <a:p>
            <a:endParaRPr lang="en-US" dirty="0">
              <a:solidFill>
                <a:schemeClr val="bg2"/>
              </a:solidFill>
            </a:endParaRPr>
          </a:p>
        </p:txBody>
      </p:sp>
    </p:spTree>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xmlns=""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Slice</Template>
  <TotalTime>3089</TotalTime>
  <Words>1876</Words>
  <Application>Microsoft Office PowerPoint</Application>
  <PresentationFormat>Custom</PresentationFormat>
  <Paragraphs>93</Paragraphs>
  <Slides>21</Slides>
  <Notes>6</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Slice</vt:lpstr>
      <vt:lpstr>INTRODUCTION TO BUSINESS ETHICS AND ETHICAL CONFLICT </vt:lpstr>
      <vt:lpstr>objectives</vt:lpstr>
      <vt:lpstr>Ethics</vt:lpstr>
      <vt:lpstr>Meaning</vt:lpstr>
      <vt:lpstr>business ethics</vt:lpstr>
      <vt:lpstr>Importance &amp; Scope of Ethics</vt:lpstr>
      <vt:lpstr>Slide 7</vt:lpstr>
      <vt:lpstr>Slide 8</vt:lpstr>
      <vt:lpstr>Slide 9</vt:lpstr>
      <vt:lpstr>factors that affect ethical obligations</vt:lpstr>
      <vt:lpstr>The role of the accountant in promoting ethical behaviour</vt:lpstr>
      <vt:lpstr>Slide 12</vt:lpstr>
      <vt:lpstr>The costs and benefits of business ethics </vt:lpstr>
      <vt:lpstr>Slide 14</vt:lpstr>
      <vt:lpstr>Values of Professional accountants</vt:lpstr>
      <vt:lpstr>Corporate governance ethics</vt:lpstr>
      <vt:lpstr>Case Study: The Enron Scandal</vt:lpstr>
      <vt:lpstr>Slide 18</vt:lpstr>
      <vt:lpstr>Solution and Ethical Recommendations:</vt:lpstr>
      <vt:lpstr>Slide 20</vt:lpstr>
      <vt:lpstr>Slide 21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BUSINESS ETHICS AND ETHICAL CONFLICT </dc:title>
  <dc:creator>Ifra Fathima I</dc:creator>
  <cp:lastModifiedBy>admin</cp:lastModifiedBy>
  <cp:revision>4</cp:revision>
  <dcterms:created xsi:type="dcterms:W3CDTF">2025-01-21T14:43:54Z</dcterms:created>
  <dcterms:modified xsi:type="dcterms:W3CDTF">2025-01-31T03:28:23Z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